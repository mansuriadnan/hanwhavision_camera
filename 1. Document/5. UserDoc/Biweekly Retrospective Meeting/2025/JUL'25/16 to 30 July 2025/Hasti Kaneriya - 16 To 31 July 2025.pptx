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sldIdLst>
    <p:sldId id="256" r:id="rId3"/>
    <p:sldId id="285" r:id="rId4"/>
    <p:sldId id="286" r:id="rId5"/>
    <p:sldId id="289" r:id="rId6"/>
    <p:sldId id="291" r:id="rId7"/>
    <p:sldId id="290" r:id="rId8"/>
    <p:sldId id="292" r:id="rId9"/>
    <p:sldId id="28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80" userDrawn="1">
          <p15:clr>
            <a:srgbClr val="A4A3A4"/>
          </p15:clr>
        </p15:guide>
        <p15:guide id="2" pos="383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74BD"/>
    <a:srgbClr val="1985BF"/>
    <a:srgbClr val="5B447C"/>
    <a:srgbClr val="65BB35"/>
    <a:srgbClr val="0B334C"/>
    <a:srgbClr val="E8E8EB"/>
    <a:srgbClr val="046067"/>
    <a:srgbClr val="FF693A"/>
    <a:srgbClr val="FFC200"/>
    <a:srgbClr val="FFD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67"/>
    <p:restoredTop sz="94082"/>
  </p:normalViewPr>
  <p:slideViewPr>
    <p:cSldViewPr snapToGrid="0" snapToObjects="1" showGuides="1">
      <p:cViewPr varScale="1">
        <p:scale>
          <a:sx n="104" d="100"/>
          <a:sy n="104" d="100"/>
        </p:scale>
        <p:origin x="1068" y="102"/>
      </p:cViewPr>
      <p:guideLst>
        <p:guide orient="horz" pos="2080"/>
        <p:guide pos="383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EB5163-9B59-9641-9D3D-D468DD839B4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8C5864-3DE2-4443-B533-31B844D2AD2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hyperlink" Target="http://www.spec-india.com/" TargetMode="External"/><Relationship Id="rId4" Type="http://schemas.openxmlformats.org/officeDocument/2006/relationships/image" Target="../media/image4.emf"/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hyperlink" Target="https://clutch.co/profile/spec-india" TargetMode="External"/><Relationship Id="rId8" Type="http://schemas.openxmlformats.org/officeDocument/2006/relationships/hyperlink" Target="mailto:lead@spec-usa.net" TargetMode="External"/><Relationship Id="rId7" Type="http://schemas.openxmlformats.org/officeDocument/2006/relationships/image" Target="../media/image8.emf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hyperlink" Target="mailto:lead@spec-india.com" TargetMode="External"/><Relationship Id="rId33" Type="http://schemas.openxmlformats.org/officeDocument/2006/relationships/slideLayout" Target="../slideLayouts/slideLayout1.xml"/><Relationship Id="rId32" Type="http://schemas.openxmlformats.org/officeDocument/2006/relationships/image" Target="../media/image21.png"/><Relationship Id="rId31" Type="http://schemas.openxmlformats.org/officeDocument/2006/relationships/hyperlink" Target="https://www.instagram.com/spec_india" TargetMode="External"/><Relationship Id="rId30" Type="http://schemas.openxmlformats.org/officeDocument/2006/relationships/image" Target="../media/image20.png"/><Relationship Id="rId3" Type="http://schemas.openxmlformats.org/officeDocument/2006/relationships/hyperlink" Target="http://www.spec-india.com/" TargetMode="External"/><Relationship Id="rId29" Type="http://schemas.openxmlformats.org/officeDocument/2006/relationships/image" Target="../media/image19.png"/><Relationship Id="rId28" Type="http://schemas.openxmlformats.org/officeDocument/2006/relationships/image" Target="../media/image18.png"/><Relationship Id="rId27" Type="http://schemas.openxmlformats.org/officeDocument/2006/relationships/hyperlink" Target="https://twitter.com/infospec_india" TargetMode="External"/><Relationship Id="rId26" Type="http://schemas.openxmlformats.org/officeDocument/2006/relationships/image" Target="../media/image17.png"/><Relationship Id="rId25" Type="http://schemas.openxmlformats.org/officeDocument/2006/relationships/hyperlink" Target="https://www.linkedin.com/company/spec-india/mycompany/" TargetMode="External"/><Relationship Id="rId24" Type="http://schemas.openxmlformats.org/officeDocument/2006/relationships/image" Target="../media/image16.png"/><Relationship Id="rId23" Type="http://schemas.openxmlformats.org/officeDocument/2006/relationships/hyperlink" Target="https://www.facebook.com/SPECINDIA.IT" TargetMode="External"/><Relationship Id="rId22" Type="http://schemas.openxmlformats.org/officeDocument/2006/relationships/image" Target="../media/image15.png"/><Relationship Id="rId21" Type="http://schemas.openxmlformats.org/officeDocument/2006/relationships/hyperlink" Target="https://dribbble.com/specindia" TargetMode="External"/><Relationship Id="rId20" Type="http://schemas.openxmlformats.org/officeDocument/2006/relationships/image" Target="../media/image14.png"/><Relationship Id="rId2" Type="http://schemas.openxmlformats.org/officeDocument/2006/relationships/image" Target="../media/image2.emf"/><Relationship Id="rId19" Type="http://schemas.openxmlformats.org/officeDocument/2006/relationships/hyperlink" Target="https://www.behance.net/specindia" TargetMode="External"/><Relationship Id="rId18" Type="http://schemas.openxmlformats.org/officeDocument/2006/relationships/image" Target="../media/image13.png"/><Relationship Id="rId17" Type="http://schemas.openxmlformats.org/officeDocument/2006/relationships/hyperlink" Target="https://www.glassdoor.co.in/Reviews/SPEC-INDIA-Reviews-E688018.htm" TargetMode="External"/><Relationship Id="rId16" Type="http://schemas.openxmlformats.org/officeDocument/2006/relationships/image" Target="../media/image12.png"/><Relationship Id="rId15" Type="http://schemas.openxmlformats.org/officeDocument/2006/relationships/hyperlink" Target="https://www.ambitionbox.com/reviews/spec-india-reviews" TargetMode="External"/><Relationship Id="rId14" Type="http://schemas.openxmlformats.org/officeDocument/2006/relationships/image" Target="../media/image11.png"/><Relationship Id="rId13" Type="http://schemas.openxmlformats.org/officeDocument/2006/relationships/hyperlink" Target="https://g.page/r/CRApINeFYBWKEAE" TargetMode="External"/><Relationship Id="rId12" Type="http://schemas.openxmlformats.org/officeDocument/2006/relationships/image" Target="../media/image10.png"/><Relationship Id="rId11" Type="http://schemas.openxmlformats.org/officeDocument/2006/relationships/hyperlink" Target="https://www.goodfirms.co/company/spec-india" TargetMode="External"/><Relationship Id="rId10" Type="http://schemas.openxmlformats.org/officeDocument/2006/relationships/image" Target="../media/image9.png"/><Relationship Id="rId1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472" y="0"/>
            <a:ext cx="6680200" cy="6223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79999"/>
            <a:ext cx="12192000" cy="177800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" y="2032001"/>
            <a:ext cx="12191997" cy="4825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490" y="1778000"/>
            <a:ext cx="5012055" cy="965200"/>
          </a:xfrm>
        </p:spPr>
        <p:txBody>
          <a:bodyPr>
            <a:noAutofit/>
          </a:bodyPr>
          <a:lstStyle/>
          <a:p>
            <a:pPr algn="l"/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Hanwha Vision </a:t>
            </a:r>
            <a:b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16th July’25 – 31st July’25</a:t>
            </a:r>
            <a:endParaRPr lang="en-US" sz="3000" b="1" spc="10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364632" y="2859801"/>
            <a:ext cx="4953000" cy="0"/>
          </a:xfrm>
          <a:prstGeom prst="line">
            <a:avLst/>
          </a:prstGeom>
          <a:ln w="25400">
            <a:solidFill>
              <a:srgbClr val="65BB35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5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2624" y="377146"/>
            <a:ext cx="2171700" cy="1016000"/>
          </a:xfrm>
          <a:prstGeom prst="rect">
            <a:avLst/>
          </a:prstGeom>
        </p:spPr>
      </p:pic>
      <p:pic>
        <p:nvPicPr>
          <p:cNvPr id="5" name="Picture 4">
            <a:hlinkClick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933" y="611135"/>
            <a:ext cx="1778000" cy="533400"/>
          </a:xfrm>
          <a:prstGeom prst="rect">
            <a:avLst/>
          </a:prstGeom>
        </p:spPr>
      </p:pic>
      <p:sp>
        <p:nvSpPr>
          <p:cNvPr id="3" name="Title 1"/>
          <p:cNvSpPr txBox="1"/>
          <p:nvPr/>
        </p:nvSpPr>
        <p:spPr>
          <a:xfrm>
            <a:off x="3454400" y="2920993"/>
            <a:ext cx="1922612" cy="38101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spc="10" dirty="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Hasti </a:t>
            </a:r>
            <a:r>
              <a:rPr lang="en-US" sz="2000" b="1" spc="10" dirty="0" err="1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Kaneriya</a:t>
            </a:r>
            <a:endParaRPr lang="en-US" sz="2000" b="1" spc="10" dirty="0">
              <a:solidFill>
                <a:srgbClr val="7030A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Meeting Participants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270631"/>
            <a:ext cx="8214199" cy="260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Parth Jotangiya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Jayendra </a:t>
            </a: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Makvana</a:t>
            </a: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Adnan Mansuri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alt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Bhavika Gamdha</a:t>
            </a:r>
            <a:endParaRPr lang="en-US" alt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Hiten Parmar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Rashmi Patel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Hasti </a:t>
            </a: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Kaneriya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Hasti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Kaneriya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Highlights of the work done in two weeks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1909" y="1085256"/>
            <a:ext cx="11407266" cy="3753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charset="0"/>
              <a:buChar char="q"/>
            </a:pPr>
            <a:r>
              <a:rPr lang="en-US" sz="1400" b="1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General task</a:t>
            </a:r>
            <a:endParaRPr lang="en-US" sz="1400" b="1" dirty="0">
              <a:ea typeface="Roboto" panose="02000000000000000000" pitchFamily="2" charset="0"/>
              <a:cs typeface="Arial" panose="020B0604020202020204" pitchFamily="34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Solve </a:t>
            </a: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widget setup hide img issue.</a:t>
            </a: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 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Solve issue - When add new widget, It must be horizontally align. It should not overlap on any other widget.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Solve gender widget 1x1 min date issue.      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Solve traffic jam min max date issue.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Solve UI related issues in all multi-bar chart.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Solve multi-select UI issue.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Solve the</a:t>
            </a:r>
            <a:r>
              <a:rPr lang="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 </a:t>
            </a: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Capacity utilization people/vehicle UI issue.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Added image and backgroundColor in map plan widget for all features.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Check and resolve SignalR issue in all widgets.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Working on google map marker issue and Implement new  D3 radial chart for People in out widget.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Hasti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Kaneriya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Roadblocks / issues if any 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48733" y="1236555"/>
            <a:ext cx="11407266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NA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en-US" sz="1400" dirty="0">
              <a:ea typeface="Roboto" panose="02000000000000000000" pitchFamily="2" charset="0"/>
              <a:cs typeface="Roboto" panose="02000000000000000000" pitchFamily="2" charset="0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Hasti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Kaneriya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Improvement Points Identified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235914"/>
            <a:ext cx="11407267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spc="-1" dirty="0">
                <a:solidFill>
                  <a:srgbClr val="000000"/>
                </a:solidFill>
                <a:latin typeface="Calibri" panose="020F0502020204030204"/>
              </a:rPr>
              <a:t>Need to improve time managment skill and turn around time (TAT) on the each assigned task. </a:t>
            </a:r>
            <a:endParaRPr lang="en-US" sz="1400" spc="-1" dirty="0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Hasti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Kaneriya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Any New Problem Statement Seen / Identified * If any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264590"/>
            <a:ext cx="11407266" cy="6273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ea typeface="Roboto" panose="02000000000000000000" pitchFamily="2" charset="0"/>
                <a:cs typeface="Roboto" panose="02000000000000000000" pitchFamily="2" charset="0"/>
              </a:rPr>
              <a:t>There is no any problem statement identified.</a:t>
            </a:r>
            <a:endParaRPr lang="en-US" sz="1400" dirty="0"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sz="1400" dirty="0"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532302"/>
            <a:ext cx="10832351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Hasti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Kaneriya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Achievements/Extra mile of the week * if any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198913"/>
            <a:ext cx="9175558" cy="330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o"/>
            </a:pPr>
            <a:r>
              <a:rPr lang="en-US" sz="1200" dirty="0"/>
              <a:t>NA</a:t>
            </a:r>
            <a:endParaRPr lang="en-US" altLang="en-IN" sz="1200" dirty="0"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472" y="0"/>
            <a:ext cx="6680200" cy="6223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79999"/>
            <a:ext cx="12192000" cy="17780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675" y="462989"/>
            <a:ext cx="5223457" cy="1031690"/>
          </a:xfrm>
        </p:spPr>
        <p:txBody>
          <a:bodyPr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Thank You For </a:t>
            </a:r>
            <a:b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Your Time &amp; Attention!</a:t>
            </a:r>
            <a:endParaRPr lang="en-US" sz="3000" b="1" spc="10" dirty="0">
              <a:solidFill>
                <a:srgbClr val="65BB35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675" y="1755910"/>
            <a:ext cx="5223457" cy="697921"/>
          </a:xfrm>
          <a:noFill/>
          <a:ln>
            <a:noFill/>
          </a:ln>
        </p:spPr>
        <p:txBody>
          <a:bodyPr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Looking forward to having a mutually beneficial association! Assuring you of our best services always!</a:t>
            </a:r>
            <a:endParaRPr lang="en-US" sz="1600" spc="10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524933" y="1622274"/>
            <a:ext cx="4320335" cy="0"/>
          </a:xfrm>
          <a:prstGeom prst="line">
            <a:avLst/>
          </a:prstGeom>
          <a:ln w="25400">
            <a:solidFill>
              <a:srgbClr val="65BB35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36000" y="6301416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  <a:alpha val="70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36000" y="6384714"/>
            <a:ext cx="34855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9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© 2023 SPEC INDIA. All Rights Reserved.</a:t>
            </a:r>
            <a:endParaRPr lang="en-US" sz="1400" spc="10" dirty="0">
              <a:solidFill>
                <a:schemeClr val="bg1">
                  <a:lumMod val="9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5" name="Subtitle 2"/>
          <p:cNvSpPr txBox="1"/>
          <p:nvPr/>
        </p:nvSpPr>
        <p:spPr>
          <a:xfrm>
            <a:off x="457677" y="2609614"/>
            <a:ext cx="2341032" cy="62671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numCol="1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Visit us at </a:t>
            </a:r>
            <a:endParaRPr lang="en-US" sz="1400" b="1" spc="10" dirty="0">
              <a:solidFill>
                <a:srgbClr val="0B334C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www.spec-india.com</a:t>
            </a:r>
            <a:r>
              <a:rPr lang="en-US" sz="1400" spc="10" dirty="0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 </a:t>
            </a:r>
            <a:endParaRPr lang="en-US" sz="1400" spc="10" dirty="0">
              <a:solidFill>
                <a:srgbClr val="0274BD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6" name="Subtitle 2"/>
          <p:cNvSpPr txBox="1"/>
          <p:nvPr/>
        </p:nvSpPr>
        <p:spPr>
          <a:xfrm>
            <a:off x="2798709" y="2609614"/>
            <a:ext cx="2341032" cy="62671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numCol="1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Write to us at</a:t>
            </a:r>
            <a:endParaRPr lang="en-US" sz="1400" b="1" spc="10" dirty="0">
              <a:solidFill>
                <a:srgbClr val="0B334C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spc="10" dirty="0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/>
              </a:rPr>
              <a:t>lead@spec-india.com</a:t>
            </a:r>
            <a:endParaRPr lang="en-US" sz="1400" spc="10" dirty="0">
              <a:solidFill>
                <a:srgbClr val="0274BD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Subtitle 2"/>
          <p:cNvSpPr txBox="1"/>
          <p:nvPr/>
        </p:nvSpPr>
        <p:spPr>
          <a:xfrm>
            <a:off x="7244318" y="796759"/>
            <a:ext cx="3700132" cy="38299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India</a:t>
            </a:r>
            <a:endParaRPr lang="en-US" sz="1600" b="1" spc="10" dirty="0">
              <a:solidFill>
                <a:srgbClr val="0B334C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Subtitle 2"/>
          <p:cNvSpPr txBox="1"/>
          <p:nvPr/>
        </p:nvSpPr>
        <p:spPr>
          <a:xfrm>
            <a:off x="7581200" y="1292033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/>
              </a:rPr>
              <a:t>lead@spec-india.com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/>
              </a:rPr>
              <a:t> 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" name="Subtitle 2"/>
          <p:cNvSpPr txBox="1"/>
          <p:nvPr/>
        </p:nvSpPr>
        <p:spPr>
          <a:xfrm>
            <a:off x="7581200" y="1687659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+91-79-26404031 to 34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2" name="Subtitle 2"/>
          <p:cNvSpPr txBox="1"/>
          <p:nvPr/>
        </p:nvSpPr>
        <p:spPr>
          <a:xfrm>
            <a:off x="7581200" y="2083285"/>
            <a:ext cx="3700132" cy="738664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SPEC House”, </a:t>
            </a: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Parth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Complex,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Near Swastik Cross Roads, </a:t>
            </a: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Navarangpura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Ahmedabad 380009, INDIA.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7326788" y="1179749"/>
            <a:ext cx="3068498" cy="0"/>
          </a:xfrm>
          <a:prstGeom prst="line">
            <a:avLst/>
          </a:prstGeom>
          <a:ln w="12700">
            <a:solidFill>
              <a:srgbClr val="0B334C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6788" y="1331621"/>
            <a:ext cx="228600" cy="2286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6788" y="1727247"/>
            <a:ext cx="228600" cy="2286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8537" y="2122873"/>
            <a:ext cx="228600" cy="228600"/>
          </a:xfrm>
          <a:prstGeom prst="rect">
            <a:avLst/>
          </a:prstGeom>
        </p:spPr>
      </p:pic>
      <p:sp>
        <p:nvSpPr>
          <p:cNvPr id="21" name="Subtitle 2"/>
          <p:cNvSpPr txBox="1"/>
          <p:nvPr/>
        </p:nvSpPr>
        <p:spPr>
          <a:xfrm>
            <a:off x="7244318" y="2842128"/>
            <a:ext cx="3700132" cy="38299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USA</a:t>
            </a:r>
            <a:endParaRPr lang="en-US" sz="1600" b="1" spc="10" dirty="0">
              <a:solidFill>
                <a:srgbClr val="0B334C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2" name="Subtitle 2"/>
          <p:cNvSpPr txBox="1"/>
          <p:nvPr/>
        </p:nvSpPr>
        <p:spPr>
          <a:xfrm>
            <a:off x="7581200" y="3337402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8"/>
              </a:rPr>
              <a:t>lead@spec-usa.net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3" name="Subtitle 2"/>
          <p:cNvSpPr txBox="1"/>
          <p:nvPr/>
        </p:nvSpPr>
        <p:spPr>
          <a:xfrm>
            <a:off x="7581200" y="3733028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+ 1 908-450-9862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4" name="Subtitle 2"/>
          <p:cNvSpPr txBox="1"/>
          <p:nvPr/>
        </p:nvSpPr>
        <p:spPr>
          <a:xfrm>
            <a:off x="7581200" y="4128654"/>
            <a:ext cx="3700132" cy="52322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SPEC Partner”, 350 Grove Street, Bridgewater, NJ 08807, United States.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>
            <a:off x="7326788" y="3225118"/>
            <a:ext cx="3068498" cy="0"/>
          </a:xfrm>
          <a:prstGeom prst="line">
            <a:avLst/>
          </a:prstGeom>
          <a:ln w="12700">
            <a:solidFill>
              <a:srgbClr val="0B334C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6" name="Picture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6788" y="3376990"/>
            <a:ext cx="228600" cy="22860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6788" y="3772616"/>
            <a:ext cx="228600" cy="228600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8537" y="4168242"/>
            <a:ext cx="228600" cy="228600"/>
          </a:xfrm>
          <a:prstGeom prst="rect">
            <a:avLst/>
          </a:prstGeom>
        </p:spPr>
      </p:pic>
      <p:pic>
        <p:nvPicPr>
          <p:cNvPr id="40" name="Picture 39" descr="Logo&#10;&#10;Description automatically generated">
            <a:hlinkClick r:id="rId9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00252" y="5526127"/>
            <a:ext cx="881997" cy="251999"/>
          </a:xfrm>
          <a:prstGeom prst="rect">
            <a:avLst/>
          </a:prstGeom>
        </p:spPr>
      </p:pic>
      <p:pic>
        <p:nvPicPr>
          <p:cNvPr id="42" name="Picture 41" descr="A picture containing text, clipart&#10;&#10;Description automatically generated">
            <a:hlinkClick r:id="rId11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31274" y="5544126"/>
            <a:ext cx="1511998" cy="216000"/>
          </a:xfrm>
          <a:prstGeom prst="rect">
            <a:avLst/>
          </a:prstGeom>
        </p:spPr>
      </p:pic>
      <p:pic>
        <p:nvPicPr>
          <p:cNvPr id="44" name="Picture 43" descr="A picture containing text, clipart&#10;&#10;Description automatically generated">
            <a:hlinkClick r:id="rId13"/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692297" y="5526127"/>
            <a:ext cx="766497" cy="251999"/>
          </a:xfrm>
          <a:prstGeom prst="rect">
            <a:avLst/>
          </a:prstGeom>
        </p:spPr>
      </p:pic>
      <p:pic>
        <p:nvPicPr>
          <p:cNvPr id="46" name="Picture 45" descr="A picture containing text, clipart&#10;&#10;Description automatically generated">
            <a:hlinkClick r:id="rId15"/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07819" y="5526127"/>
            <a:ext cx="1282904" cy="251999"/>
          </a:xfrm>
          <a:prstGeom prst="rect">
            <a:avLst/>
          </a:prstGeom>
        </p:spPr>
      </p:pic>
      <p:pic>
        <p:nvPicPr>
          <p:cNvPr id="48" name="Picture 47" descr="A picture containing text, transport, clipart, wheel&#10;&#10;Description automatically generated">
            <a:hlinkClick r:id="rId17"/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39748" y="5544126"/>
            <a:ext cx="1152000" cy="216000"/>
          </a:xfrm>
          <a:prstGeom prst="rect">
            <a:avLst/>
          </a:prstGeom>
        </p:spPr>
      </p:pic>
      <p:pic>
        <p:nvPicPr>
          <p:cNvPr id="14" name="Picture 13" descr="Shape&#10;&#10;Description automatically generated">
            <a:hlinkClick r:id="rId19"/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627401" y="6429239"/>
            <a:ext cx="228600" cy="228600"/>
          </a:xfrm>
          <a:prstGeom prst="rect">
            <a:avLst/>
          </a:prstGeom>
        </p:spPr>
      </p:pic>
      <p:pic>
        <p:nvPicPr>
          <p:cNvPr id="30" name="Picture 29" descr="A picture containing clipart&#10;&#10;Description automatically generated">
            <a:hlinkClick r:id="rId21"/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257418" y="6429239"/>
            <a:ext cx="228600" cy="228600"/>
          </a:xfrm>
          <a:prstGeom prst="rect">
            <a:avLst/>
          </a:prstGeom>
        </p:spPr>
      </p:pic>
      <p:pic>
        <p:nvPicPr>
          <p:cNvPr id="32" name="Picture 31" descr="A picture containing text, clipart&#10;&#10;Description automatically generated">
            <a:hlinkClick r:id="rId23"/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777486" y="6429239"/>
            <a:ext cx="228600" cy="228600"/>
          </a:xfrm>
          <a:prstGeom prst="rect">
            <a:avLst/>
          </a:prstGeom>
        </p:spPr>
      </p:pic>
      <p:pic>
        <p:nvPicPr>
          <p:cNvPr id="36" name="Picture 35" descr="A picture containing text, clipart&#10;&#10;Description automatically generated">
            <a:hlinkClick r:id="rId25"/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147469" y="6429239"/>
            <a:ext cx="228600" cy="228600"/>
          </a:xfrm>
          <a:prstGeom prst="rect">
            <a:avLst/>
          </a:prstGeom>
        </p:spPr>
      </p:pic>
      <p:pic>
        <p:nvPicPr>
          <p:cNvPr id="38" name="Picture 37" descr="A picture containing clipart&#10;&#10;Description automatically generated">
            <a:hlinkClick r:id="rId27"/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517452" y="6429239"/>
            <a:ext cx="228600" cy="228600"/>
          </a:xfrm>
          <a:prstGeom prst="rect">
            <a:avLst/>
          </a:prstGeom>
        </p:spPr>
      </p:pic>
      <p:pic>
        <p:nvPicPr>
          <p:cNvPr id="41" name="Picture 40" descr="A picture containing text, clipart&#10;&#10;Description automatically generated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960321" y="5863640"/>
            <a:ext cx="977900" cy="152400"/>
          </a:xfrm>
          <a:prstGeom prst="rect">
            <a:avLst/>
          </a:prstGeom>
        </p:spPr>
      </p:pic>
      <p:pic>
        <p:nvPicPr>
          <p:cNvPr id="45" name="Picture 44" descr="A picture containing text, clipart&#10;&#10;Description automatically generated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526798" y="5851286"/>
            <a:ext cx="977900" cy="152400"/>
          </a:xfrm>
          <a:prstGeom prst="rect">
            <a:avLst/>
          </a:prstGeom>
        </p:spPr>
      </p:pic>
      <p:pic>
        <p:nvPicPr>
          <p:cNvPr id="47" name="Picture 46" descr="A picture containing text, clipart&#10;&#10;Description automatically generated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586595" y="5851286"/>
            <a:ext cx="977900" cy="152400"/>
          </a:xfrm>
          <a:prstGeom prst="rect">
            <a:avLst/>
          </a:prstGeom>
        </p:spPr>
      </p:pic>
      <p:pic>
        <p:nvPicPr>
          <p:cNvPr id="50" name="Picture 49" descr="A picture containing text, clipart&#10;&#10;Description automatically generated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098323" y="5863640"/>
            <a:ext cx="977900" cy="152400"/>
          </a:xfrm>
          <a:prstGeom prst="rect">
            <a:avLst/>
          </a:prstGeom>
        </p:spPr>
      </p:pic>
      <p:pic>
        <p:nvPicPr>
          <p:cNvPr id="51" name="Picture 50" descr="A picture containing text, clipart&#10;&#10;Description automatically generated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580453" y="5858314"/>
            <a:ext cx="977900" cy="152400"/>
          </a:xfrm>
          <a:prstGeom prst="rect">
            <a:avLst/>
          </a:prstGeom>
        </p:spPr>
      </p:pic>
      <p:pic>
        <p:nvPicPr>
          <p:cNvPr id="53" name="Picture 52" descr="A picture containing text, clipart&#10;&#10;Description automatically generated">
            <a:hlinkClick r:id="rId31"/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887435" y="6428492"/>
            <a:ext cx="228600" cy="228600"/>
          </a:xfrm>
          <a:prstGeom prst="rect">
            <a:avLst/>
          </a:prstGeom>
        </p:spPr>
      </p:pic>
      <p:cxnSp>
        <p:nvCxnSpPr>
          <p:cNvPr id="59" name="Straight Connector 58"/>
          <p:cNvCxnSpPr/>
          <p:nvPr/>
        </p:nvCxnSpPr>
        <p:spPr>
          <a:xfrm>
            <a:off x="2580453" y="2716520"/>
            <a:ext cx="0" cy="519804"/>
          </a:xfrm>
          <a:prstGeom prst="line">
            <a:avLst/>
          </a:prstGeom>
          <a:ln w="19050">
            <a:solidFill>
              <a:srgbClr val="E8E8E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1772</Words>
  <Application>WPS Presentation</Application>
  <PresentationFormat>Widescreen</PresentationFormat>
  <Paragraphs>99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2" baseType="lpstr">
      <vt:lpstr>Arial</vt:lpstr>
      <vt:lpstr>SimSun</vt:lpstr>
      <vt:lpstr>Wingdings</vt:lpstr>
      <vt:lpstr>Roboto</vt:lpstr>
      <vt:lpstr>Times New Roman</vt:lpstr>
      <vt:lpstr>Roboto Medium</vt:lpstr>
      <vt:lpstr>Wingdings</vt:lpstr>
      <vt:lpstr>Calibri</vt:lpstr>
      <vt:lpstr>Microsoft YaHei</vt:lpstr>
      <vt:lpstr>Arial Unicode MS</vt:lpstr>
      <vt:lpstr>Calibri Light</vt:lpstr>
      <vt:lpstr>Verdana</vt:lpstr>
      <vt:lpstr>Calibri</vt:lpstr>
      <vt:lpstr>Office Theme 2013 - 2022</vt:lpstr>
      <vt:lpstr>Hanwha Vision  1st July’25 – 15th July’25</vt:lpstr>
      <vt:lpstr>Meeting Participants</vt:lpstr>
      <vt:lpstr>Hasti Kaneriya - Highlights of the work done in two weeks</vt:lpstr>
      <vt:lpstr>Hasti Kaneriya - Roadblocks / issues if any </vt:lpstr>
      <vt:lpstr>Hasti Kaneriya - Improvement Points Identified</vt:lpstr>
      <vt:lpstr>Hasti Kaneriya - Any New Problem Statement Seen / Identified * If any</vt:lpstr>
      <vt:lpstr>Hasti Kaneriya - Achievements/Extra mile of the week * if any</vt:lpstr>
      <vt:lpstr>Thank You For  Your Time &amp; Attention!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 Your IT Partner  We Have The Right SPEC</dc:title>
  <dc:creator>Amar Chuhan</dc:creator>
  <cp:lastModifiedBy>hasti.tilva</cp:lastModifiedBy>
  <cp:revision>575</cp:revision>
  <dcterms:created xsi:type="dcterms:W3CDTF">2023-01-02T08:33:00Z</dcterms:created>
  <dcterms:modified xsi:type="dcterms:W3CDTF">2025-09-24T08:55:01Z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B32B0568AA8B407A91586000BAD77FD6_12</vt:lpwstr>
  </property>
  <property fmtid="{D5CDD505-2E9C-101B-9397-08002B2CF9AE}" pid="3" name="KSOProductBuildVer">
    <vt:lpwstr>1033-12.2.0.22549</vt:lpwstr>
  </property>
</Properties>
</file>