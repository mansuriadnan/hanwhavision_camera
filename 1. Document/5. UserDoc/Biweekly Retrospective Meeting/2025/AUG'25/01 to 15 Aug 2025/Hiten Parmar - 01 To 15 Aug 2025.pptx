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8B4C78-ED4B-02F3-99E7-FF1C2D7A8DE9}" v="819" dt="2025-09-24T09:18:29.5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tableStyles" Target="tableStyle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entere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Title, 2 Content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 Content and 2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8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17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17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0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4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5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6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7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efault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Default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Default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4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17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Default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17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Default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5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56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61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62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63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Default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efault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fault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efault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Default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76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Default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7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80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Default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8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8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17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Default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87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17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Default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9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91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92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95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96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97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98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99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Default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efault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0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fault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0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0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5.wmf"/><Relationship Id="rId5" Type="http://schemas.openxmlformats.org/officeDocument/2006/relationships/image" Target="../media/image4.wmf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wmf"/><Relationship Id="rId21" Type="http://schemas.openxmlformats.org/officeDocument/2006/relationships/image" Target="../media/image20.png"/><Relationship Id="rId7" Type="http://schemas.openxmlformats.org/officeDocument/2006/relationships/image" Target="../media/image7.wmf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wmf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33.xml"/><Relationship Id="rId6" Type="http://schemas.openxmlformats.org/officeDocument/2006/relationships/image" Target="../media/image6.wmf"/><Relationship Id="rId11" Type="http://schemas.openxmlformats.org/officeDocument/2006/relationships/image" Target="../media/image10.png"/><Relationship Id="rId5" Type="http://schemas.openxmlformats.org/officeDocument/2006/relationships/hyperlink" Target="mailto:lead@spec-india.com" TargetMode="External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hyperlink" Target="http://www.spec-india.com/" TargetMode="External"/><Relationship Id="rId9" Type="http://schemas.openxmlformats.org/officeDocument/2006/relationships/hyperlink" Target="mailto:lead@spec-usa.net" TargetMode="External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Picture 19"/>
          <p:cNvPicPr/>
          <p:nvPr/>
        </p:nvPicPr>
        <p:blipFill>
          <a:blip r:embed="rId2"/>
          <a:stretch/>
        </p:blipFill>
        <p:spPr>
          <a:xfrm>
            <a:off x="-18360" y="0"/>
            <a:ext cx="6676200" cy="6219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7" name="Picture 8"/>
          <p:cNvPicPr/>
          <p:nvPr/>
        </p:nvPicPr>
        <p:blipFill>
          <a:blip r:embed="rId3"/>
          <a:stretch/>
        </p:blipFill>
        <p:spPr>
          <a:xfrm>
            <a:off x="0" y="5079960"/>
            <a:ext cx="12188160" cy="1774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8" name="Picture 7"/>
          <p:cNvPicPr/>
          <p:nvPr/>
        </p:nvPicPr>
        <p:blipFill>
          <a:blip r:embed="rId4"/>
          <a:stretch/>
        </p:blipFill>
        <p:spPr>
          <a:xfrm>
            <a:off x="0" y="2031840"/>
            <a:ext cx="12188160" cy="4822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CustomShape 1"/>
          <p:cNvSpPr/>
          <p:nvPr/>
        </p:nvSpPr>
        <p:spPr>
          <a:xfrm>
            <a:off x="364680" y="1778040"/>
            <a:ext cx="4803840" cy="961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90000"/>
              </a:lnSpc>
            </a:pPr>
            <a:r>
              <a:rPr lang="en-US" sz="3000" b="1" u="none" strike="noStrike" dirty="0">
                <a:solidFill>
                  <a:srgbClr val="262626"/>
                </a:solidFill>
                <a:effectLst/>
                <a:uFillTx/>
                <a:latin typeface="Roboto"/>
                <a:ea typeface="Roboto"/>
              </a:rPr>
              <a:t>Hanwha Vision </a:t>
            </a:r>
            <a:br>
              <a:rPr sz="1800" dirty="0"/>
            </a:br>
            <a:r>
              <a:rPr lang="en-US" sz="3000" b="1" dirty="0">
                <a:solidFill>
                  <a:srgbClr val="262626"/>
                </a:solidFill>
                <a:latin typeface="Roboto"/>
                <a:ea typeface="Roboto"/>
              </a:rPr>
              <a:t>01 St August’25</a:t>
            </a:r>
            <a:r>
              <a:rPr lang="en-US" sz="3000" b="1" u="none" strike="noStrike" dirty="0">
                <a:solidFill>
                  <a:srgbClr val="262626"/>
                </a:solidFill>
                <a:effectLst/>
                <a:uFillTx/>
                <a:latin typeface="Roboto"/>
                <a:ea typeface="Roboto"/>
              </a:rPr>
              <a:t> – </a:t>
            </a:r>
            <a:r>
              <a:rPr lang="en-US" sz="3000" b="1" dirty="0">
                <a:solidFill>
                  <a:srgbClr val="262626"/>
                </a:solidFill>
                <a:latin typeface="Roboto"/>
                <a:ea typeface="Roboto"/>
              </a:rPr>
              <a:t>15th</a:t>
            </a:r>
            <a:r>
              <a:rPr lang="en-US" sz="3000" b="1" u="none" strike="noStrike" dirty="0">
                <a:solidFill>
                  <a:srgbClr val="262626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3000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August</a:t>
            </a:r>
            <a:r>
              <a:rPr lang="en-US" sz="3000" b="1" dirty="0">
                <a:solidFill>
                  <a:srgbClr val="262626"/>
                </a:solidFill>
                <a:latin typeface="Roboto"/>
                <a:ea typeface="Roboto"/>
              </a:rPr>
              <a:t>’25</a:t>
            </a:r>
            <a:endParaRPr lang="en-IN" sz="3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Line 2"/>
          <p:cNvSpPr/>
          <p:nvPr/>
        </p:nvSpPr>
        <p:spPr>
          <a:xfrm>
            <a:off x="364320" y="2859480"/>
            <a:ext cx="4953240" cy="360"/>
          </a:xfrm>
          <a:prstGeom prst="line">
            <a:avLst/>
          </a:prstGeom>
          <a:ln w="25560">
            <a:solidFill>
              <a:srgbClr val="65BB35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11" name="Picture 24"/>
          <p:cNvPicPr/>
          <p:nvPr/>
        </p:nvPicPr>
        <p:blipFill>
          <a:blip r:embed="rId5"/>
          <a:stretch/>
        </p:blipFill>
        <p:spPr>
          <a:xfrm>
            <a:off x="9562680" y="377280"/>
            <a:ext cx="2167920" cy="1011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2" name="Picture 4"/>
          <p:cNvPicPr/>
          <p:nvPr/>
        </p:nvPicPr>
        <p:blipFill>
          <a:blip r:embed="rId6"/>
          <a:stretch/>
        </p:blipFill>
        <p:spPr>
          <a:xfrm>
            <a:off x="524880" y="611280"/>
            <a:ext cx="1774080" cy="529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" name="CustomShape 3"/>
          <p:cNvSpPr/>
          <p:nvPr/>
        </p:nvSpPr>
        <p:spPr>
          <a:xfrm>
            <a:off x="3657600" y="2921040"/>
            <a:ext cx="1715400" cy="37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90000"/>
              </a:lnSpc>
            </a:pPr>
            <a:r>
              <a:rPr lang="en-US" sz="2000" b="1" u="none" strike="noStrike">
                <a:solidFill>
                  <a:srgbClr val="7030A0"/>
                </a:solidFill>
                <a:effectLst/>
                <a:uFillTx/>
                <a:latin typeface="Roboto"/>
                <a:ea typeface="Roboto"/>
              </a:rPr>
              <a:t>Hiten Parmar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CustomShape 1"/>
          <p:cNvSpPr/>
          <p:nvPr/>
        </p:nvSpPr>
        <p:spPr>
          <a:xfrm>
            <a:off x="335880" y="380880"/>
            <a:ext cx="11516040" cy="631080"/>
          </a:xfrm>
          <a:prstGeom prst="rect">
            <a:avLst/>
          </a:prstGeom>
          <a:solidFill>
            <a:srgbClr val="65BB35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5" name="CustomShape 2"/>
          <p:cNvSpPr/>
          <p:nvPr/>
        </p:nvSpPr>
        <p:spPr>
          <a:xfrm>
            <a:off x="507960" y="126000"/>
            <a:ext cx="7474680" cy="114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Meeting Participants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Line 3"/>
          <p:cNvSpPr/>
          <p:nvPr/>
        </p:nvSpPr>
        <p:spPr>
          <a:xfrm>
            <a:off x="335880" y="6222960"/>
            <a:ext cx="11520000" cy="360"/>
          </a:xfrm>
          <a:prstGeom prst="line">
            <a:avLst/>
          </a:prstGeom>
          <a:ln w="12600">
            <a:solidFill>
              <a:srgbClr val="D9D9D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7" name="CustomShape 4"/>
          <p:cNvSpPr/>
          <p:nvPr/>
        </p:nvSpPr>
        <p:spPr>
          <a:xfrm>
            <a:off x="326880" y="6380280"/>
            <a:ext cx="404640" cy="302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A6A6A6"/>
                </a:solidFill>
                <a:effectLst/>
                <a:uFillTx/>
                <a:latin typeface="Roboto"/>
                <a:ea typeface="Roboto"/>
              </a:rPr>
              <a:t>04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CustomShape 5"/>
          <p:cNvSpPr/>
          <p:nvPr/>
        </p:nvSpPr>
        <p:spPr>
          <a:xfrm>
            <a:off x="335880" y="380880"/>
            <a:ext cx="108720" cy="631080"/>
          </a:xfrm>
          <a:prstGeom prst="rect">
            <a:avLst/>
          </a:prstGeom>
          <a:solidFill>
            <a:srgbClr val="0A344C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19" name="Picture 16"/>
          <p:cNvPicPr/>
          <p:nvPr/>
        </p:nvPicPr>
        <p:blipFill>
          <a:blip r:embed="rId2"/>
          <a:stretch/>
        </p:blipFill>
        <p:spPr>
          <a:xfrm>
            <a:off x="10849320" y="6380280"/>
            <a:ext cx="1002600" cy="29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" name="CustomShape 6"/>
          <p:cNvSpPr/>
          <p:nvPr/>
        </p:nvSpPr>
        <p:spPr>
          <a:xfrm>
            <a:off x="4835880" y="6443640"/>
            <a:ext cx="2516040" cy="190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400" b="0" u="sng" strike="noStrike">
                <a:solidFill>
                  <a:srgbClr val="0000FF"/>
                </a:solidFill>
                <a:effectLst/>
                <a:uFillTx/>
                <a:latin typeface="Roboto"/>
                <a:ea typeface="Roboto"/>
                <a:hlinkClick r:id="rId3"/>
              </a:rPr>
              <a:t>www.spec-india.com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CustomShape 7"/>
          <p:cNvSpPr/>
          <p:nvPr/>
        </p:nvSpPr>
        <p:spPr>
          <a:xfrm>
            <a:off x="448560" y="1270800"/>
            <a:ext cx="8210160" cy="258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43080" indent="-339840">
              <a:lnSpc>
                <a:spcPct val="13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Roboto Medium"/>
              </a:rPr>
              <a:t>Parth Jotangiya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39840">
              <a:lnSpc>
                <a:spcPct val="13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Roboto Medium"/>
              </a:rPr>
              <a:t>Jayendra Makvana 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39840">
              <a:lnSpc>
                <a:spcPct val="13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Roboto Medium"/>
              </a:rPr>
              <a:t>Adnan Mansuri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39840">
              <a:lnSpc>
                <a:spcPct val="13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Roboto Medium"/>
              </a:rPr>
              <a:t>Hiten Parmar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39840">
              <a:lnSpc>
                <a:spcPct val="13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Roboto Medium"/>
              </a:rPr>
              <a:t>Rashmi Patel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39840">
              <a:lnSpc>
                <a:spcPct val="13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Roboto Medium"/>
              </a:rPr>
              <a:t>Hasti Kaneriya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39840">
              <a:lnSpc>
                <a:spcPct val="13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Roboto Medium"/>
              </a:rPr>
              <a:t>Bhavika Gamdha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CustomShape 1"/>
          <p:cNvSpPr/>
          <p:nvPr/>
        </p:nvSpPr>
        <p:spPr>
          <a:xfrm>
            <a:off x="335880" y="380880"/>
            <a:ext cx="11516040" cy="631080"/>
          </a:xfrm>
          <a:prstGeom prst="rect">
            <a:avLst/>
          </a:prstGeom>
          <a:solidFill>
            <a:srgbClr val="65BB35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3" name="CustomShape 2"/>
          <p:cNvSpPr/>
          <p:nvPr/>
        </p:nvSpPr>
        <p:spPr>
          <a:xfrm>
            <a:off x="507960" y="126000"/>
            <a:ext cx="11151000" cy="114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Hiten Parmar - Highlights of the work done in two weeks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Line 3"/>
          <p:cNvSpPr/>
          <p:nvPr/>
        </p:nvSpPr>
        <p:spPr>
          <a:xfrm>
            <a:off x="335880" y="6222960"/>
            <a:ext cx="11520000" cy="360"/>
          </a:xfrm>
          <a:prstGeom prst="line">
            <a:avLst/>
          </a:prstGeom>
          <a:ln w="12600">
            <a:solidFill>
              <a:srgbClr val="D9D9D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5" name="CustomShape 4"/>
          <p:cNvSpPr/>
          <p:nvPr/>
        </p:nvSpPr>
        <p:spPr>
          <a:xfrm>
            <a:off x="326880" y="6380280"/>
            <a:ext cx="404640" cy="302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A6A6A6"/>
                </a:solidFill>
                <a:effectLst/>
                <a:uFillTx/>
                <a:latin typeface="Roboto"/>
                <a:ea typeface="Roboto"/>
              </a:rPr>
              <a:t>04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CustomShape 5"/>
          <p:cNvSpPr/>
          <p:nvPr/>
        </p:nvSpPr>
        <p:spPr>
          <a:xfrm>
            <a:off x="335880" y="380880"/>
            <a:ext cx="108720" cy="631080"/>
          </a:xfrm>
          <a:prstGeom prst="rect">
            <a:avLst/>
          </a:prstGeom>
          <a:solidFill>
            <a:srgbClr val="0A344C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27" name="Picture 16"/>
          <p:cNvPicPr/>
          <p:nvPr/>
        </p:nvPicPr>
        <p:blipFill>
          <a:blip r:embed="rId2"/>
          <a:stretch/>
        </p:blipFill>
        <p:spPr>
          <a:xfrm>
            <a:off x="10849320" y="6380280"/>
            <a:ext cx="1002600" cy="29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" name="CustomShape 6"/>
          <p:cNvSpPr/>
          <p:nvPr/>
        </p:nvSpPr>
        <p:spPr>
          <a:xfrm>
            <a:off x="4835880" y="6443640"/>
            <a:ext cx="2516040" cy="190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400" b="0" u="sng" strike="noStrike">
                <a:solidFill>
                  <a:srgbClr val="0000FF"/>
                </a:solidFill>
                <a:effectLst/>
                <a:uFillTx/>
                <a:latin typeface="Roboto"/>
                <a:ea typeface="Roboto"/>
                <a:hlinkClick r:id="rId3"/>
              </a:rPr>
              <a:t>www.spec-india.com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CustomShape 7"/>
          <p:cNvSpPr/>
          <p:nvPr/>
        </p:nvSpPr>
        <p:spPr>
          <a:xfrm>
            <a:off x="448560" y="1051920"/>
            <a:ext cx="9990360" cy="24208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750" indent="-282575">
              <a:lnSpc>
                <a:spcPct val="2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lang="en-US" sz="1400" b="1" u="none" strike="noStrike" dirty="0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Back end development of Client Application: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2575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lang="en-US" sz="1400" dirty="0">
                <a:latin typeface="Calibri"/>
                <a:cs typeface="Arial"/>
              </a:rPr>
              <a:t>Worked on utilization logic changes.</a:t>
            </a:r>
          </a:p>
          <a:p>
            <a:pPr marL="285750" indent="-282575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lang="en-US" sz="1400" dirty="0">
                <a:solidFill>
                  <a:srgbClr val="000000"/>
                </a:solidFill>
                <a:latin typeface="Calibri"/>
                <a:ea typeface="+mn-lt"/>
                <a:cs typeface="+mn-lt"/>
              </a:rPr>
              <a:t>Worked on device live stream.</a:t>
            </a:r>
          </a:p>
          <a:p>
            <a:pPr marL="285750" indent="-282575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lang="en-US" sz="1400" dirty="0">
                <a:solidFill>
                  <a:srgbClr val="000000"/>
                </a:solidFill>
                <a:latin typeface="Calibri"/>
                <a:ea typeface="+mn-lt"/>
                <a:cs typeface="+mn-lt"/>
              </a:rPr>
              <a:t>Worked on people in-out device not coming according to floor issue.</a:t>
            </a:r>
          </a:p>
          <a:p>
            <a:pPr marL="285750" indent="-282575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lang="en-US" sz="1400" dirty="0">
                <a:solidFill>
                  <a:srgbClr val="000000"/>
                </a:solidFill>
                <a:latin typeface="Calibri"/>
                <a:ea typeface="+mn-lt"/>
                <a:cs typeface="+mn-lt"/>
              </a:rPr>
              <a:t>Worked on background service for saving wrong data at midnight.</a:t>
            </a:r>
          </a:p>
          <a:p>
            <a:pPr marL="431800" lvl="1" indent="-2159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1400" dirty="0">
              <a:solidFill>
                <a:srgbClr val="000000"/>
              </a:solidFill>
              <a:latin typeface="Calibri"/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endParaRPr lang="en-IN" sz="1400">
              <a:solidFill>
                <a:srgbClr val="000000"/>
              </a:solidFill>
              <a:latin typeface="Arial"/>
              <a:ea typeface="+mn-lt"/>
              <a:cs typeface="+mn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CustomShape 1"/>
          <p:cNvSpPr/>
          <p:nvPr/>
        </p:nvSpPr>
        <p:spPr>
          <a:xfrm>
            <a:off x="335880" y="380880"/>
            <a:ext cx="11516040" cy="631080"/>
          </a:xfrm>
          <a:prstGeom prst="rect">
            <a:avLst/>
          </a:prstGeom>
          <a:solidFill>
            <a:srgbClr val="65BB35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1" name="CustomShape 2"/>
          <p:cNvSpPr/>
          <p:nvPr/>
        </p:nvSpPr>
        <p:spPr>
          <a:xfrm>
            <a:off x="507960" y="126000"/>
            <a:ext cx="11144160" cy="114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Hiten Parmar - Roadblocks / issues if any 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Line 3"/>
          <p:cNvSpPr/>
          <p:nvPr/>
        </p:nvSpPr>
        <p:spPr>
          <a:xfrm>
            <a:off x="335880" y="6222960"/>
            <a:ext cx="11520000" cy="360"/>
          </a:xfrm>
          <a:prstGeom prst="line">
            <a:avLst/>
          </a:prstGeom>
          <a:ln w="12600">
            <a:solidFill>
              <a:srgbClr val="D9D9D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3" name="CustomShape 4"/>
          <p:cNvSpPr/>
          <p:nvPr/>
        </p:nvSpPr>
        <p:spPr>
          <a:xfrm>
            <a:off x="326880" y="6380280"/>
            <a:ext cx="404640" cy="302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A6A6A6"/>
                </a:solidFill>
                <a:effectLst/>
                <a:uFillTx/>
                <a:latin typeface="Roboto"/>
                <a:ea typeface="Roboto"/>
              </a:rPr>
              <a:t>04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CustomShape 5"/>
          <p:cNvSpPr/>
          <p:nvPr/>
        </p:nvSpPr>
        <p:spPr>
          <a:xfrm>
            <a:off x="335880" y="380880"/>
            <a:ext cx="108720" cy="631080"/>
          </a:xfrm>
          <a:prstGeom prst="rect">
            <a:avLst/>
          </a:prstGeom>
          <a:solidFill>
            <a:srgbClr val="0A344C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35" name="Picture 16"/>
          <p:cNvPicPr/>
          <p:nvPr/>
        </p:nvPicPr>
        <p:blipFill>
          <a:blip r:embed="rId2"/>
          <a:stretch/>
        </p:blipFill>
        <p:spPr>
          <a:xfrm>
            <a:off x="10849320" y="6380280"/>
            <a:ext cx="1002600" cy="29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6" name="CustomShape 6"/>
          <p:cNvSpPr/>
          <p:nvPr/>
        </p:nvSpPr>
        <p:spPr>
          <a:xfrm>
            <a:off x="4835880" y="6443640"/>
            <a:ext cx="2516040" cy="190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400" b="0" u="sng" strike="noStrike">
                <a:solidFill>
                  <a:srgbClr val="0000FF"/>
                </a:solidFill>
                <a:effectLst/>
                <a:uFillTx/>
                <a:latin typeface="Roboto"/>
                <a:ea typeface="Roboto"/>
                <a:hlinkClick r:id="rId3"/>
              </a:rPr>
              <a:t>www.spec-india.com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CustomShape 7"/>
          <p:cNvSpPr/>
          <p:nvPr/>
        </p:nvSpPr>
        <p:spPr>
          <a:xfrm>
            <a:off x="448560" y="1236600"/>
            <a:ext cx="11403360" cy="40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26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Roboto"/>
              </a:rPr>
              <a:t>Not have any point.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CustomShape 1"/>
          <p:cNvSpPr/>
          <p:nvPr/>
        </p:nvSpPr>
        <p:spPr>
          <a:xfrm>
            <a:off x="335880" y="380880"/>
            <a:ext cx="11516040" cy="631080"/>
          </a:xfrm>
          <a:prstGeom prst="rect">
            <a:avLst/>
          </a:prstGeom>
          <a:solidFill>
            <a:srgbClr val="65BB35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9" name="CustomShape 2"/>
          <p:cNvSpPr/>
          <p:nvPr/>
        </p:nvSpPr>
        <p:spPr>
          <a:xfrm>
            <a:off x="507960" y="126000"/>
            <a:ext cx="7474680" cy="114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Hiten Parmar - Improvement Points Identified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Line 3"/>
          <p:cNvSpPr/>
          <p:nvPr/>
        </p:nvSpPr>
        <p:spPr>
          <a:xfrm>
            <a:off x="335880" y="6222960"/>
            <a:ext cx="11520000" cy="360"/>
          </a:xfrm>
          <a:prstGeom prst="line">
            <a:avLst/>
          </a:prstGeom>
          <a:ln w="12600">
            <a:solidFill>
              <a:srgbClr val="D9D9D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1" name="CustomShape 4"/>
          <p:cNvSpPr/>
          <p:nvPr/>
        </p:nvSpPr>
        <p:spPr>
          <a:xfrm>
            <a:off x="326880" y="6380280"/>
            <a:ext cx="404640" cy="302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A6A6A6"/>
                </a:solidFill>
                <a:effectLst/>
                <a:uFillTx/>
                <a:latin typeface="Roboto"/>
                <a:ea typeface="Roboto"/>
              </a:rPr>
              <a:t>04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CustomShape 5"/>
          <p:cNvSpPr/>
          <p:nvPr/>
        </p:nvSpPr>
        <p:spPr>
          <a:xfrm>
            <a:off x="335880" y="380880"/>
            <a:ext cx="108720" cy="631080"/>
          </a:xfrm>
          <a:prstGeom prst="rect">
            <a:avLst/>
          </a:prstGeom>
          <a:solidFill>
            <a:srgbClr val="0A344C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43" name="Picture 16"/>
          <p:cNvPicPr/>
          <p:nvPr/>
        </p:nvPicPr>
        <p:blipFill>
          <a:blip r:embed="rId2"/>
          <a:stretch/>
        </p:blipFill>
        <p:spPr>
          <a:xfrm>
            <a:off x="10849320" y="6380280"/>
            <a:ext cx="1002600" cy="29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" name="CustomShape 6"/>
          <p:cNvSpPr/>
          <p:nvPr/>
        </p:nvSpPr>
        <p:spPr>
          <a:xfrm>
            <a:off x="4835880" y="6443640"/>
            <a:ext cx="2516040" cy="190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400" b="0" u="sng" strike="noStrike">
                <a:solidFill>
                  <a:srgbClr val="0000FF"/>
                </a:solidFill>
                <a:effectLst/>
                <a:uFillTx/>
                <a:latin typeface="Roboto"/>
                <a:ea typeface="Roboto"/>
                <a:hlinkClick r:id="rId3"/>
              </a:rPr>
              <a:t>www.spec-india.com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CustomShape 7"/>
          <p:cNvSpPr/>
          <p:nvPr/>
        </p:nvSpPr>
        <p:spPr>
          <a:xfrm>
            <a:off x="448560" y="1235880"/>
            <a:ext cx="11403360" cy="36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2600">
              <a:lnSpc>
                <a:spcPct val="13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Need to Improve communication skill.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CustomShape 1"/>
          <p:cNvSpPr/>
          <p:nvPr/>
        </p:nvSpPr>
        <p:spPr>
          <a:xfrm>
            <a:off x="335880" y="380880"/>
            <a:ext cx="11516040" cy="631080"/>
          </a:xfrm>
          <a:prstGeom prst="rect">
            <a:avLst/>
          </a:prstGeom>
          <a:solidFill>
            <a:srgbClr val="65BB35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7" name="CustomShape 2"/>
          <p:cNvSpPr/>
          <p:nvPr/>
        </p:nvSpPr>
        <p:spPr>
          <a:xfrm>
            <a:off x="507960" y="126000"/>
            <a:ext cx="11151000" cy="114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Hiten Parmar - Any New Problem Statement Seen / Identified * If any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Line 3"/>
          <p:cNvSpPr/>
          <p:nvPr/>
        </p:nvSpPr>
        <p:spPr>
          <a:xfrm>
            <a:off x="335880" y="6222960"/>
            <a:ext cx="11520000" cy="360"/>
          </a:xfrm>
          <a:prstGeom prst="line">
            <a:avLst/>
          </a:prstGeom>
          <a:ln w="12600">
            <a:solidFill>
              <a:srgbClr val="D9D9D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9" name="CustomShape 4"/>
          <p:cNvSpPr/>
          <p:nvPr/>
        </p:nvSpPr>
        <p:spPr>
          <a:xfrm>
            <a:off x="326880" y="6380280"/>
            <a:ext cx="404640" cy="302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A6A6A6"/>
                </a:solidFill>
                <a:effectLst/>
                <a:uFillTx/>
                <a:latin typeface="Roboto"/>
                <a:ea typeface="Roboto"/>
              </a:rPr>
              <a:t>04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CustomShape 5"/>
          <p:cNvSpPr/>
          <p:nvPr/>
        </p:nvSpPr>
        <p:spPr>
          <a:xfrm>
            <a:off x="335880" y="380880"/>
            <a:ext cx="108720" cy="631080"/>
          </a:xfrm>
          <a:prstGeom prst="rect">
            <a:avLst/>
          </a:prstGeom>
          <a:solidFill>
            <a:srgbClr val="0A344C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51" name="Picture 16"/>
          <p:cNvPicPr/>
          <p:nvPr/>
        </p:nvPicPr>
        <p:blipFill>
          <a:blip r:embed="rId2"/>
          <a:stretch/>
        </p:blipFill>
        <p:spPr>
          <a:xfrm>
            <a:off x="10849320" y="6380280"/>
            <a:ext cx="1002600" cy="29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2" name="CustomShape 6"/>
          <p:cNvSpPr/>
          <p:nvPr/>
        </p:nvSpPr>
        <p:spPr>
          <a:xfrm>
            <a:off x="4835880" y="6443640"/>
            <a:ext cx="2516040" cy="190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400" b="0" u="sng" strike="noStrike">
                <a:solidFill>
                  <a:srgbClr val="0000FF"/>
                </a:solidFill>
                <a:effectLst/>
                <a:uFillTx/>
                <a:latin typeface="Roboto"/>
                <a:ea typeface="Roboto"/>
                <a:hlinkClick r:id="rId3"/>
              </a:rPr>
              <a:t>www.spec-india.com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CustomShape 7"/>
          <p:cNvSpPr/>
          <p:nvPr/>
        </p:nvSpPr>
        <p:spPr>
          <a:xfrm>
            <a:off x="448560" y="1264680"/>
            <a:ext cx="11064960" cy="36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2600">
              <a:lnSpc>
                <a:spcPct val="13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Roboto"/>
              </a:rPr>
              <a:t>There is no any problem statement identified yet.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CustomShape 1"/>
          <p:cNvSpPr/>
          <p:nvPr/>
        </p:nvSpPr>
        <p:spPr>
          <a:xfrm>
            <a:off x="335880" y="380880"/>
            <a:ext cx="11516040" cy="631080"/>
          </a:xfrm>
          <a:prstGeom prst="rect">
            <a:avLst/>
          </a:prstGeom>
          <a:solidFill>
            <a:srgbClr val="65BB35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5" name="CustomShape 2"/>
          <p:cNvSpPr/>
          <p:nvPr/>
        </p:nvSpPr>
        <p:spPr>
          <a:xfrm>
            <a:off x="507960" y="126000"/>
            <a:ext cx="10828440" cy="114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Hiten Parmar - Achievements/Extra mile of the week * if any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Line 3"/>
          <p:cNvSpPr/>
          <p:nvPr/>
        </p:nvSpPr>
        <p:spPr>
          <a:xfrm>
            <a:off x="335880" y="6222960"/>
            <a:ext cx="11520000" cy="360"/>
          </a:xfrm>
          <a:prstGeom prst="line">
            <a:avLst/>
          </a:prstGeom>
          <a:ln w="12600">
            <a:solidFill>
              <a:srgbClr val="D9D9D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7" name="CustomShape 4"/>
          <p:cNvSpPr/>
          <p:nvPr/>
        </p:nvSpPr>
        <p:spPr>
          <a:xfrm>
            <a:off x="326880" y="6380280"/>
            <a:ext cx="404640" cy="302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A6A6A6"/>
                </a:solidFill>
                <a:effectLst/>
                <a:uFillTx/>
                <a:latin typeface="Roboto"/>
                <a:ea typeface="Roboto"/>
              </a:rPr>
              <a:t>04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CustomShape 5"/>
          <p:cNvSpPr/>
          <p:nvPr/>
        </p:nvSpPr>
        <p:spPr>
          <a:xfrm>
            <a:off x="335880" y="380880"/>
            <a:ext cx="108720" cy="631080"/>
          </a:xfrm>
          <a:prstGeom prst="rect">
            <a:avLst/>
          </a:prstGeom>
          <a:solidFill>
            <a:srgbClr val="0A344C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59" name="Picture 16"/>
          <p:cNvPicPr/>
          <p:nvPr/>
        </p:nvPicPr>
        <p:blipFill>
          <a:blip r:embed="rId2"/>
          <a:stretch/>
        </p:blipFill>
        <p:spPr>
          <a:xfrm>
            <a:off x="10849320" y="6380280"/>
            <a:ext cx="1002600" cy="29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0" name="CustomShape 6"/>
          <p:cNvSpPr/>
          <p:nvPr/>
        </p:nvSpPr>
        <p:spPr>
          <a:xfrm>
            <a:off x="4835880" y="6443640"/>
            <a:ext cx="2516040" cy="190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400" b="0" u="sng" strike="noStrike">
                <a:solidFill>
                  <a:srgbClr val="0000FF"/>
                </a:solidFill>
                <a:effectLst/>
                <a:uFillTx/>
                <a:latin typeface="Roboto"/>
                <a:ea typeface="Roboto"/>
                <a:hlinkClick r:id="rId3"/>
              </a:rPr>
              <a:t>www.spec-india.com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CustomShape 7"/>
          <p:cNvSpPr/>
          <p:nvPr/>
        </p:nvSpPr>
        <p:spPr>
          <a:xfrm>
            <a:off x="448560" y="1198800"/>
            <a:ext cx="9670320" cy="3469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750" indent="-282575">
              <a:lnSpc>
                <a:spcPct val="130000"/>
              </a:lnSpc>
              <a:buClr>
                <a:srgbClr val="000000"/>
              </a:buClr>
              <a:buFont typeface="Wingdings" charset="2"/>
              <a:buChar char=""/>
            </a:pP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There have been no achievements recorded in the </a:t>
            </a:r>
            <a:r>
              <a:rPr lang="en-US" sz="1400" dirty="0">
                <a:solidFill>
                  <a:srgbClr val="000000"/>
                </a:solidFill>
                <a:latin typeface="Calibri"/>
                <a:ea typeface="DejaVu Sans"/>
              </a:rPr>
              <a:t>first two</a:t>
            </a: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 weeks of </a:t>
            </a:r>
            <a:r>
              <a:rPr lang="en-US" sz="1400" dirty="0">
                <a:solidFill>
                  <a:srgbClr val="000000"/>
                </a:solidFill>
                <a:latin typeface="Calibri"/>
                <a:ea typeface="DejaVu Sans"/>
              </a:rPr>
              <a:t>august</a:t>
            </a: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 2025.</a:t>
            </a:r>
            <a:endParaRPr lang="en-IN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Picture 19"/>
          <p:cNvPicPr/>
          <p:nvPr/>
        </p:nvPicPr>
        <p:blipFill>
          <a:blip r:embed="rId2"/>
          <a:stretch/>
        </p:blipFill>
        <p:spPr>
          <a:xfrm>
            <a:off x="-18360" y="0"/>
            <a:ext cx="6676200" cy="6219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3" name="Picture 8"/>
          <p:cNvPicPr/>
          <p:nvPr/>
        </p:nvPicPr>
        <p:blipFill>
          <a:blip r:embed="rId3"/>
          <a:stretch/>
        </p:blipFill>
        <p:spPr>
          <a:xfrm>
            <a:off x="0" y="5079960"/>
            <a:ext cx="12188160" cy="1774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4" name="CustomShape 1"/>
          <p:cNvSpPr/>
          <p:nvPr/>
        </p:nvSpPr>
        <p:spPr>
          <a:xfrm>
            <a:off x="457560" y="462960"/>
            <a:ext cx="5219640" cy="10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20000"/>
              </a:lnSpc>
            </a:pPr>
            <a:r>
              <a:rPr lang="en-US" sz="3000" b="1" u="none" strike="noStrike">
                <a:solidFill>
                  <a:srgbClr val="65BB35"/>
                </a:solidFill>
                <a:effectLst/>
                <a:uFillTx/>
                <a:latin typeface="Roboto"/>
                <a:ea typeface="Roboto"/>
              </a:rPr>
              <a:t>Thank You For </a:t>
            </a:r>
            <a:br>
              <a:rPr sz="1800"/>
            </a:br>
            <a:r>
              <a:rPr lang="en-US" sz="3000" b="1" u="none" strike="noStrike">
                <a:solidFill>
                  <a:srgbClr val="65BB35"/>
                </a:solidFill>
                <a:effectLst/>
                <a:uFillTx/>
                <a:latin typeface="Roboto"/>
                <a:ea typeface="Roboto"/>
              </a:rPr>
              <a:t>Your Time &amp; Attention!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CustomShape 2"/>
          <p:cNvSpPr/>
          <p:nvPr/>
        </p:nvSpPr>
        <p:spPr>
          <a:xfrm>
            <a:off x="457560" y="1756080"/>
            <a:ext cx="5219640" cy="69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85000" lnSpcReduction="9999"/>
          </a:bodyPr>
          <a:lstStyle/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262626"/>
                </a:solidFill>
                <a:effectLst/>
                <a:uFillTx/>
                <a:latin typeface="Roboto"/>
                <a:ea typeface="Roboto"/>
              </a:rPr>
              <a:t>Looking forward to having a mutually beneficial association! Assuring you of our best services always!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Line 3"/>
          <p:cNvSpPr/>
          <p:nvPr/>
        </p:nvSpPr>
        <p:spPr>
          <a:xfrm>
            <a:off x="524880" y="1622160"/>
            <a:ext cx="4320360" cy="360"/>
          </a:xfrm>
          <a:prstGeom prst="line">
            <a:avLst/>
          </a:prstGeom>
          <a:ln w="25560">
            <a:solidFill>
              <a:srgbClr val="65BB35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7" name="Line 4"/>
          <p:cNvSpPr/>
          <p:nvPr/>
        </p:nvSpPr>
        <p:spPr>
          <a:xfrm>
            <a:off x="335880" y="6301080"/>
            <a:ext cx="11520000" cy="360"/>
          </a:xfrm>
          <a:prstGeom prst="line">
            <a:avLst/>
          </a:prstGeom>
          <a:ln w="12600">
            <a:solidFill>
              <a:srgbClr val="D9D9D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8" name="CustomShape 5"/>
          <p:cNvSpPr/>
          <p:nvPr/>
        </p:nvSpPr>
        <p:spPr>
          <a:xfrm>
            <a:off x="161640" y="6384600"/>
            <a:ext cx="3828960" cy="302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F2F2F2"/>
                </a:solidFill>
                <a:effectLst/>
                <a:uFillTx/>
                <a:latin typeface="Roboto"/>
                <a:ea typeface="Roboto"/>
              </a:rPr>
              <a:t>© 2023 SPEC INDIA. All Rights Reserved.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CustomShape 6"/>
          <p:cNvSpPr/>
          <p:nvPr/>
        </p:nvSpPr>
        <p:spPr>
          <a:xfrm>
            <a:off x="457560" y="2609640"/>
            <a:ext cx="2337120" cy="64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334C"/>
                </a:solidFill>
                <a:effectLst/>
                <a:uFillTx/>
                <a:latin typeface="Roboto"/>
                <a:ea typeface="Roboto"/>
              </a:rPr>
              <a:t>Visit us at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-US" sz="1400" b="0" u="sng" strike="noStrike">
                <a:solidFill>
                  <a:srgbClr val="0000FF"/>
                </a:solidFill>
                <a:effectLst/>
                <a:uFillTx/>
                <a:latin typeface="Roboto"/>
                <a:ea typeface="Roboto"/>
                <a:hlinkClick r:id="rId4"/>
              </a:rPr>
              <a:t>www.spec-india.com</a:t>
            </a:r>
            <a:r>
              <a:rPr lang="en-US" sz="1400" b="0" u="sng" strike="noStrike">
                <a:solidFill>
                  <a:srgbClr val="0000FF"/>
                </a:solidFill>
                <a:effectLst/>
                <a:uFillTx/>
                <a:latin typeface="Roboto"/>
                <a:ea typeface="Roboto"/>
                <a:hlinkClick r:id="rId4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CustomShape 7"/>
          <p:cNvSpPr/>
          <p:nvPr/>
        </p:nvSpPr>
        <p:spPr>
          <a:xfrm>
            <a:off x="2798640" y="2609640"/>
            <a:ext cx="2337120" cy="64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334C"/>
                </a:solidFill>
                <a:effectLst/>
                <a:uFillTx/>
                <a:latin typeface="Roboto"/>
                <a:ea typeface="Roboto"/>
              </a:rPr>
              <a:t>Write to us at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-US" sz="1400" b="0" u="sng" strike="noStrike">
                <a:solidFill>
                  <a:srgbClr val="0000FF"/>
                </a:solidFill>
                <a:effectLst/>
                <a:uFillTx/>
                <a:latin typeface="Roboto"/>
                <a:ea typeface="Roboto"/>
                <a:hlinkClick r:id="rId5"/>
              </a:rPr>
              <a:t>lead@spec-india.com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CustomShape 8"/>
          <p:cNvSpPr/>
          <p:nvPr/>
        </p:nvSpPr>
        <p:spPr>
          <a:xfrm>
            <a:off x="7244280" y="796680"/>
            <a:ext cx="3696120" cy="40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B334C"/>
                </a:solidFill>
                <a:effectLst/>
                <a:uFillTx/>
                <a:latin typeface="Roboto"/>
                <a:ea typeface="Roboto"/>
              </a:rPr>
              <a:t>India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CustomShape 9"/>
          <p:cNvSpPr/>
          <p:nvPr/>
        </p:nvSpPr>
        <p:spPr>
          <a:xfrm>
            <a:off x="7581240" y="1292040"/>
            <a:ext cx="3696120" cy="302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0" u="sng" strike="noStrike">
                <a:solidFill>
                  <a:srgbClr val="0000FF"/>
                </a:solidFill>
                <a:effectLst/>
                <a:uFillTx/>
                <a:latin typeface="Roboto"/>
                <a:ea typeface="Roboto"/>
                <a:hlinkClick r:id="rId5"/>
              </a:rPr>
              <a:t>lead@spec-india.com</a:t>
            </a:r>
            <a:r>
              <a:rPr lang="en-US" sz="1400" b="0" u="sng" strike="noStrike">
                <a:solidFill>
                  <a:srgbClr val="0000FF"/>
                </a:solidFill>
                <a:effectLst/>
                <a:uFillTx/>
                <a:latin typeface="Roboto"/>
                <a:ea typeface="Roboto"/>
                <a:hlinkClick r:id="rId5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CustomShape 10"/>
          <p:cNvSpPr/>
          <p:nvPr/>
        </p:nvSpPr>
        <p:spPr>
          <a:xfrm>
            <a:off x="7581240" y="1687680"/>
            <a:ext cx="3696120" cy="302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+91-79-26404031 to 34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CustomShape 11"/>
          <p:cNvSpPr/>
          <p:nvPr/>
        </p:nvSpPr>
        <p:spPr>
          <a:xfrm>
            <a:off x="7581240" y="2083320"/>
            <a:ext cx="3696120" cy="941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SPEC House”, Parth Complex,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Near Swastik Cross Roads, Navarangpura, Ahmedabad 380009, INDIA.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Line 12"/>
          <p:cNvSpPr/>
          <p:nvPr/>
        </p:nvSpPr>
        <p:spPr>
          <a:xfrm>
            <a:off x="7326720" y="1179720"/>
            <a:ext cx="3068280" cy="360"/>
          </a:xfrm>
          <a:prstGeom prst="line">
            <a:avLst/>
          </a:prstGeom>
          <a:ln w="12600">
            <a:solidFill>
              <a:srgbClr val="0B334C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76" name="Picture 16"/>
          <p:cNvPicPr/>
          <p:nvPr/>
        </p:nvPicPr>
        <p:blipFill>
          <a:blip r:embed="rId6"/>
          <a:stretch/>
        </p:blipFill>
        <p:spPr>
          <a:xfrm>
            <a:off x="7326720" y="1331640"/>
            <a:ext cx="224640" cy="224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7" name="Picture 17"/>
          <p:cNvPicPr/>
          <p:nvPr/>
        </p:nvPicPr>
        <p:blipFill>
          <a:blip r:embed="rId7"/>
          <a:stretch/>
        </p:blipFill>
        <p:spPr>
          <a:xfrm>
            <a:off x="7326720" y="1727280"/>
            <a:ext cx="224640" cy="224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8" name="Picture 18"/>
          <p:cNvPicPr/>
          <p:nvPr/>
        </p:nvPicPr>
        <p:blipFill>
          <a:blip r:embed="rId8"/>
          <a:stretch/>
        </p:blipFill>
        <p:spPr>
          <a:xfrm>
            <a:off x="7328520" y="2122920"/>
            <a:ext cx="224640" cy="224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9" name="CustomShape 13"/>
          <p:cNvSpPr/>
          <p:nvPr/>
        </p:nvSpPr>
        <p:spPr>
          <a:xfrm>
            <a:off x="7244280" y="2842200"/>
            <a:ext cx="3696120" cy="40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B334C"/>
                </a:solidFill>
                <a:effectLst/>
                <a:uFillTx/>
                <a:latin typeface="Roboto"/>
                <a:ea typeface="Roboto"/>
              </a:rPr>
              <a:t>USA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CustomShape 14"/>
          <p:cNvSpPr/>
          <p:nvPr/>
        </p:nvSpPr>
        <p:spPr>
          <a:xfrm>
            <a:off x="7581240" y="3337560"/>
            <a:ext cx="3696120" cy="302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0" u="sng" strike="noStrike">
                <a:solidFill>
                  <a:srgbClr val="0000FF"/>
                </a:solidFill>
                <a:effectLst/>
                <a:uFillTx/>
                <a:latin typeface="Roboto"/>
                <a:ea typeface="Roboto"/>
                <a:hlinkClick r:id="rId9"/>
              </a:rPr>
              <a:t>lead@spec-usa.net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CustomShape 15"/>
          <p:cNvSpPr/>
          <p:nvPr/>
        </p:nvSpPr>
        <p:spPr>
          <a:xfrm>
            <a:off x="7581240" y="3733200"/>
            <a:ext cx="3696120" cy="302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+ 1 908-450-9862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CustomShape 16"/>
          <p:cNvSpPr/>
          <p:nvPr/>
        </p:nvSpPr>
        <p:spPr>
          <a:xfrm>
            <a:off x="7581240" y="4128480"/>
            <a:ext cx="3696120" cy="51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SPEC Partner”, 350 Grove Street, Bridgewater, NJ 08807, United States.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Line 17"/>
          <p:cNvSpPr/>
          <p:nvPr/>
        </p:nvSpPr>
        <p:spPr>
          <a:xfrm>
            <a:off x="7326720" y="3224880"/>
            <a:ext cx="3068280" cy="360"/>
          </a:xfrm>
          <a:prstGeom prst="line">
            <a:avLst/>
          </a:prstGeom>
          <a:ln w="12600">
            <a:solidFill>
              <a:srgbClr val="0B334C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84" name="Picture 25"/>
          <p:cNvPicPr/>
          <p:nvPr/>
        </p:nvPicPr>
        <p:blipFill>
          <a:blip r:embed="rId6"/>
          <a:stretch/>
        </p:blipFill>
        <p:spPr>
          <a:xfrm>
            <a:off x="7326720" y="3377160"/>
            <a:ext cx="224640" cy="224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5" name="Picture 26"/>
          <p:cNvPicPr/>
          <p:nvPr/>
        </p:nvPicPr>
        <p:blipFill>
          <a:blip r:embed="rId7"/>
          <a:stretch/>
        </p:blipFill>
        <p:spPr>
          <a:xfrm>
            <a:off x="7326720" y="3772440"/>
            <a:ext cx="224640" cy="224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6" name="Picture 27"/>
          <p:cNvPicPr/>
          <p:nvPr/>
        </p:nvPicPr>
        <p:blipFill>
          <a:blip r:embed="rId8"/>
          <a:stretch/>
        </p:blipFill>
        <p:spPr>
          <a:xfrm>
            <a:off x="7328520" y="4168080"/>
            <a:ext cx="224640" cy="224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7" name="Picture 39" descr="Logo&#10;&#10;Description automatically generated"/>
          <p:cNvPicPr/>
          <p:nvPr/>
        </p:nvPicPr>
        <p:blipFill>
          <a:blip r:embed="rId10"/>
          <a:stretch/>
        </p:blipFill>
        <p:spPr>
          <a:xfrm>
            <a:off x="2600280" y="5526000"/>
            <a:ext cx="878040" cy="248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8" name="Picture 41" descr="A picture containing text, clipart&#10;&#10;Description automatically generated"/>
          <p:cNvPicPr/>
          <p:nvPr/>
        </p:nvPicPr>
        <p:blipFill>
          <a:blip r:embed="rId11"/>
          <a:stretch/>
        </p:blipFill>
        <p:spPr>
          <a:xfrm>
            <a:off x="3831120" y="5544000"/>
            <a:ext cx="1508040" cy="212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9" name="Picture 43" descr="A picture containing text, clipart&#10;&#10;Description automatically generated"/>
          <p:cNvPicPr/>
          <p:nvPr/>
        </p:nvPicPr>
        <p:blipFill>
          <a:blip r:embed="rId12"/>
          <a:stretch/>
        </p:blipFill>
        <p:spPr>
          <a:xfrm>
            <a:off x="5692320" y="5526000"/>
            <a:ext cx="762480" cy="248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0" name="Picture 45" descr="A picture containing text, clipart&#10;&#10;Description automatically generated"/>
          <p:cNvPicPr/>
          <p:nvPr/>
        </p:nvPicPr>
        <p:blipFill>
          <a:blip r:embed="rId13"/>
          <a:stretch/>
        </p:blipFill>
        <p:spPr>
          <a:xfrm>
            <a:off x="6807960" y="5526000"/>
            <a:ext cx="1279080" cy="248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1" name="Picture 47" descr="A picture containing text, transport, clipart, wheel&#10;&#10;Description automatically generated"/>
          <p:cNvPicPr/>
          <p:nvPr/>
        </p:nvPicPr>
        <p:blipFill>
          <a:blip r:embed="rId14"/>
          <a:stretch/>
        </p:blipFill>
        <p:spPr>
          <a:xfrm>
            <a:off x="8439840" y="5544000"/>
            <a:ext cx="1148040" cy="212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2" name="Picture 13" descr="Shape&#10;&#10;Description automatically generated"/>
          <p:cNvPicPr/>
          <p:nvPr/>
        </p:nvPicPr>
        <p:blipFill>
          <a:blip r:embed="rId15"/>
          <a:stretch/>
        </p:blipFill>
        <p:spPr>
          <a:xfrm>
            <a:off x="11627280" y="6429240"/>
            <a:ext cx="224640" cy="224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3" name="Picture 29" descr="A picture containing clipart&#10;&#10;Description automatically generated"/>
          <p:cNvPicPr/>
          <p:nvPr/>
        </p:nvPicPr>
        <p:blipFill>
          <a:blip r:embed="rId16"/>
          <a:stretch/>
        </p:blipFill>
        <p:spPr>
          <a:xfrm>
            <a:off x="11257560" y="6429240"/>
            <a:ext cx="224640" cy="224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4" name="Picture 31" descr="A picture containing text, clipart&#10;&#10;Description automatically generated"/>
          <p:cNvPicPr/>
          <p:nvPr/>
        </p:nvPicPr>
        <p:blipFill>
          <a:blip r:embed="rId17"/>
          <a:stretch/>
        </p:blipFill>
        <p:spPr>
          <a:xfrm>
            <a:off x="9777600" y="6429240"/>
            <a:ext cx="224640" cy="224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5" name="Picture 35" descr="A picture containing text, clipart&#10;&#10;Description automatically generated"/>
          <p:cNvPicPr/>
          <p:nvPr/>
        </p:nvPicPr>
        <p:blipFill>
          <a:blip r:embed="rId18"/>
          <a:stretch/>
        </p:blipFill>
        <p:spPr>
          <a:xfrm>
            <a:off x="10147320" y="6429240"/>
            <a:ext cx="224640" cy="224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6" name="Picture 37" descr="A picture containing clipart&#10;&#10;Description automatically generated"/>
          <p:cNvPicPr/>
          <p:nvPr/>
        </p:nvPicPr>
        <p:blipFill>
          <a:blip r:embed="rId19"/>
          <a:stretch/>
        </p:blipFill>
        <p:spPr>
          <a:xfrm>
            <a:off x="10517400" y="6429240"/>
            <a:ext cx="224640" cy="224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7" name="Picture 40" descr="A picture containing text, clipart&#10;&#10;Description automatically generated"/>
          <p:cNvPicPr/>
          <p:nvPr/>
        </p:nvPicPr>
        <p:blipFill>
          <a:blip r:embed="rId20"/>
          <a:stretch/>
        </p:blipFill>
        <p:spPr>
          <a:xfrm>
            <a:off x="6960240" y="5863680"/>
            <a:ext cx="973800" cy="148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8" name="Picture 44" descr="A picture containing text, clipart&#10;&#10;Description automatically generated"/>
          <p:cNvPicPr/>
          <p:nvPr/>
        </p:nvPicPr>
        <p:blipFill>
          <a:blip r:embed="rId21"/>
          <a:stretch/>
        </p:blipFill>
        <p:spPr>
          <a:xfrm>
            <a:off x="8526960" y="5851440"/>
            <a:ext cx="973800" cy="148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9" name="Picture 46" descr="A picture containing text, clipart&#10;&#10;Description automatically generated"/>
          <p:cNvPicPr/>
          <p:nvPr/>
        </p:nvPicPr>
        <p:blipFill>
          <a:blip r:embed="rId21"/>
          <a:stretch/>
        </p:blipFill>
        <p:spPr>
          <a:xfrm>
            <a:off x="5586480" y="5851440"/>
            <a:ext cx="973800" cy="148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0" name="Picture 49" descr="A picture containing text, clipart&#10;&#10;Description automatically generated"/>
          <p:cNvPicPr/>
          <p:nvPr/>
        </p:nvPicPr>
        <p:blipFill>
          <a:blip r:embed="rId20"/>
          <a:stretch/>
        </p:blipFill>
        <p:spPr>
          <a:xfrm>
            <a:off x="4098240" y="5863680"/>
            <a:ext cx="973800" cy="148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1" name="Picture 50" descr="A picture containing text, clipart&#10;&#10;Description automatically generated"/>
          <p:cNvPicPr/>
          <p:nvPr/>
        </p:nvPicPr>
        <p:blipFill>
          <a:blip r:embed="rId21"/>
          <a:stretch/>
        </p:blipFill>
        <p:spPr>
          <a:xfrm>
            <a:off x="2580480" y="5858280"/>
            <a:ext cx="973800" cy="148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2" name="Picture 52" descr="A picture containing text, clipart&#10;&#10;Description automatically generated"/>
          <p:cNvPicPr/>
          <p:nvPr/>
        </p:nvPicPr>
        <p:blipFill>
          <a:blip r:embed="rId22"/>
          <a:stretch/>
        </p:blipFill>
        <p:spPr>
          <a:xfrm>
            <a:off x="10887480" y="6428520"/>
            <a:ext cx="224640" cy="224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3" name="Line 18"/>
          <p:cNvSpPr/>
          <p:nvPr/>
        </p:nvSpPr>
        <p:spPr>
          <a:xfrm>
            <a:off x="2580120" y="2716200"/>
            <a:ext cx="360" cy="519840"/>
          </a:xfrm>
          <a:prstGeom prst="line">
            <a:avLst/>
          </a:prstGeom>
          <a:ln w="38160">
            <a:solidFill>
              <a:srgbClr val="E8E8EB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5656</TotalTime>
  <Application>Microsoft Office PowerPoint</Application>
  <PresentationFormat>Widescreen</PresentationFormat>
  <Slides>8</Slides>
  <Notes>0</Notes>
  <HiddenSlides>0</HiddenSlide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Office Theme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 Your IT Partner  We Have The Right SPEC</dc:title>
  <dc:subject/>
  <dc:creator>Amar Chuhan</dc:creator>
  <dc:description/>
  <cp:lastModifiedBy/>
  <cp:revision>554</cp:revision>
  <dcterms:created xsi:type="dcterms:W3CDTF">2023-01-02T08:33:04Z</dcterms:created>
  <dcterms:modified xsi:type="dcterms:W3CDTF">2025-09-24T09:18:38Z</dcterms:modified>
  <dc:language>en-IN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0</vt:i4>
  </property>
  <property fmtid="{D5CDD505-2E9C-101B-9397-08002B2CF9AE}" pid="3" name="HyperlinksChanged">
    <vt:bool>false</vt:bool>
  </property>
  <property fmtid="{D5CDD505-2E9C-101B-9397-08002B2CF9AE}" pid="4" name="LinksUpToDate">
    <vt:bool>false</vt:bool>
  </property>
  <property fmtid="{D5CDD505-2E9C-101B-9397-08002B2CF9AE}" pid="5" name="MMClips">
    <vt:i4>0</vt:i4>
  </property>
  <property fmtid="{D5CDD505-2E9C-101B-9397-08002B2CF9AE}" pid="6" name="Notes">
    <vt:i4>0</vt:i4>
  </property>
  <property fmtid="{D5CDD505-2E9C-101B-9397-08002B2CF9AE}" pid="7" name="PresentationFormat">
    <vt:lpwstr>Widescreen</vt:lpwstr>
  </property>
  <property fmtid="{D5CDD505-2E9C-101B-9397-08002B2CF9AE}" pid="8" name="ScaleCrop">
    <vt:bool>false</vt:bool>
  </property>
  <property fmtid="{D5CDD505-2E9C-101B-9397-08002B2CF9AE}" pid="9" name="ShareDoc">
    <vt:bool>false</vt:bool>
  </property>
  <property fmtid="{D5CDD505-2E9C-101B-9397-08002B2CF9AE}" pid="10" name="Slides">
    <vt:i4>8</vt:i4>
  </property>
</Properties>
</file>