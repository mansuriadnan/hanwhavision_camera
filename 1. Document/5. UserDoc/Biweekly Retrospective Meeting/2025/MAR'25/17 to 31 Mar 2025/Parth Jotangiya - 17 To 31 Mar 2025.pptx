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85" r:id="rId3"/>
    <p:sldId id="286" r:id="rId4"/>
    <p:sldId id="293" r:id="rId5"/>
    <p:sldId id="289" r:id="rId6"/>
    <p:sldId id="291" r:id="rId7"/>
    <p:sldId id="290" r:id="rId8"/>
    <p:sldId id="292" r:id="rId9"/>
    <p:sldId id="283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274BD"/>
    <a:srgbClr val="1985BF"/>
    <a:srgbClr val="5B447C"/>
    <a:srgbClr val="65BB35"/>
    <a:srgbClr val="0B334C"/>
    <a:srgbClr val="E8E8EB"/>
    <a:srgbClr val="046067"/>
    <a:srgbClr val="FF693A"/>
    <a:srgbClr val="FFC200"/>
    <a:srgbClr val="FFDB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567"/>
    <p:restoredTop sz="94082"/>
  </p:normalViewPr>
  <p:slideViewPr>
    <p:cSldViewPr snapToGrid="0" snapToObjects="1">
      <p:cViewPr varScale="1">
        <p:scale>
          <a:sx n="104" d="100"/>
          <a:sy n="104" d="100"/>
        </p:scale>
        <p:origin x="1068" y="10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1EB5163-9B59-9641-9D3D-D468DD839B4D}" type="datetimeFigureOut">
              <a:rPr lang="en-US" smtClean="0"/>
              <a:pPr/>
              <a:t>4/7/2025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E8C5864-3DE2-4443-B533-31B844D2AD2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25120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AE9C69-D8C5-83BE-996E-0F71D0B3B7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657EB7E-4F62-E400-3276-022880D142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47B7C6-60EE-D05A-B622-0C87AA9A2B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4AA76-8368-D345-9022-280C5DF7C5D9}" type="datetimeFigureOut">
              <a:rPr lang="en-US" smtClean="0"/>
              <a:pPr/>
              <a:t>4/7/2025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9350C1-CA07-ED99-6B9D-F2583D96E1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7D14AD-1879-4B8A-285C-D92FBECBD7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D7C89-1808-F145-B924-9A26D313418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02016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60A810-C6BD-6E03-E776-1AEB14DA63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7F5285-D8BB-0AD7-E6D4-3417E57244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F22C23-DF52-2E0D-2F6D-128760CFE2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4AA76-8368-D345-9022-280C5DF7C5D9}" type="datetimeFigureOut">
              <a:rPr lang="en-US" smtClean="0"/>
              <a:pPr/>
              <a:t>4/7/2025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654A7C-0596-342C-50D5-0AA03D421D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6D82FC-E59E-6836-0353-1274C4D62F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D7C89-1808-F145-B924-9A26D313418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27090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7B7813-CE63-BD06-CD89-369B06B954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D95D92-8A65-B96F-8897-76C1463611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980D78-E80F-2569-7F79-640D41A4FB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4AA76-8368-D345-9022-280C5DF7C5D9}" type="datetimeFigureOut">
              <a:rPr lang="en-US" smtClean="0"/>
              <a:pPr/>
              <a:t>4/7/2025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D5ECD7-168D-E56E-A9C1-4013E87906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EC4538-FD40-A206-D3AE-8AFAE5F01B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D7C89-1808-F145-B924-9A26D313418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06696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C08E56-9089-C060-2225-A0C1FF34A2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C84606-C66D-24BC-C5E1-9DA0F31DA99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2EC331-BCE0-27F5-D5B4-198A2C5DFF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1F3133-A585-0EB5-C744-638CAE5A06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4AA76-8368-D345-9022-280C5DF7C5D9}" type="datetimeFigureOut">
              <a:rPr lang="en-US" smtClean="0"/>
              <a:pPr/>
              <a:t>4/7/2025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9A9A45-DE81-7E02-B6EF-917AB21E3B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C57C91-51F2-CFA3-27D8-5FBC63B82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D7C89-1808-F145-B924-9A26D313418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8294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F1B354-3A15-1A11-95CA-D44A311A4B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2C071A-F7ED-CA45-660E-09D50F526D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B9B468-7DEA-9362-3845-1C083F7DEA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5FEFEB9-38C2-2023-52FA-6496A9A06BF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07C1677-7E10-C518-AC2B-BA9C4918ADF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C9253A-EA50-D6FB-DBBC-5FE99D151A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4AA76-8368-D345-9022-280C5DF7C5D9}" type="datetimeFigureOut">
              <a:rPr lang="en-US" smtClean="0"/>
              <a:pPr/>
              <a:t>4/7/2025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795777-10F0-AAF0-A2C7-28347D2113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F115E26-C841-F322-C597-94165B8A26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D7C89-1808-F145-B924-9A26D313418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81133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B55069-703A-EB6B-5AB9-50E4C61000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BD7F3DC-6622-C283-FA14-913CC2CA7E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4AA76-8368-D345-9022-280C5DF7C5D9}" type="datetimeFigureOut">
              <a:rPr lang="en-US" smtClean="0"/>
              <a:pPr/>
              <a:t>4/7/2025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735C5A-F312-E76E-1436-08FEA9B656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E3665B-204B-561F-8FDA-5E7097CD43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D7C89-1808-F145-B924-9A26D313418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38271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6217CD3-0047-26B9-B49F-681E6668B4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4AA76-8368-D345-9022-280C5DF7C5D9}" type="datetimeFigureOut">
              <a:rPr lang="en-US" smtClean="0"/>
              <a:pPr/>
              <a:t>4/7/2025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5C854B9-BA4D-2CD5-A2CF-05297DC17F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DFD7DA-BCFB-CE0C-4AF9-C7A8916637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D7C89-1808-F145-B924-9A26D313418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29449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147D5C-21BE-069E-B053-1CEEDBDE09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B73436-AF0B-6C4D-B4D6-F98686B73A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C82FC38-6077-5FDE-B6D0-B1B76648F5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6FF875-AAA8-784E-F849-4B51B4DFDE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4AA76-8368-D345-9022-280C5DF7C5D9}" type="datetimeFigureOut">
              <a:rPr lang="en-US" smtClean="0"/>
              <a:pPr/>
              <a:t>4/7/2025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65DAEB-7D9B-6D95-9811-E99F4F5900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6A9D13-BFEA-F1BF-5229-56D16A4810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D7C89-1808-F145-B924-9A26D313418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62724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04A5D0-8A60-E2D9-F543-30CCBF25C4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68EAD8E-4E26-43B8-1339-28D714C6507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C87F326-8D75-8A68-3C80-1062E670C9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A83766-F28E-E255-9CEE-4B38DB9C2C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4AA76-8368-D345-9022-280C5DF7C5D9}" type="datetimeFigureOut">
              <a:rPr lang="en-US" smtClean="0"/>
              <a:pPr/>
              <a:t>4/7/2025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BE9498-464D-BDF2-052C-C3BD0AD689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5755DE-6123-9D0B-D3C5-2548FB70B3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D7C89-1808-F145-B924-9A26D313418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03226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53DB61-0A1A-B883-3602-66E0A548DA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11BA32D-C10E-EC3E-E59C-90C791F075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EFED56-B775-B180-782E-2BC8C15C38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4AA76-8368-D345-9022-280C5DF7C5D9}" type="datetimeFigureOut">
              <a:rPr lang="en-US" smtClean="0"/>
              <a:pPr/>
              <a:t>4/7/2025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ED4D68-8A7E-6D77-1564-F9BD115B65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D7EA48-0894-7E3A-2162-112F48D06E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D7C89-1808-F145-B924-9A26D313418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57960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97FBDE1-DBB0-4DC1-0A54-FAE219970E5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45232DF-0F79-CA41-4AEF-67220B0A03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CF8595-9BA5-1CC4-D413-A4B134252C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4AA76-8368-D345-9022-280C5DF7C5D9}" type="datetimeFigureOut">
              <a:rPr lang="en-US" smtClean="0"/>
              <a:pPr/>
              <a:t>4/7/2025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8D4E8E-779F-1902-9307-5AEF48F7E3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18CF02-45A2-E538-914E-662B50B6A8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D7C89-1808-F145-B924-9A26D313418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1682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C1C433B-F914-2DA3-C1C8-B000F00287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D4BC9D-7936-CBE0-6E57-ACD9131580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28E311-AA6E-8453-96E2-005FE056225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84AA76-8368-D345-9022-280C5DF7C5D9}" type="datetimeFigureOut">
              <a:rPr lang="en-US" smtClean="0"/>
              <a:pPr/>
              <a:t>4/7/2025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EC7DF7-C7AD-7C7B-9225-719BCEEECA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2112EC-08FA-C32C-A083-21D330C77E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0D7C89-1808-F145-B924-9A26D313418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63627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7" Type="http://schemas.openxmlformats.org/officeDocument/2006/relationships/image" Target="../media/image5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Relationship Id="rId6" Type="http://schemas.openxmlformats.org/officeDocument/2006/relationships/hyperlink" Target="http://www.spec-india.com/" TargetMode="External"/><Relationship Id="rId5" Type="http://schemas.openxmlformats.org/officeDocument/2006/relationships/image" Target="../media/image4.emf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pec-india.com/" TargetMode="External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pec-india.com/" TargetMode="External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pec-india.com/" TargetMode="External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pec-india.com/" TargetMode="External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pec-india.com/" TargetMode="External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pec-india.com/" TargetMode="External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pec-india.com/" TargetMode="External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0.png"/><Relationship Id="rId18" Type="http://schemas.openxmlformats.org/officeDocument/2006/relationships/hyperlink" Target="https://www.glassdoor.co.in/Reviews/SPEC-INDIA-Reviews-E688018.htm" TargetMode="External"/><Relationship Id="rId26" Type="http://schemas.openxmlformats.org/officeDocument/2006/relationships/hyperlink" Target="https://www.linkedin.com/company/spec-india/mycompany/" TargetMode="External"/><Relationship Id="rId3" Type="http://schemas.openxmlformats.org/officeDocument/2006/relationships/image" Target="../media/image2.emf"/><Relationship Id="rId21" Type="http://schemas.openxmlformats.org/officeDocument/2006/relationships/image" Target="../media/image14.png"/><Relationship Id="rId7" Type="http://schemas.openxmlformats.org/officeDocument/2006/relationships/image" Target="../media/image7.emf"/><Relationship Id="rId12" Type="http://schemas.openxmlformats.org/officeDocument/2006/relationships/hyperlink" Target="https://www.goodfirms.co/company/spec-india" TargetMode="External"/><Relationship Id="rId17" Type="http://schemas.openxmlformats.org/officeDocument/2006/relationships/image" Target="../media/image12.png"/><Relationship Id="rId25" Type="http://schemas.openxmlformats.org/officeDocument/2006/relationships/image" Target="../media/image16.png"/><Relationship Id="rId33" Type="http://schemas.openxmlformats.org/officeDocument/2006/relationships/image" Target="../media/image21.png"/><Relationship Id="rId2" Type="http://schemas.openxmlformats.org/officeDocument/2006/relationships/image" Target="../media/image1.emf"/><Relationship Id="rId16" Type="http://schemas.openxmlformats.org/officeDocument/2006/relationships/hyperlink" Target="https://www.ambitionbox.com/reviews/spec-india-reviews" TargetMode="External"/><Relationship Id="rId20" Type="http://schemas.openxmlformats.org/officeDocument/2006/relationships/hyperlink" Target="https://www.behance.net/specindia" TargetMode="External"/><Relationship Id="rId29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emf"/><Relationship Id="rId11" Type="http://schemas.openxmlformats.org/officeDocument/2006/relationships/image" Target="../media/image9.png"/><Relationship Id="rId24" Type="http://schemas.openxmlformats.org/officeDocument/2006/relationships/hyperlink" Target="https://www.facebook.com/SPECINDIA.IT" TargetMode="External"/><Relationship Id="rId32" Type="http://schemas.openxmlformats.org/officeDocument/2006/relationships/hyperlink" Target="https://www.instagram.com/spec_india" TargetMode="External"/><Relationship Id="rId5" Type="http://schemas.openxmlformats.org/officeDocument/2006/relationships/hyperlink" Target="mailto:lead@spec-india.com" TargetMode="External"/><Relationship Id="rId15" Type="http://schemas.openxmlformats.org/officeDocument/2006/relationships/image" Target="../media/image11.png"/><Relationship Id="rId23" Type="http://schemas.openxmlformats.org/officeDocument/2006/relationships/image" Target="../media/image15.png"/><Relationship Id="rId28" Type="http://schemas.openxmlformats.org/officeDocument/2006/relationships/hyperlink" Target="https://twitter.com/infospec_india" TargetMode="External"/><Relationship Id="rId10" Type="http://schemas.openxmlformats.org/officeDocument/2006/relationships/hyperlink" Target="https://clutch.co/profile/spec-india" TargetMode="External"/><Relationship Id="rId19" Type="http://schemas.openxmlformats.org/officeDocument/2006/relationships/image" Target="../media/image13.png"/><Relationship Id="rId31" Type="http://schemas.openxmlformats.org/officeDocument/2006/relationships/image" Target="../media/image20.png"/><Relationship Id="rId4" Type="http://schemas.openxmlformats.org/officeDocument/2006/relationships/hyperlink" Target="http://www.spec-india.com/" TargetMode="External"/><Relationship Id="rId9" Type="http://schemas.openxmlformats.org/officeDocument/2006/relationships/hyperlink" Target="mailto:lead@spec-usa.net" TargetMode="External"/><Relationship Id="rId14" Type="http://schemas.openxmlformats.org/officeDocument/2006/relationships/hyperlink" Target="https://g.page/r/CRApINeFYBWKEAE" TargetMode="External"/><Relationship Id="rId22" Type="http://schemas.openxmlformats.org/officeDocument/2006/relationships/hyperlink" Target="https://dribbble.com/specindia" TargetMode="External"/><Relationship Id="rId27" Type="http://schemas.openxmlformats.org/officeDocument/2006/relationships/image" Target="../media/image17.png"/><Relationship Id="rId30" Type="http://schemas.openxmlformats.org/officeDocument/2006/relationships/image" Target="../media/image19.png"/><Relationship Id="rId8" Type="http://schemas.openxmlformats.org/officeDocument/2006/relationships/image" Target="../media/image8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5BB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>
            <a:extLst>
              <a:ext uri="{FF2B5EF4-FFF2-40B4-BE49-F238E27FC236}">
                <a16:creationId xmlns:a16="http://schemas.microsoft.com/office/drawing/2014/main" id="{DE973377-9F71-D594-1085-A35F120D3E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8472" y="0"/>
            <a:ext cx="6680200" cy="6223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5C3D6B1-1AC2-47BD-81D9-8E96673EC4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079999"/>
            <a:ext cx="12192000" cy="177800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9EDB37C-2498-A06C-031D-2AF85763189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2" y="2032001"/>
            <a:ext cx="12191997" cy="4825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83BC040-4A96-63A7-6A7C-8B539D171E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4631" y="1778001"/>
            <a:ext cx="4807733" cy="965198"/>
          </a:xfrm>
        </p:spPr>
        <p:txBody>
          <a:bodyPr>
            <a:noAutofit/>
          </a:bodyPr>
          <a:lstStyle/>
          <a:p>
            <a:pPr algn="l"/>
            <a:r>
              <a:rPr lang="en-US" sz="3000" b="1" spc="10" dirty="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Hanwha Vision </a:t>
            </a:r>
            <a:br>
              <a:rPr lang="en-US" sz="3000" b="1" spc="10" dirty="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</a:br>
            <a:r>
              <a:rPr lang="en-US" sz="3000" b="1" spc="10" dirty="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17th Mar’25 – 31st Mar’25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078DCE7-143A-12CF-4858-23FC1C088A0F}"/>
              </a:ext>
            </a:extLst>
          </p:cNvPr>
          <p:cNvCxnSpPr>
            <a:cxnSpLocks/>
          </p:cNvCxnSpPr>
          <p:nvPr/>
        </p:nvCxnSpPr>
        <p:spPr>
          <a:xfrm>
            <a:off x="364632" y="2859801"/>
            <a:ext cx="4953000" cy="0"/>
          </a:xfrm>
          <a:prstGeom prst="line">
            <a:avLst/>
          </a:prstGeom>
          <a:ln w="25400">
            <a:solidFill>
              <a:srgbClr val="65BB35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pic>
        <p:nvPicPr>
          <p:cNvPr id="25" name="Picture 24">
            <a:extLst>
              <a:ext uri="{FF2B5EF4-FFF2-40B4-BE49-F238E27FC236}">
                <a16:creationId xmlns:a16="http://schemas.microsoft.com/office/drawing/2014/main" id="{B2612C87-BBC5-8333-179C-B31DB9E88EB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62624" y="377146"/>
            <a:ext cx="2171700" cy="1016000"/>
          </a:xfrm>
          <a:prstGeom prst="rect">
            <a:avLst/>
          </a:prstGeom>
        </p:spPr>
      </p:pic>
      <p:pic>
        <p:nvPicPr>
          <p:cNvPr id="5" name="Picture 4">
            <a:hlinkClick r:id="rId6"/>
            <a:extLst>
              <a:ext uri="{FF2B5EF4-FFF2-40B4-BE49-F238E27FC236}">
                <a16:creationId xmlns:a16="http://schemas.microsoft.com/office/drawing/2014/main" id="{521EC069-46D0-C6A4-3353-4C770189F64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4933" y="611135"/>
            <a:ext cx="1778000" cy="533400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25C6D42C-3850-8AD4-31EC-2D05C0DBEEE1}"/>
              </a:ext>
            </a:extLst>
          </p:cNvPr>
          <p:cNvSpPr txBox="1">
            <a:spLocks/>
          </p:cNvSpPr>
          <p:nvPr/>
        </p:nvSpPr>
        <p:spPr>
          <a:xfrm>
            <a:off x="3321628" y="2920993"/>
            <a:ext cx="2055384" cy="38101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000" b="1" spc="10" dirty="0">
                <a:solidFill>
                  <a:srgbClr val="7030A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Parth Jotangiya</a:t>
            </a:r>
          </a:p>
        </p:txBody>
      </p:sp>
    </p:spTree>
    <p:extLst>
      <p:ext uri="{BB962C8B-B14F-4D97-AF65-F5344CB8AC3E}">
        <p14:creationId xmlns:p14="http://schemas.microsoft.com/office/powerpoint/2010/main" val="39573627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6171A9A6-C5F6-6854-F83E-D5ADB051E323}"/>
              </a:ext>
            </a:extLst>
          </p:cNvPr>
          <p:cNvSpPr/>
          <p:nvPr/>
        </p:nvSpPr>
        <p:spPr>
          <a:xfrm>
            <a:off x="335998" y="381007"/>
            <a:ext cx="11520001" cy="634993"/>
          </a:xfrm>
          <a:prstGeom prst="rect">
            <a:avLst/>
          </a:prstGeom>
          <a:solidFill>
            <a:srgbClr val="65BB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65BB35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31B98C4-7DA5-088A-7240-E32DC7BE00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2" y="532302"/>
            <a:ext cx="7478530" cy="332399"/>
          </a:xfrm>
        </p:spPr>
        <p:txBody>
          <a:bodyPr wrap="square" tIns="0" bIns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Meeting Participants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F137F86-18FF-9D35-9316-B95517DA2269}"/>
              </a:ext>
            </a:extLst>
          </p:cNvPr>
          <p:cNvCxnSpPr>
            <a:cxnSpLocks/>
          </p:cNvCxnSpPr>
          <p:nvPr/>
        </p:nvCxnSpPr>
        <p:spPr>
          <a:xfrm>
            <a:off x="336000" y="6222990"/>
            <a:ext cx="11520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84BE6486-A2B0-FA76-5903-3F0D963C89F7}"/>
              </a:ext>
            </a:extLst>
          </p:cNvPr>
          <p:cNvSpPr txBox="1"/>
          <p:nvPr/>
        </p:nvSpPr>
        <p:spPr>
          <a:xfrm>
            <a:off x="336000" y="6380366"/>
            <a:ext cx="3892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spc="10" dirty="0">
                <a:solidFill>
                  <a:schemeClr val="bg1">
                    <a:lumMod val="6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04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842F2DE-7982-2A91-9130-67C7B6CAD9F9}"/>
              </a:ext>
            </a:extLst>
          </p:cNvPr>
          <p:cNvSpPr/>
          <p:nvPr/>
        </p:nvSpPr>
        <p:spPr>
          <a:xfrm>
            <a:off x="335998" y="381006"/>
            <a:ext cx="112735" cy="634993"/>
          </a:xfrm>
          <a:prstGeom prst="rect">
            <a:avLst/>
          </a:prstGeom>
          <a:solidFill>
            <a:srgbClr val="0A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F2126C2E-A72F-976C-C48A-74FA3E3226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49322" y="6380366"/>
            <a:ext cx="1006678" cy="302003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D6A86434-8588-6782-FC02-AB536FD51C12}"/>
              </a:ext>
            </a:extLst>
          </p:cNvPr>
          <p:cNvSpPr txBox="1">
            <a:spLocks/>
          </p:cNvSpPr>
          <p:nvPr/>
        </p:nvSpPr>
        <p:spPr>
          <a:xfrm>
            <a:off x="4836000" y="6443546"/>
            <a:ext cx="2520000" cy="193899"/>
          </a:xfrm>
          <a:prstGeom prst="rect">
            <a:avLst/>
          </a:prstGeom>
        </p:spPr>
        <p:txBody>
          <a:bodyPr vert="horz" lIns="91440" tIns="0" rIns="91440" bIns="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spc="1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www.spec-india.com</a:t>
            </a:r>
            <a:endParaRPr lang="en-US" sz="1400" spc="1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94302D4-3892-BD36-415F-F7E42B05EB99}"/>
              </a:ext>
            </a:extLst>
          </p:cNvPr>
          <p:cNvSpPr txBox="1"/>
          <p:nvPr/>
        </p:nvSpPr>
        <p:spPr>
          <a:xfrm>
            <a:off x="448733" y="1270631"/>
            <a:ext cx="8214199" cy="25807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en-US" b="1" dirty="0">
                <a:ea typeface="Roboto Medium" panose="02000000000000000000" pitchFamily="2" charset="0"/>
                <a:cs typeface="Roboto Medium" panose="02000000000000000000" pitchFamily="2" charset="0"/>
              </a:rPr>
              <a:t>Parth Jotangiya</a:t>
            </a:r>
          </a:p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en-US" b="1" dirty="0">
                <a:ea typeface="Roboto Medium" panose="02000000000000000000" pitchFamily="2" charset="0"/>
                <a:cs typeface="Roboto Medium" panose="02000000000000000000" pitchFamily="2" charset="0"/>
              </a:rPr>
              <a:t>Jayendra </a:t>
            </a:r>
            <a:r>
              <a:rPr lang="en-US" b="1" dirty="0" err="1">
                <a:ea typeface="Roboto Medium" panose="02000000000000000000" pitchFamily="2" charset="0"/>
                <a:cs typeface="Roboto Medium" panose="02000000000000000000" pitchFamily="2" charset="0"/>
              </a:rPr>
              <a:t>Makvana</a:t>
            </a:r>
            <a:r>
              <a:rPr lang="en-US" b="1" dirty="0">
                <a:ea typeface="Roboto Medium" panose="02000000000000000000" pitchFamily="2" charset="0"/>
                <a:cs typeface="Roboto Medium" panose="02000000000000000000" pitchFamily="2" charset="0"/>
              </a:rPr>
              <a:t> </a:t>
            </a:r>
          </a:p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en-US" b="1" dirty="0">
                <a:ea typeface="Roboto Medium" panose="02000000000000000000" pitchFamily="2" charset="0"/>
                <a:cs typeface="Roboto Medium" panose="02000000000000000000" pitchFamily="2" charset="0"/>
              </a:rPr>
              <a:t>Adnan Mansuri</a:t>
            </a:r>
          </a:p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en-US" b="1" dirty="0">
                <a:ea typeface="Roboto Medium" panose="02000000000000000000" pitchFamily="2" charset="0"/>
                <a:cs typeface="Roboto Medium" panose="02000000000000000000" pitchFamily="2" charset="0"/>
              </a:rPr>
              <a:t>Dhwanil Solanky</a:t>
            </a:r>
          </a:p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en-US" b="1" dirty="0">
                <a:ea typeface="Roboto Medium" panose="02000000000000000000" pitchFamily="2" charset="0"/>
                <a:cs typeface="Roboto Medium" panose="02000000000000000000" pitchFamily="2" charset="0"/>
              </a:rPr>
              <a:t>Hiten Parmar</a:t>
            </a:r>
          </a:p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en-US" b="1" dirty="0">
                <a:ea typeface="Roboto Medium" panose="02000000000000000000" pitchFamily="2" charset="0"/>
                <a:cs typeface="Roboto Medium" panose="02000000000000000000" pitchFamily="2" charset="0"/>
              </a:rPr>
              <a:t>Rashmi Patel</a:t>
            </a:r>
          </a:p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en-US" b="1" dirty="0">
                <a:ea typeface="Roboto Medium" panose="02000000000000000000" pitchFamily="2" charset="0"/>
                <a:cs typeface="Roboto Medium" panose="02000000000000000000" pitchFamily="2" charset="0"/>
              </a:rPr>
              <a:t>Hasti </a:t>
            </a:r>
            <a:r>
              <a:rPr lang="en-US" b="1" dirty="0" err="1">
                <a:ea typeface="Roboto Medium" panose="02000000000000000000" pitchFamily="2" charset="0"/>
                <a:cs typeface="Roboto Medium" panose="02000000000000000000" pitchFamily="2" charset="0"/>
              </a:rPr>
              <a:t>Kaneriya</a:t>
            </a:r>
            <a:endParaRPr lang="en-US" b="1" dirty="0">
              <a:ea typeface="Roboto Medium" panose="02000000000000000000" pitchFamily="2" charset="0"/>
              <a:cs typeface="Roboto Medium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58252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6171A9A6-C5F6-6854-F83E-D5ADB051E323}"/>
              </a:ext>
            </a:extLst>
          </p:cNvPr>
          <p:cNvSpPr/>
          <p:nvPr/>
        </p:nvSpPr>
        <p:spPr>
          <a:xfrm>
            <a:off x="335998" y="381007"/>
            <a:ext cx="11520001" cy="634993"/>
          </a:xfrm>
          <a:prstGeom prst="rect">
            <a:avLst/>
          </a:prstGeom>
          <a:solidFill>
            <a:srgbClr val="65BB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65BB35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31B98C4-7DA5-088A-7240-E32DC7BE00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2" y="532302"/>
            <a:ext cx="11155080" cy="332399"/>
          </a:xfrm>
        </p:spPr>
        <p:txBody>
          <a:bodyPr wrap="square" tIns="0" bIns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Parth Jotangiya - Highlights of the work done in two weeks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F137F86-18FF-9D35-9316-B95517DA2269}"/>
              </a:ext>
            </a:extLst>
          </p:cNvPr>
          <p:cNvCxnSpPr>
            <a:cxnSpLocks/>
          </p:cNvCxnSpPr>
          <p:nvPr/>
        </p:nvCxnSpPr>
        <p:spPr>
          <a:xfrm>
            <a:off x="336000" y="6222990"/>
            <a:ext cx="11520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84BE6486-A2B0-FA76-5903-3F0D963C89F7}"/>
              </a:ext>
            </a:extLst>
          </p:cNvPr>
          <p:cNvSpPr txBox="1"/>
          <p:nvPr/>
        </p:nvSpPr>
        <p:spPr>
          <a:xfrm>
            <a:off x="336000" y="6380366"/>
            <a:ext cx="3892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spc="10" dirty="0">
                <a:solidFill>
                  <a:schemeClr val="bg1">
                    <a:lumMod val="6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04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842F2DE-7982-2A91-9130-67C7B6CAD9F9}"/>
              </a:ext>
            </a:extLst>
          </p:cNvPr>
          <p:cNvSpPr/>
          <p:nvPr/>
        </p:nvSpPr>
        <p:spPr>
          <a:xfrm>
            <a:off x="335998" y="381006"/>
            <a:ext cx="112735" cy="634993"/>
          </a:xfrm>
          <a:prstGeom prst="rect">
            <a:avLst/>
          </a:prstGeom>
          <a:solidFill>
            <a:srgbClr val="0A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F2126C2E-A72F-976C-C48A-74FA3E3226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49322" y="6380366"/>
            <a:ext cx="1006678" cy="302003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D6A86434-8588-6782-FC02-AB536FD51C12}"/>
              </a:ext>
            </a:extLst>
          </p:cNvPr>
          <p:cNvSpPr txBox="1">
            <a:spLocks/>
          </p:cNvSpPr>
          <p:nvPr/>
        </p:nvSpPr>
        <p:spPr>
          <a:xfrm>
            <a:off x="4836000" y="6443546"/>
            <a:ext cx="2520000" cy="193899"/>
          </a:xfrm>
          <a:prstGeom prst="rect">
            <a:avLst/>
          </a:prstGeom>
        </p:spPr>
        <p:txBody>
          <a:bodyPr vert="horz" lIns="91440" tIns="0" rIns="91440" bIns="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spc="1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www.spec-india.com</a:t>
            </a:r>
            <a:endParaRPr lang="en-US" sz="1400" spc="1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94302D4-3892-BD36-415F-F7E42B05EB99}"/>
              </a:ext>
            </a:extLst>
          </p:cNvPr>
          <p:cNvSpPr txBox="1"/>
          <p:nvPr/>
        </p:nvSpPr>
        <p:spPr>
          <a:xfrm>
            <a:off x="448734" y="883139"/>
            <a:ext cx="11407266" cy="49064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sz="1400" b="1" dirty="0">
                <a:ea typeface="Roboto" panose="020F0502020204030204" pitchFamily="2" charset="0"/>
                <a:cs typeface="Arial" panose="020B0604020202020204" pitchFamily="34" charset="0"/>
              </a:rPr>
              <a:t>General Tasks: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400" dirty="0">
                <a:ea typeface="Roboto" panose="020F0502020204030204" pitchFamily="2" charset="0"/>
                <a:cs typeface="Arial" panose="020B0604020202020204" pitchFamily="34" charset="0"/>
              </a:rPr>
              <a:t>Reviewing requirements along with Jayendra &amp; planning tasks for the specific sprint.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400" dirty="0">
                <a:ea typeface="Roboto" panose="020F0502020204030204" pitchFamily="2" charset="0"/>
                <a:cs typeface="Arial" panose="020B0604020202020204" pitchFamily="34" charset="0"/>
              </a:rPr>
              <a:t>Managing daily stand-up meeting with the team.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400" dirty="0">
                <a:ea typeface="Roboto" panose="020F0502020204030204" pitchFamily="2" charset="0"/>
                <a:cs typeface="Arial" panose="020B0604020202020204" pitchFamily="34" charset="0"/>
              </a:rPr>
              <a:t>Reviewing status of the assigned task regularly.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400" dirty="0">
                <a:ea typeface="Roboto" panose="020F0502020204030204" pitchFamily="2" charset="0"/>
                <a:cs typeface="Arial" panose="020B0604020202020204" pitchFamily="34" charset="0"/>
              </a:rPr>
              <a:t>Managing meetings for the discussion regarding any doubts/clarifications.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400" dirty="0">
                <a:ea typeface="Roboto" panose="020F0502020204030204" pitchFamily="2" charset="0"/>
                <a:cs typeface="Arial" panose="020B0604020202020204" pitchFamily="34" charset="0"/>
              </a:rPr>
              <a:t>Sprint planning etc..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sz="1400" b="1" dirty="0">
                <a:ea typeface="Roboto" panose="020F0502020204030204" pitchFamily="2" charset="0"/>
                <a:cs typeface="Arial" panose="020B0604020202020204" pitchFamily="34" charset="0"/>
              </a:rPr>
              <a:t>Admin Application: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400" dirty="0">
                <a:ea typeface="Roboto" panose="020F0502020204030204" pitchFamily="2" charset="0"/>
                <a:cs typeface="Arial" panose="020B0604020202020204" pitchFamily="34" charset="0"/>
              </a:rPr>
              <a:t>We’ve successfully prepared SRS for License Web Application &amp; shared it with Bala over the email. Now we are waiting for the response from Bala on the approval.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sz="1400" b="1" dirty="0">
                <a:ea typeface="Roboto" panose="02000000000000000000" pitchFamily="2" charset="0"/>
                <a:cs typeface="Arial" panose="020B0604020202020204" pitchFamily="34" charset="0"/>
              </a:rPr>
              <a:t>Client Application: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400" dirty="0">
                <a:ea typeface="Roboto" panose="02000000000000000000" pitchFamily="2" charset="0"/>
                <a:cs typeface="Arial" panose="020B0604020202020204" pitchFamily="34" charset="0"/>
              </a:rPr>
              <a:t>We’ve successfully finalized the prepared Figma design for Manage Users, Roles &amp; Permissions, Multisite Setup, Manage Devices, Floor Plans &amp; Zones pages with Bala.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400" dirty="0">
                <a:ea typeface="Roboto" panose="02000000000000000000" pitchFamily="2" charset="0"/>
                <a:cs typeface="Arial" panose="020B0604020202020204" pitchFamily="34" charset="0"/>
              </a:rPr>
              <a:t>Team is currently working on the R&amp;D for the Map Integration &amp; other integration which are there in the scope. Parallelly, team is actively working on the finalized functionalities.</a:t>
            </a:r>
          </a:p>
        </p:txBody>
      </p:sp>
    </p:spTree>
    <p:extLst>
      <p:ext uri="{BB962C8B-B14F-4D97-AF65-F5344CB8AC3E}">
        <p14:creationId xmlns:p14="http://schemas.microsoft.com/office/powerpoint/2010/main" val="16955032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0631A03-2B39-2949-66CD-8013AD9F29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45F329F2-CD15-D610-857D-D8E74A2BF7E2}"/>
              </a:ext>
            </a:extLst>
          </p:cNvPr>
          <p:cNvSpPr/>
          <p:nvPr/>
        </p:nvSpPr>
        <p:spPr>
          <a:xfrm>
            <a:off x="335998" y="381007"/>
            <a:ext cx="11520001" cy="634993"/>
          </a:xfrm>
          <a:prstGeom prst="rect">
            <a:avLst/>
          </a:prstGeom>
          <a:solidFill>
            <a:srgbClr val="65BB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65BB35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5A4CFAA-FDB5-0B4F-2171-E4D66E6B33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2" y="532302"/>
            <a:ext cx="11155080" cy="332399"/>
          </a:xfrm>
        </p:spPr>
        <p:txBody>
          <a:bodyPr wrap="square" tIns="0" bIns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Parth Jotangiya - Highlights of the work done in two weeks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FCEEDEE-FA29-448A-546D-DFE0B2166F8A}"/>
              </a:ext>
            </a:extLst>
          </p:cNvPr>
          <p:cNvCxnSpPr>
            <a:cxnSpLocks/>
          </p:cNvCxnSpPr>
          <p:nvPr/>
        </p:nvCxnSpPr>
        <p:spPr>
          <a:xfrm>
            <a:off x="336000" y="6222990"/>
            <a:ext cx="11520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62E51111-0872-50FE-6FFA-804D45F73E06}"/>
              </a:ext>
            </a:extLst>
          </p:cNvPr>
          <p:cNvSpPr txBox="1"/>
          <p:nvPr/>
        </p:nvSpPr>
        <p:spPr>
          <a:xfrm>
            <a:off x="336000" y="6380366"/>
            <a:ext cx="3892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spc="10" dirty="0">
                <a:solidFill>
                  <a:schemeClr val="bg1">
                    <a:lumMod val="6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04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79EB6CB-6BC3-8AC4-983A-AE355BF39DF6}"/>
              </a:ext>
            </a:extLst>
          </p:cNvPr>
          <p:cNvSpPr/>
          <p:nvPr/>
        </p:nvSpPr>
        <p:spPr>
          <a:xfrm>
            <a:off x="335998" y="381006"/>
            <a:ext cx="112735" cy="634993"/>
          </a:xfrm>
          <a:prstGeom prst="rect">
            <a:avLst/>
          </a:prstGeom>
          <a:solidFill>
            <a:srgbClr val="0A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5A7D1A96-993B-AC89-D3F2-5EB5BC9692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49322" y="6380366"/>
            <a:ext cx="1006678" cy="302003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9229EEAC-D184-97AA-B023-82C6FB2B62D9}"/>
              </a:ext>
            </a:extLst>
          </p:cNvPr>
          <p:cNvSpPr txBox="1">
            <a:spLocks/>
          </p:cNvSpPr>
          <p:nvPr/>
        </p:nvSpPr>
        <p:spPr>
          <a:xfrm>
            <a:off x="4836000" y="6443546"/>
            <a:ext cx="2520000" cy="193899"/>
          </a:xfrm>
          <a:prstGeom prst="rect">
            <a:avLst/>
          </a:prstGeom>
        </p:spPr>
        <p:txBody>
          <a:bodyPr vert="horz" lIns="91440" tIns="0" rIns="91440" bIns="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spc="1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www.spec-india.com</a:t>
            </a:r>
            <a:endParaRPr lang="en-US" sz="1400" spc="1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509F4D4-6B56-D5FC-64CF-AD77B3239667}"/>
              </a:ext>
            </a:extLst>
          </p:cNvPr>
          <p:cNvSpPr txBox="1"/>
          <p:nvPr/>
        </p:nvSpPr>
        <p:spPr>
          <a:xfrm>
            <a:off x="448734" y="1194510"/>
            <a:ext cx="11407266" cy="81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sz="1400" b="1" dirty="0">
                <a:ea typeface="Roboto" panose="020F0502020204030204" pitchFamily="2" charset="0"/>
                <a:cs typeface="Arial" panose="020B0604020202020204" pitchFamily="34" charset="0"/>
              </a:rPr>
              <a:t>SRS Preparation: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400" dirty="0">
                <a:ea typeface="Roboto" panose="020F0502020204030204" pitchFamily="2" charset="0"/>
                <a:cs typeface="Arial" panose="020B0604020202020204" pitchFamily="34" charset="0"/>
              </a:rPr>
              <a:t>I have completed SRS for License Web App &amp; shared it with Bala. Waiting for their response on the approval or changes.</a:t>
            </a:r>
          </a:p>
        </p:txBody>
      </p:sp>
    </p:spTree>
    <p:extLst>
      <p:ext uri="{BB962C8B-B14F-4D97-AF65-F5344CB8AC3E}">
        <p14:creationId xmlns:p14="http://schemas.microsoft.com/office/powerpoint/2010/main" val="17435440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6171A9A6-C5F6-6854-F83E-D5ADB051E323}"/>
              </a:ext>
            </a:extLst>
          </p:cNvPr>
          <p:cNvSpPr/>
          <p:nvPr/>
        </p:nvSpPr>
        <p:spPr>
          <a:xfrm>
            <a:off x="335998" y="381007"/>
            <a:ext cx="11520001" cy="634993"/>
          </a:xfrm>
          <a:prstGeom prst="rect">
            <a:avLst/>
          </a:prstGeom>
          <a:solidFill>
            <a:srgbClr val="65BB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65BB35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31B98C4-7DA5-088A-7240-E32DC7BE00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2" y="532302"/>
            <a:ext cx="7478530" cy="332399"/>
          </a:xfrm>
        </p:spPr>
        <p:txBody>
          <a:bodyPr wrap="square" tIns="0" bIns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Parth Jotangiya - Roadblocks / issues if any 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F137F86-18FF-9D35-9316-B95517DA2269}"/>
              </a:ext>
            </a:extLst>
          </p:cNvPr>
          <p:cNvCxnSpPr>
            <a:cxnSpLocks/>
          </p:cNvCxnSpPr>
          <p:nvPr/>
        </p:nvCxnSpPr>
        <p:spPr>
          <a:xfrm>
            <a:off x="336000" y="6222990"/>
            <a:ext cx="11520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84BE6486-A2B0-FA76-5903-3F0D963C89F7}"/>
              </a:ext>
            </a:extLst>
          </p:cNvPr>
          <p:cNvSpPr txBox="1"/>
          <p:nvPr/>
        </p:nvSpPr>
        <p:spPr>
          <a:xfrm>
            <a:off x="336000" y="6380366"/>
            <a:ext cx="3892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spc="10" dirty="0">
                <a:solidFill>
                  <a:schemeClr val="bg1">
                    <a:lumMod val="6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04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842F2DE-7982-2A91-9130-67C7B6CAD9F9}"/>
              </a:ext>
            </a:extLst>
          </p:cNvPr>
          <p:cNvSpPr/>
          <p:nvPr/>
        </p:nvSpPr>
        <p:spPr>
          <a:xfrm>
            <a:off x="335998" y="381006"/>
            <a:ext cx="112735" cy="634993"/>
          </a:xfrm>
          <a:prstGeom prst="rect">
            <a:avLst/>
          </a:prstGeom>
          <a:solidFill>
            <a:srgbClr val="0A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F2126C2E-A72F-976C-C48A-74FA3E3226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49322" y="6380366"/>
            <a:ext cx="1006678" cy="302003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D6A86434-8588-6782-FC02-AB536FD51C12}"/>
              </a:ext>
            </a:extLst>
          </p:cNvPr>
          <p:cNvSpPr txBox="1">
            <a:spLocks/>
          </p:cNvSpPr>
          <p:nvPr/>
        </p:nvSpPr>
        <p:spPr>
          <a:xfrm>
            <a:off x="4836000" y="6443546"/>
            <a:ext cx="2520000" cy="193899"/>
          </a:xfrm>
          <a:prstGeom prst="rect">
            <a:avLst/>
          </a:prstGeom>
        </p:spPr>
        <p:txBody>
          <a:bodyPr vert="horz" lIns="91440" tIns="0" rIns="91440" bIns="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spc="1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www.spec-india.com</a:t>
            </a:r>
            <a:endParaRPr lang="en-US" sz="1400" spc="1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1F0DD34-C7C6-2578-6478-8A48E0A345AC}"/>
              </a:ext>
            </a:extLst>
          </p:cNvPr>
          <p:cNvSpPr txBox="1"/>
          <p:nvPr/>
        </p:nvSpPr>
        <p:spPr>
          <a:xfrm>
            <a:off x="448733" y="1236555"/>
            <a:ext cx="11407266" cy="10284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400" dirty="0">
                <a:ea typeface="Roboto" panose="02000000000000000000" pitchFamily="2" charset="0"/>
                <a:cs typeface="Arial" panose="020B0604020202020204" pitchFamily="34" charset="0"/>
              </a:rPr>
              <a:t>Understanding of Camera API is the main road blocker for us.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4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Prepare D3 chart design of Occupancy.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400" dirty="0">
                <a:solidFill>
                  <a:srgbClr val="000000"/>
                </a:solidFill>
                <a:latin typeface="Calibri" panose="020F0502020204030204" pitchFamily="34" charset="0"/>
                <a:ea typeface="Roboto" panose="02000000000000000000" pitchFamily="2" charset="0"/>
                <a:cs typeface="Arial" panose="020B0604020202020204" pitchFamily="34" charset="0"/>
              </a:rPr>
              <a:t>Source code for existing application for our review &amp; reference.</a:t>
            </a:r>
          </a:p>
        </p:txBody>
      </p:sp>
    </p:spTree>
    <p:extLst>
      <p:ext uri="{BB962C8B-B14F-4D97-AF65-F5344CB8AC3E}">
        <p14:creationId xmlns:p14="http://schemas.microsoft.com/office/powerpoint/2010/main" val="6705284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6171A9A6-C5F6-6854-F83E-D5ADB051E323}"/>
              </a:ext>
            </a:extLst>
          </p:cNvPr>
          <p:cNvSpPr/>
          <p:nvPr/>
        </p:nvSpPr>
        <p:spPr>
          <a:xfrm>
            <a:off x="335998" y="381007"/>
            <a:ext cx="11520001" cy="634993"/>
          </a:xfrm>
          <a:prstGeom prst="rect">
            <a:avLst/>
          </a:prstGeom>
          <a:solidFill>
            <a:srgbClr val="65BB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65BB35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31B98C4-7DA5-088A-7240-E32DC7BE00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2" y="532302"/>
            <a:ext cx="7478530" cy="332399"/>
          </a:xfrm>
        </p:spPr>
        <p:txBody>
          <a:bodyPr wrap="square" tIns="0" bIns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Parth Jotangiya - Improvement Points Identified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F137F86-18FF-9D35-9316-B95517DA2269}"/>
              </a:ext>
            </a:extLst>
          </p:cNvPr>
          <p:cNvCxnSpPr>
            <a:cxnSpLocks/>
          </p:cNvCxnSpPr>
          <p:nvPr/>
        </p:nvCxnSpPr>
        <p:spPr>
          <a:xfrm>
            <a:off x="336000" y="6222990"/>
            <a:ext cx="11520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84BE6486-A2B0-FA76-5903-3F0D963C89F7}"/>
              </a:ext>
            </a:extLst>
          </p:cNvPr>
          <p:cNvSpPr txBox="1"/>
          <p:nvPr/>
        </p:nvSpPr>
        <p:spPr>
          <a:xfrm>
            <a:off x="336000" y="6380366"/>
            <a:ext cx="3892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spc="10" dirty="0">
                <a:solidFill>
                  <a:schemeClr val="bg1">
                    <a:lumMod val="6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04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842F2DE-7982-2A91-9130-67C7B6CAD9F9}"/>
              </a:ext>
            </a:extLst>
          </p:cNvPr>
          <p:cNvSpPr/>
          <p:nvPr/>
        </p:nvSpPr>
        <p:spPr>
          <a:xfrm>
            <a:off x="335998" y="381006"/>
            <a:ext cx="112735" cy="634993"/>
          </a:xfrm>
          <a:prstGeom prst="rect">
            <a:avLst/>
          </a:prstGeom>
          <a:solidFill>
            <a:srgbClr val="0A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F2126C2E-A72F-976C-C48A-74FA3E3226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49322" y="6380366"/>
            <a:ext cx="1006678" cy="302003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D6A86434-8588-6782-FC02-AB536FD51C12}"/>
              </a:ext>
            </a:extLst>
          </p:cNvPr>
          <p:cNvSpPr txBox="1">
            <a:spLocks/>
          </p:cNvSpPr>
          <p:nvPr/>
        </p:nvSpPr>
        <p:spPr>
          <a:xfrm>
            <a:off x="4836000" y="6443546"/>
            <a:ext cx="2520000" cy="193899"/>
          </a:xfrm>
          <a:prstGeom prst="rect">
            <a:avLst/>
          </a:prstGeom>
        </p:spPr>
        <p:txBody>
          <a:bodyPr vert="horz" lIns="91440" tIns="0" rIns="91440" bIns="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spc="1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www.spec-india.com</a:t>
            </a:r>
            <a:endParaRPr lang="en-US" sz="1400" spc="1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94302D4-3892-BD36-415F-F7E42B05EB99}"/>
              </a:ext>
            </a:extLst>
          </p:cNvPr>
          <p:cNvSpPr txBox="1"/>
          <p:nvPr/>
        </p:nvSpPr>
        <p:spPr>
          <a:xfrm>
            <a:off x="448733" y="1153537"/>
            <a:ext cx="11407267" cy="25903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ea typeface="Roboto" panose="02000000000000000000" pitchFamily="2" charset="0"/>
                <a:cs typeface="Roboto" panose="02000000000000000000" pitchFamily="2" charset="0"/>
              </a:rPr>
              <a:t>The team needs to improve </a:t>
            </a:r>
            <a:r>
              <a:rPr lang="en-US" sz="1400" b="1" dirty="0">
                <a:highlight>
                  <a:srgbClr val="FFFF00"/>
                </a:highlight>
                <a:ea typeface="Roboto" panose="02000000000000000000" pitchFamily="2" charset="0"/>
                <a:cs typeface="Roboto" panose="02000000000000000000" pitchFamily="2" charset="0"/>
              </a:rPr>
              <a:t>the completion time of assigned tasks to meet deadlines more efficiently</a:t>
            </a:r>
            <a:r>
              <a:rPr lang="en-US" sz="1400" dirty="0">
                <a:ea typeface="Roboto" panose="02000000000000000000" pitchFamily="2" charset="0"/>
                <a:cs typeface="Roboto" panose="02000000000000000000" pitchFamily="2" charset="0"/>
              </a:rPr>
              <a:t>.</a:t>
            </a:r>
          </a:p>
          <a:p>
            <a:pPr>
              <a:lnSpc>
                <a:spcPct val="130000"/>
              </a:lnSpc>
            </a:pPr>
            <a:endParaRPr lang="en-US" sz="1400" dirty="0"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ea typeface="Roboto" panose="02000000000000000000" pitchFamily="2" charset="0"/>
                <a:cs typeface="Roboto" panose="02000000000000000000" pitchFamily="2" charset="0"/>
              </a:rPr>
              <a:t>Focus on </a:t>
            </a:r>
            <a:r>
              <a:rPr lang="en-US" sz="1400" b="1" dirty="0">
                <a:highlight>
                  <a:srgbClr val="FFFF00"/>
                </a:highlight>
                <a:ea typeface="Roboto" panose="02000000000000000000" pitchFamily="2" charset="0"/>
                <a:cs typeface="Roboto" panose="02000000000000000000" pitchFamily="2" charset="0"/>
              </a:rPr>
              <a:t>self-brainstorming and analyzing requirements </a:t>
            </a:r>
            <a:r>
              <a:rPr lang="en-US" sz="1400" dirty="0">
                <a:ea typeface="Roboto" panose="02000000000000000000" pitchFamily="2" charset="0"/>
                <a:cs typeface="Roboto" panose="02000000000000000000" pitchFamily="2" charset="0"/>
              </a:rPr>
              <a:t>before directly seeking clarification.</a:t>
            </a:r>
          </a:p>
          <a:p>
            <a:pPr>
              <a:lnSpc>
                <a:spcPct val="130000"/>
              </a:lnSpc>
            </a:pPr>
            <a:endParaRPr lang="en-US" sz="1400" dirty="0"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1400" b="1" dirty="0">
                <a:highlight>
                  <a:srgbClr val="FFFF00"/>
                </a:highlight>
                <a:ea typeface="Roboto" panose="02000000000000000000" pitchFamily="2" charset="0"/>
                <a:cs typeface="Roboto" panose="02000000000000000000" pitchFamily="2" charset="0"/>
              </a:rPr>
              <a:t>Enhance communication skills, especially in English</a:t>
            </a:r>
            <a:r>
              <a:rPr lang="en-US" sz="1400" dirty="0">
                <a:ea typeface="Roboto" panose="02000000000000000000" pitchFamily="2" charset="0"/>
                <a:cs typeface="Roboto" panose="02000000000000000000" pitchFamily="2" charset="0"/>
              </a:rPr>
              <a:t>, for clearer and more effective collaboration.</a:t>
            </a: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endParaRPr lang="en-US" sz="1400" dirty="0"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1400" b="1" dirty="0">
                <a:highlight>
                  <a:srgbClr val="FFFF00"/>
                </a:highlight>
                <a:ea typeface="Roboto" panose="02000000000000000000" pitchFamily="2" charset="0"/>
                <a:cs typeface="Roboto" panose="02000000000000000000" pitchFamily="2" charset="0"/>
              </a:rPr>
              <a:t>Reduce overestimation</a:t>
            </a:r>
            <a:r>
              <a:rPr lang="en-US" sz="1400" dirty="0">
                <a:highlight>
                  <a:srgbClr val="FFFF00"/>
                </a:highlight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1400" dirty="0">
                <a:ea typeface="Roboto" panose="02000000000000000000" pitchFamily="2" charset="0"/>
                <a:cs typeface="Roboto" panose="02000000000000000000" pitchFamily="2" charset="0"/>
              </a:rPr>
              <a:t>of task durations to improve planning accuracy.</a:t>
            </a: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endParaRPr lang="en-US" sz="1400" dirty="0"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ea typeface="Roboto" panose="02000000000000000000" pitchFamily="2" charset="0"/>
                <a:cs typeface="Roboto" panose="02000000000000000000" pitchFamily="2" charset="0"/>
              </a:rPr>
              <a:t>The team needs to improve their </a:t>
            </a:r>
            <a:r>
              <a:rPr lang="en-US" sz="1400" b="1" dirty="0">
                <a:highlight>
                  <a:srgbClr val="FFFF00"/>
                </a:highlight>
                <a:ea typeface="Roboto" panose="02000000000000000000" pitchFamily="2" charset="0"/>
                <a:cs typeface="Roboto" panose="02000000000000000000" pitchFamily="2" charset="0"/>
              </a:rPr>
              <a:t>Unit Testing Skill </a:t>
            </a:r>
            <a:r>
              <a:rPr lang="en-US" sz="1400" dirty="0">
                <a:ea typeface="Roboto" panose="02000000000000000000" pitchFamily="2" charset="0"/>
                <a:cs typeface="Roboto" panose="02000000000000000000" pitchFamily="2" charset="0"/>
              </a:rPr>
              <a:t>as they are not performing it well as expected.</a:t>
            </a:r>
          </a:p>
        </p:txBody>
      </p:sp>
    </p:spTree>
    <p:extLst>
      <p:ext uri="{BB962C8B-B14F-4D97-AF65-F5344CB8AC3E}">
        <p14:creationId xmlns:p14="http://schemas.microsoft.com/office/powerpoint/2010/main" val="40926934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6171A9A6-C5F6-6854-F83E-D5ADB051E323}"/>
              </a:ext>
            </a:extLst>
          </p:cNvPr>
          <p:cNvSpPr/>
          <p:nvPr/>
        </p:nvSpPr>
        <p:spPr>
          <a:xfrm>
            <a:off x="335998" y="381007"/>
            <a:ext cx="11520001" cy="634993"/>
          </a:xfrm>
          <a:prstGeom prst="rect">
            <a:avLst/>
          </a:prstGeom>
          <a:solidFill>
            <a:srgbClr val="65BB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65BB35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31B98C4-7DA5-088A-7240-E32DC7BE00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2" y="532302"/>
            <a:ext cx="11155080" cy="332399"/>
          </a:xfrm>
        </p:spPr>
        <p:txBody>
          <a:bodyPr wrap="square" tIns="0" bIns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Parth Jotangiya - Any New Problem Statement Seen / Identified * If any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F137F86-18FF-9D35-9316-B95517DA2269}"/>
              </a:ext>
            </a:extLst>
          </p:cNvPr>
          <p:cNvCxnSpPr>
            <a:cxnSpLocks/>
          </p:cNvCxnSpPr>
          <p:nvPr/>
        </p:nvCxnSpPr>
        <p:spPr>
          <a:xfrm>
            <a:off x="336000" y="6222990"/>
            <a:ext cx="11520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84BE6486-A2B0-FA76-5903-3F0D963C89F7}"/>
              </a:ext>
            </a:extLst>
          </p:cNvPr>
          <p:cNvSpPr txBox="1"/>
          <p:nvPr/>
        </p:nvSpPr>
        <p:spPr>
          <a:xfrm>
            <a:off x="336000" y="6380366"/>
            <a:ext cx="3892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spc="10" dirty="0">
                <a:solidFill>
                  <a:schemeClr val="bg1">
                    <a:lumMod val="6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04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842F2DE-7982-2A91-9130-67C7B6CAD9F9}"/>
              </a:ext>
            </a:extLst>
          </p:cNvPr>
          <p:cNvSpPr/>
          <p:nvPr/>
        </p:nvSpPr>
        <p:spPr>
          <a:xfrm>
            <a:off x="335998" y="381006"/>
            <a:ext cx="112735" cy="634993"/>
          </a:xfrm>
          <a:prstGeom prst="rect">
            <a:avLst/>
          </a:prstGeom>
          <a:solidFill>
            <a:srgbClr val="0A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F2126C2E-A72F-976C-C48A-74FA3E3226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49322" y="6380366"/>
            <a:ext cx="1006678" cy="302003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D6A86434-8588-6782-FC02-AB536FD51C12}"/>
              </a:ext>
            </a:extLst>
          </p:cNvPr>
          <p:cNvSpPr txBox="1">
            <a:spLocks/>
          </p:cNvSpPr>
          <p:nvPr/>
        </p:nvSpPr>
        <p:spPr>
          <a:xfrm>
            <a:off x="4836000" y="6443546"/>
            <a:ext cx="2520000" cy="193899"/>
          </a:xfrm>
          <a:prstGeom prst="rect">
            <a:avLst/>
          </a:prstGeom>
        </p:spPr>
        <p:txBody>
          <a:bodyPr vert="horz" lIns="91440" tIns="0" rIns="91440" bIns="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spc="1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www.spec-india.com</a:t>
            </a:r>
            <a:endParaRPr lang="en-US" sz="1400" spc="1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94302D4-3892-BD36-415F-F7E42B05EB99}"/>
              </a:ext>
            </a:extLst>
          </p:cNvPr>
          <p:cNvSpPr txBox="1"/>
          <p:nvPr/>
        </p:nvSpPr>
        <p:spPr>
          <a:xfrm>
            <a:off x="448733" y="1264590"/>
            <a:ext cx="11407266" cy="6298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ea typeface="Roboto" panose="02000000000000000000" pitchFamily="2" charset="0"/>
                <a:cs typeface="Roboto" panose="02000000000000000000" pitchFamily="2" charset="0"/>
              </a:rPr>
              <a:t>The client is not responding promptly to requests and queries, causing delays in requirement gathering and SRS preparation.</a:t>
            </a: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ea typeface="Roboto" panose="02000000000000000000" pitchFamily="2" charset="0"/>
                <a:cs typeface="Roboto" panose="02000000000000000000" pitchFamily="2" charset="0"/>
              </a:rPr>
              <a:t>Also, they are not providing approval on the shared / requested items, causing delays in preparation of SRS.</a:t>
            </a:r>
          </a:p>
        </p:txBody>
      </p:sp>
    </p:spTree>
    <p:extLst>
      <p:ext uri="{BB962C8B-B14F-4D97-AF65-F5344CB8AC3E}">
        <p14:creationId xmlns:p14="http://schemas.microsoft.com/office/powerpoint/2010/main" val="21592493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6171A9A6-C5F6-6854-F83E-D5ADB051E323}"/>
              </a:ext>
            </a:extLst>
          </p:cNvPr>
          <p:cNvSpPr/>
          <p:nvPr/>
        </p:nvSpPr>
        <p:spPr>
          <a:xfrm>
            <a:off x="335998" y="381007"/>
            <a:ext cx="11520001" cy="634993"/>
          </a:xfrm>
          <a:prstGeom prst="rect">
            <a:avLst/>
          </a:prstGeom>
          <a:solidFill>
            <a:srgbClr val="65BB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65BB35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31B98C4-7DA5-088A-7240-E32DC7BE00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1" y="532302"/>
            <a:ext cx="10832351" cy="332399"/>
          </a:xfrm>
        </p:spPr>
        <p:txBody>
          <a:bodyPr wrap="square" tIns="0" bIns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Parth Jotangiya - Achievements/Extra mile of the week * if any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F137F86-18FF-9D35-9316-B95517DA2269}"/>
              </a:ext>
            </a:extLst>
          </p:cNvPr>
          <p:cNvCxnSpPr>
            <a:cxnSpLocks/>
          </p:cNvCxnSpPr>
          <p:nvPr/>
        </p:nvCxnSpPr>
        <p:spPr>
          <a:xfrm>
            <a:off x="336000" y="6222990"/>
            <a:ext cx="11520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84BE6486-A2B0-FA76-5903-3F0D963C89F7}"/>
              </a:ext>
            </a:extLst>
          </p:cNvPr>
          <p:cNvSpPr txBox="1"/>
          <p:nvPr/>
        </p:nvSpPr>
        <p:spPr>
          <a:xfrm>
            <a:off x="336000" y="6380366"/>
            <a:ext cx="3892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spc="10" dirty="0">
                <a:solidFill>
                  <a:schemeClr val="bg1">
                    <a:lumMod val="6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04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842F2DE-7982-2A91-9130-67C7B6CAD9F9}"/>
              </a:ext>
            </a:extLst>
          </p:cNvPr>
          <p:cNvSpPr/>
          <p:nvPr/>
        </p:nvSpPr>
        <p:spPr>
          <a:xfrm>
            <a:off x="335998" y="381006"/>
            <a:ext cx="112735" cy="634993"/>
          </a:xfrm>
          <a:prstGeom prst="rect">
            <a:avLst/>
          </a:prstGeom>
          <a:solidFill>
            <a:srgbClr val="0A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F2126C2E-A72F-976C-C48A-74FA3E3226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49322" y="6380366"/>
            <a:ext cx="1006678" cy="302003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D6A86434-8588-6782-FC02-AB536FD51C12}"/>
              </a:ext>
            </a:extLst>
          </p:cNvPr>
          <p:cNvSpPr txBox="1">
            <a:spLocks/>
          </p:cNvSpPr>
          <p:nvPr/>
        </p:nvSpPr>
        <p:spPr>
          <a:xfrm>
            <a:off x="4836000" y="6443546"/>
            <a:ext cx="2520000" cy="193899"/>
          </a:xfrm>
          <a:prstGeom prst="rect">
            <a:avLst/>
          </a:prstGeom>
        </p:spPr>
        <p:txBody>
          <a:bodyPr vert="horz" lIns="91440" tIns="0" rIns="91440" bIns="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spc="1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www.spec-india.com</a:t>
            </a:r>
            <a:endParaRPr lang="en-US" sz="1400" spc="1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94302D4-3892-BD36-415F-F7E42B05EB99}"/>
              </a:ext>
            </a:extLst>
          </p:cNvPr>
          <p:cNvSpPr txBox="1"/>
          <p:nvPr/>
        </p:nvSpPr>
        <p:spPr>
          <a:xfrm>
            <a:off x="448733" y="1198913"/>
            <a:ext cx="10958176" cy="3130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30000"/>
              </a:lnSpc>
              <a:buFont typeface="Wingdings" panose="05000000000000000000" charset="0"/>
              <a:buChar char="o"/>
            </a:pPr>
            <a:r>
              <a:rPr lang="en-US" sz="1200" dirty="0"/>
              <a:t>Finally, we have completed all the development activities for License Web Application. Design related changes are in-progress.</a:t>
            </a:r>
            <a:endParaRPr lang="en-US" altLang="en-IN" sz="1200" dirty="0"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68089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5BB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>
            <a:extLst>
              <a:ext uri="{FF2B5EF4-FFF2-40B4-BE49-F238E27FC236}">
                <a16:creationId xmlns:a16="http://schemas.microsoft.com/office/drawing/2014/main" id="{DE973377-9F71-D594-1085-A35F120D3E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8472" y="0"/>
            <a:ext cx="6680200" cy="6223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5C3D6B1-1AC2-47BD-81D9-8E96673EC4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079999"/>
            <a:ext cx="12192000" cy="177800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83BC040-4A96-63A7-6A7C-8B539D171E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675" y="462989"/>
            <a:ext cx="5223457" cy="1031690"/>
          </a:xfrm>
        </p:spPr>
        <p:txBody>
          <a:bodyPr>
            <a:noAutofit/>
          </a:bodyPr>
          <a:lstStyle/>
          <a:p>
            <a:pPr algn="l">
              <a:lnSpc>
                <a:spcPct val="120000"/>
              </a:lnSpc>
            </a:pPr>
            <a:r>
              <a:rPr lang="en-US" sz="3000" b="1" spc="10" dirty="0">
                <a:solidFill>
                  <a:srgbClr val="65BB35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Thank You For </a:t>
            </a:r>
            <a:br>
              <a:rPr lang="en-US" sz="3000" b="1" spc="10" dirty="0">
                <a:solidFill>
                  <a:srgbClr val="65BB35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</a:br>
            <a:r>
              <a:rPr lang="en-US" sz="3000" b="1" spc="10" dirty="0">
                <a:solidFill>
                  <a:srgbClr val="65BB35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Your Time &amp; Attention!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1E7C87D-2BF4-2094-429B-833F6A4031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7675" y="1755910"/>
            <a:ext cx="5223457" cy="697921"/>
          </a:xfrm>
          <a:noFill/>
          <a:ln>
            <a:noFill/>
          </a:ln>
        </p:spPr>
        <p:txBody>
          <a:bodyPr>
            <a:norm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lang="en-US" sz="1600" spc="10" dirty="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Looking forward to having a mutually beneficial association! Assuring you of our best services always!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078DCE7-143A-12CF-4858-23FC1C088A0F}"/>
              </a:ext>
            </a:extLst>
          </p:cNvPr>
          <p:cNvCxnSpPr>
            <a:cxnSpLocks/>
          </p:cNvCxnSpPr>
          <p:nvPr/>
        </p:nvCxnSpPr>
        <p:spPr>
          <a:xfrm>
            <a:off x="524933" y="1622274"/>
            <a:ext cx="4320335" cy="0"/>
          </a:xfrm>
          <a:prstGeom prst="line">
            <a:avLst/>
          </a:prstGeom>
          <a:ln w="25400">
            <a:solidFill>
              <a:srgbClr val="65BB35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FC152B89-4C8B-339C-D082-52ED69A6938A}"/>
              </a:ext>
            </a:extLst>
          </p:cNvPr>
          <p:cNvCxnSpPr>
            <a:cxnSpLocks/>
          </p:cNvCxnSpPr>
          <p:nvPr/>
        </p:nvCxnSpPr>
        <p:spPr>
          <a:xfrm>
            <a:off x="336000" y="6301416"/>
            <a:ext cx="11520000" cy="0"/>
          </a:xfrm>
          <a:prstGeom prst="line">
            <a:avLst/>
          </a:prstGeom>
          <a:ln w="12700">
            <a:solidFill>
              <a:schemeClr val="bg1">
                <a:lumMod val="85000"/>
                <a:alpha val="70000"/>
              </a:schemeClr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FEA8F4E2-E03C-0E4A-BEA2-2C45470AFA89}"/>
              </a:ext>
            </a:extLst>
          </p:cNvPr>
          <p:cNvSpPr txBox="1"/>
          <p:nvPr/>
        </p:nvSpPr>
        <p:spPr>
          <a:xfrm>
            <a:off x="336000" y="6384714"/>
            <a:ext cx="348557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spc="10" dirty="0">
                <a:solidFill>
                  <a:schemeClr val="bg1">
                    <a:lumMod val="9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© 2023 SPEC INDIA. All Rights Reserved.</a:t>
            </a:r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D38C491A-98BC-D26F-C944-17A4B65E5D77}"/>
              </a:ext>
            </a:extLst>
          </p:cNvPr>
          <p:cNvSpPr txBox="1">
            <a:spLocks/>
          </p:cNvSpPr>
          <p:nvPr/>
        </p:nvSpPr>
        <p:spPr>
          <a:xfrm>
            <a:off x="457677" y="2609614"/>
            <a:ext cx="2341032" cy="62671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numCol="1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lang="en-US" sz="1400" b="1" spc="10" dirty="0">
                <a:solidFill>
                  <a:srgbClr val="0B334C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Visit us at </a:t>
            </a:r>
          </a:p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lang="en-US" sz="1400" spc="10" dirty="0" err="1">
                <a:solidFill>
                  <a:srgbClr val="0274BD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www.spec-india.com</a:t>
            </a:r>
            <a:r>
              <a:rPr lang="en-US" sz="1400" spc="10" dirty="0">
                <a:solidFill>
                  <a:srgbClr val="0274BD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1400" spc="10" dirty="0">
              <a:solidFill>
                <a:srgbClr val="0274BD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CD447CDB-FC6C-CAB2-948E-2411D69C363A}"/>
              </a:ext>
            </a:extLst>
          </p:cNvPr>
          <p:cNvSpPr txBox="1">
            <a:spLocks/>
          </p:cNvSpPr>
          <p:nvPr/>
        </p:nvSpPr>
        <p:spPr>
          <a:xfrm>
            <a:off x="2798709" y="2609614"/>
            <a:ext cx="2341032" cy="62671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numCol="1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lang="en-US" sz="1400" b="1" spc="10" dirty="0">
                <a:solidFill>
                  <a:srgbClr val="0B334C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Write to us at</a:t>
            </a:r>
          </a:p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lang="en-US" sz="1400" spc="10" dirty="0">
                <a:solidFill>
                  <a:srgbClr val="0274BD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lead@spec-india.com</a:t>
            </a:r>
            <a:endParaRPr lang="en-US" sz="1400" spc="10" dirty="0">
              <a:solidFill>
                <a:srgbClr val="0274BD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6ABCEE6D-BE76-87BF-39F9-211E275FDB05}"/>
              </a:ext>
            </a:extLst>
          </p:cNvPr>
          <p:cNvSpPr txBox="1">
            <a:spLocks/>
          </p:cNvSpPr>
          <p:nvPr/>
        </p:nvSpPr>
        <p:spPr>
          <a:xfrm>
            <a:off x="7244318" y="796759"/>
            <a:ext cx="3700132" cy="38299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lang="en-US" sz="1600" b="1" spc="10" dirty="0">
                <a:solidFill>
                  <a:srgbClr val="0B334C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India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57CEBD7A-A64D-2CC2-219B-205E1ABEAC4C}"/>
              </a:ext>
            </a:extLst>
          </p:cNvPr>
          <p:cNvSpPr txBox="1">
            <a:spLocks/>
          </p:cNvSpPr>
          <p:nvPr/>
        </p:nvSpPr>
        <p:spPr>
          <a:xfrm>
            <a:off x="7581200" y="1292033"/>
            <a:ext cx="3700132" cy="307777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400" spc="1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lead@spec-india.com</a:t>
            </a:r>
            <a:r>
              <a:rPr lang="en-US" sz="1400" spc="1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1400" spc="1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CC589E73-A1F7-8D3B-1002-78B9E88428D0}"/>
              </a:ext>
            </a:extLst>
          </p:cNvPr>
          <p:cNvSpPr txBox="1">
            <a:spLocks/>
          </p:cNvSpPr>
          <p:nvPr/>
        </p:nvSpPr>
        <p:spPr>
          <a:xfrm>
            <a:off x="7581200" y="1687659"/>
            <a:ext cx="3700132" cy="307777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400" spc="1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+91-79-26404031 to 34</a:t>
            </a: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ACF21E3B-CFF7-C1BC-1C84-CEF3FAC10D71}"/>
              </a:ext>
            </a:extLst>
          </p:cNvPr>
          <p:cNvSpPr txBox="1">
            <a:spLocks/>
          </p:cNvSpPr>
          <p:nvPr/>
        </p:nvSpPr>
        <p:spPr>
          <a:xfrm>
            <a:off x="7581200" y="2083285"/>
            <a:ext cx="3700132" cy="738664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400" spc="1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SPEC House”, </a:t>
            </a:r>
            <a:r>
              <a:rPr lang="en-US" sz="1400" spc="1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Parth</a:t>
            </a:r>
            <a:r>
              <a:rPr lang="en-US" sz="1400" spc="1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Complex,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400" spc="1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Near Swastik Cross Roads, </a:t>
            </a:r>
            <a:r>
              <a:rPr lang="en-US" sz="1400" spc="1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Navarangpura</a:t>
            </a:r>
            <a:r>
              <a:rPr lang="en-US" sz="1400" spc="1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, Ahmedabad 380009, INDIA.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B9A06EC-1120-2A36-F390-AD7E34081305}"/>
              </a:ext>
            </a:extLst>
          </p:cNvPr>
          <p:cNvCxnSpPr>
            <a:cxnSpLocks/>
          </p:cNvCxnSpPr>
          <p:nvPr/>
        </p:nvCxnSpPr>
        <p:spPr>
          <a:xfrm>
            <a:off x="7326788" y="1179749"/>
            <a:ext cx="3068498" cy="0"/>
          </a:xfrm>
          <a:prstGeom prst="line">
            <a:avLst/>
          </a:prstGeom>
          <a:ln w="12700">
            <a:solidFill>
              <a:srgbClr val="0B334C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pic>
        <p:nvPicPr>
          <p:cNvPr id="17" name="Picture 16">
            <a:extLst>
              <a:ext uri="{FF2B5EF4-FFF2-40B4-BE49-F238E27FC236}">
                <a16:creationId xmlns:a16="http://schemas.microsoft.com/office/drawing/2014/main" id="{366FD6CE-FD61-89E0-91D7-5F8304994F1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26788" y="1331621"/>
            <a:ext cx="228600" cy="22860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00EDEB6C-B6E4-6FDB-C1AC-E3A47A59D3F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26788" y="1727247"/>
            <a:ext cx="228600" cy="22860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A97FEFD3-0309-57D5-3132-F673BA1FD64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28537" y="2122873"/>
            <a:ext cx="228600" cy="228600"/>
          </a:xfrm>
          <a:prstGeom prst="rect">
            <a:avLst/>
          </a:prstGeom>
        </p:spPr>
      </p:pic>
      <p:sp>
        <p:nvSpPr>
          <p:cNvPr id="21" name="Subtitle 2">
            <a:extLst>
              <a:ext uri="{FF2B5EF4-FFF2-40B4-BE49-F238E27FC236}">
                <a16:creationId xmlns:a16="http://schemas.microsoft.com/office/drawing/2014/main" id="{3E750425-6495-BDB9-98D9-2D6312334CE8}"/>
              </a:ext>
            </a:extLst>
          </p:cNvPr>
          <p:cNvSpPr txBox="1">
            <a:spLocks/>
          </p:cNvSpPr>
          <p:nvPr/>
        </p:nvSpPr>
        <p:spPr>
          <a:xfrm>
            <a:off x="7244318" y="2842128"/>
            <a:ext cx="3700132" cy="38299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lang="en-US" sz="1600" b="1" spc="10" dirty="0">
                <a:solidFill>
                  <a:srgbClr val="0B334C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USA</a:t>
            </a:r>
          </a:p>
        </p:txBody>
      </p:sp>
      <p:sp>
        <p:nvSpPr>
          <p:cNvPr id="22" name="Subtitle 2">
            <a:extLst>
              <a:ext uri="{FF2B5EF4-FFF2-40B4-BE49-F238E27FC236}">
                <a16:creationId xmlns:a16="http://schemas.microsoft.com/office/drawing/2014/main" id="{9EFFB4FD-C66E-DCFF-3CED-845FF7FCD1D3}"/>
              </a:ext>
            </a:extLst>
          </p:cNvPr>
          <p:cNvSpPr txBox="1">
            <a:spLocks/>
          </p:cNvSpPr>
          <p:nvPr/>
        </p:nvSpPr>
        <p:spPr>
          <a:xfrm>
            <a:off x="7581200" y="3337402"/>
            <a:ext cx="3700132" cy="307777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400" spc="1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lead@spec-usa.net</a:t>
            </a:r>
            <a:endParaRPr lang="en-US" sz="1400" spc="1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3" name="Subtitle 2">
            <a:extLst>
              <a:ext uri="{FF2B5EF4-FFF2-40B4-BE49-F238E27FC236}">
                <a16:creationId xmlns:a16="http://schemas.microsoft.com/office/drawing/2014/main" id="{0794C45F-E4E9-18E1-5291-E063DAA9D94C}"/>
              </a:ext>
            </a:extLst>
          </p:cNvPr>
          <p:cNvSpPr txBox="1">
            <a:spLocks/>
          </p:cNvSpPr>
          <p:nvPr/>
        </p:nvSpPr>
        <p:spPr>
          <a:xfrm>
            <a:off x="7581200" y="3733028"/>
            <a:ext cx="3700132" cy="307777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400" spc="1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+ 1 908-450-9862</a:t>
            </a:r>
          </a:p>
        </p:txBody>
      </p:sp>
      <p:sp>
        <p:nvSpPr>
          <p:cNvPr id="24" name="Subtitle 2">
            <a:extLst>
              <a:ext uri="{FF2B5EF4-FFF2-40B4-BE49-F238E27FC236}">
                <a16:creationId xmlns:a16="http://schemas.microsoft.com/office/drawing/2014/main" id="{8615222F-C7DB-5A8C-7552-3410393517F5}"/>
              </a:ext>
            </a:extLst>
          </p:cNvPr>
          <p:cNvSpPr txBox="1">
            <a:spLocks/>
          </p:cNvSpPr>
          <p:nvPr/>
        </p:nvSpPr>
        <p:spPr>
          <a:xfrm>
            <a:off x="7581200" y="4128654"/>
            <a:ext cx="3700132" cy="52322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400" spc="1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SPEC Partner”, 350 Grove Street, Bridgewater, NJ 08807, United States.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2D39D151-9FF0-F98C-5050-8117EAF186CC}"/>
              </a:ext>
            </a:extLst>
          </p:cNvPr>
          <p:cNvCxnSpPr>
            <a:cxnSpLocks/>
          </p:cNvCxnSpPr>
          <p:nvPr/>
        </p:nvCxnSpPr>
        <p:spPr>
          <a:xfrm>
            <a:off x="7326788" y="3225118"/>
            <a:ext cx="3068498" cy="0"/>
          </a:xfrm>
          <a:prstGeom prst="line">
            <a:avLst/>
          </a:prstGeom>
          <a:ln w="12700">
            <a:solidFill>
              <a:srgbClr val="0B334C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pic>
        <p:nvPicPr>
          <p:cNvPr id="26" name="Picture 25">
            <a:extLst>
              <a:ext uri="{FF2B5EF4-FFF2-40B4-BE49-F238E27FC236}">
                <a16:creationId xmlns:a16="http://schemas.microsoft.com/office/drawing/2014/main" id="{9CF2AB4B-873F-E596-9F71-00AEB41AB20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26788" y="3376990"/>
            <a:ext cx="228600" cy="22860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FF7E2225-123C-E2AC-6610-FE75B6E7CA8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26788" y="3772616"/>
            <a:ext cx="228600" cy="228600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6357D4EE-C6A4-0780-5917-5352EBA0494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28537" y="4168242"/>
            <a:ext cx="228600" cy="228600"/>
          </a:xfrm>
          <a:prstGeom prst="rect">
            <a:avLst/>
          </a:prstGeom>
        </p:spPr>
      </p:pic>
      <p:pic>
        <p:nvPicPr>
          <p:cNvPr id="40" name="Picture 39" descr="Logo&#10;&#10;Description automatically generated">
            <a:hlinkClick r:id="rId10"/>
            <a:extLst>
              <a:ext uri="{FF2B5EF4-FFF2-40B4-BE49-F238E27FC236}">
                <a16:creationId xmlns:a16="http://schemas.microsoft.com/office/drawing/2014/main" id="{3A64C5C4-EF68-BBD2-DA4D-FA1654CB6B77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600252" y="5526127"/>
            <a:ext cx="881997" cy="251999"/>
          </a:xfrm>
          <a:prstGeom prst="rect">
            <a:avLst/>
          </a:prstGeom>
        </p:spPr>
      </p:pic>
      <p:pic>
        <p:nvPicPr>
          <p:cNvPr id="42" name="Picture 41" descr="A picture containing text, clipart&#10;&#10;Description automatically generated">
            <a:hlinkClick r:id="rId12"/>
            <a:extLst>
              <a:ext uri="{FF2B5EF4-FFF2-40B4-BE49-F238E27FC236}">
                <a16:creationId xmlns:a16="http://schemas.microsoft.com/office/drawing/2014/main" id="{C6B2261D-8975-83F4-293C-153EA1232EB9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831274" y="5544126"/>
            <a:ext cx="1511998" cy="216000"/>
          </a:xfrm>
          <a:prstGeom prst="rect">
            <a:avLst/>
          </a:prstGeom>
        </p:spPr>
      </p:pic>
      <p:pic>
        <p:nvPicPr>
          <p:cNvPr id="44" name="Picture 43" descr="A picture containing text, clipart&#10;&#10;Description automatically generated">
            <a:hlinkClick r:id="rId14"/>
            <a:extLst>
              <a:ext uri="{FF2B5EF4-FFF2-40B4-BE49-F238E27FC236}">
                <a16:creationId xmlns:a16="http://schemas.microsoft.com/office/drawing/2014/main" id="{3D7D5357-E86E-92E3-5707-CA2FF00762D4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692297" y="5526127"/>
            <a:ext cx="766497" cy="251999"/>
          </a:xfrm>
          <a:prstGeom prst="rect">
            <a:avLst/>
          </a:prstGeom>
        </p:spPr>
      </p:pic>
      <p:pic>
        <p:nvPicPr>
          <p:cNvPr id="46" name="Picture 45" descr="A picture containing text, clipart&#10;&#10;Description automatically generated">
            <a:hlinkClick r:id="rId16"/>
            <a:extLst>
              <a:ext uri="{FF2B5EF4-FFF2-40B4-BE49-F238E27FC236}">
                <a16:creationId xmlns:a16="http://schemas.microsoft.com/office/drawing/2014/main" id="{A62404A7-491D-AB8C-DF4C-0A7689FF8D3E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807819" y="5526127"/>
            <a:ext cx="1282904" cy="251999"/>
          </a:xfrm>
          <a:prstGeom prst="rect">
            <a:avLst/>
          </a:prstGeom>
        </p:spPr>
      </p:pic>
      <p:pic>
        <p:nvPicPr>
          <p:cNvPr id="48" name="Picture 47" descr="A picture containing text, transport, clipart, wheel&#10;&#10;Description automatically generated">
            <a:hlinkClick r:id="rId18"/>
            <a:extLst>
              <a:ext uri="{FF2B5EF4-FFF2-40B4-BE49-F238E27FC236}">
                <a16:creationId xmlns:a16="http://schemas.microsoft.com/office/drawing/2014/main" id="{2B45102B-90BF-9A69-CC61-4C6AFF245D05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439748" y="5544126"/>
            <a:ext cx="1152000" cy="216000"/>
          </a:xfrm>
          <a:prstGeom prst="rect">
            <a:avLst/>
          </a:prstGeom>
        </p:spPr>
      </p:pic>
      <p:pic>
        <p:nvPicPr>
          <p:cNvPr id="14" name="Picture 13" descr="Shape&#10;&#10;Description automatically generated">
            <a:hlinkClick r:id="rId20"/>
            <a:extLst>
              <a:ext uri="{FF2B5EF4-FFF2-40B4-BE49-F238E27FC236}">
                <a16:creationId xmlns:a16="http://schemas.microsoft.com/office/drawing/2014/main" id="{ADB2A65D-4BAF-3302-A7AD-454CFB6416D9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1627401" y="6429239"/>
            <a:ext cx="228600" cy="228600"/>
          </a:xfrm>
          <a:prstGeom prst="rect">
            <a:avLst/>
          </a:prstGeom>
        </p:spPr>
      </p:pic>
      <p:pic>
        <p:nvPicPr>
          <p:cNvPr id="30" name="Picture 29" descr="A picture containing clipart&#10;&#10;Description automatically generated">
            <a:hlinkClick r:id="rId22"/>
            <a:extLst>
              <a:ext uri="{FF2B5EF4-FFF2-40B4-BE49-F238E27FC236}">
                <a16:creationId xmlns:a16="http://schemas.microsoft.com/office/drawing/2014/main" id="{4C05D210-7545-E130-D32C-60104CD0AA7F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1257418" y="6429239"/>
            <a:ext cx="228600" cy="228600"/>
          </a:xfrm>
          <a:prstGeom prst="rect">
            <a:avLst/>
          </a:prstGeom>
        </p:spPr>
      </p:pic>
      <p:pic>
        <p:nvPicPr>
          <p:cNvPr id="32" name="Picture 31" descr="A picture containing text, clipart&#10;&#10;Description automatically generated">
            <a:hlinkClick r:id="rId24"/>
            <a:extLst>
              <a:ext uri="{FF2B5EF4-FFF2-40B4-BE49-F238E27FC236}">
                <a16:creationId xmlns:a16="http://schemas.microsoft.com/office/drawing/2014/main" id="{90AA3777-8D97-1931-9916-D94B8CE1EA26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9777486" y="6429239"/>
            <a:ext cx="228600" cy="228600"/>
          </a:xfrm>
          <a:prstGeom prst="rect">
            <a:avLst/>
          </a:prstGeom>
        </p:spPr>
      </p:pic>
      <p:pic>
        <p:nvPicPr>
          <p:cNvPr id="36" name="Picture 35" descr="A picture containing text, clipart&#10;&#10;Description automatically generated">
            <a:hlinkClick r:id="rId26"/>
            <a:extLst>
              <a:ext uri="{FF2B5EF4-FFF2-40B4-BE49-F238E27FC236}">
                <a16:creationId xmlns:a16="http://schemas.microsoft.com/office/drawing/2014/main" id="{277E1FE5-F90B-E5EC-6B64-547EE65FA015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10147469" y="6429239"/>
            <a:ext cx="228600" cy="228600"/>
          </a:xfrm>
          <a:prstGeom prst="rect">
            <a:avLst/>
          </a:prstGeom>
        </p:spPr>
      </p:pic>
      <p:pic>
        <p:nvPicPr>
          <p:cNvPr id="38" name="Picture 37" descr="A picture containing clipart&#10;&#10;Description automatically generated">
            <a:hlinkClick r:id="rId28"/>
            <a:extLst>
              <a:ext uri="{FF2B5EF4-FFF2-40B4-BE49-F238E27FC236}">
                <a16:creationId xmlns:a16="http://schemas.microsoft.com/office/drawing/2014/main" id="{913D1D7C-DD97-008D-32E9-2F3E1449CF1B}"/>
              </a:ext>
            </a:extLst>
      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10517452" y="6429239"/>
            <a:ext cx="228600" cy="228600"/>
          </a:xfrm>
          <a:prstGeom prst="rect">
            <a:avLst/>
          </a:prstGeom>
        </p:spPr>
      </p:pic>
      <p:pic>
        <p:nvPicPr>
          <p:cNvPr id="41" name="Picture 40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1ECF0721-5F3F-7A0A-8B07-97E09AE355B8}"/>
              </a:ext>
            </a:extLst>
      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6960321" y="5863640"/>
            <a:ext cx="977900" cy="152400"/>
          </a:xfrm>
          <a:prstGeom prst="rect">
            <a:avLst/>
          </a:prstGeom>
        </p:spPr>
      </p:pic>
      <p:pic>
        <p:nvPicPr>
          <p:cNvPr id="45" name="Picture 44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460C7B80-41F7-6F4C-9EB0-D97AE9FAE43E}"/>
              </a:ext>
            </a:extLst>
      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8526798" y="5851286"/>
            <a:ext cx="977900" cy="152400"/>
          </a:xfrm>
          <a:prstGeom prst="rect">
            <a:avLst/>
          </a:prstGeom>
        </p:spPr>
      </p:pic>
      <p:pic>
        <p:nvPicPr>
          <p:cNvPr id="47" name="Picture 46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4EDFC17D-0BEB-CE00-5CFF-4350F761C97F}"/>
              </a:ext>
            </a:extLst>
      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5586595" y="5851286"/>
            <a:ext cx="977900" cy="152400"/>
          </a:xfrm>
          <a:prstGeom prst="rect">
            <a:avLst/>
          </a:prstGeom>
        </p:spPr>
      </p:pic>
      <p:pic>
        <p:nvPicPr>
          <p:cNvPr id="50" name="Picture 49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5DC590AF-236B-8D2E-6C6C-26D1E11EE6CE}"/>
              </a:ext>
            </a:extLst>
      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4098323" y="5863640"/>
            <a:ext cx="977900" cy="152400"/>
          </a:xfrm>
          <a:prstGeom prst="rect">
            <a:avLst/>
          </a:prstGeom>
        </p:spPr>
      </p:pic>
      <p:pic>
        <p:nvPicPr>
          <p:cNvPr id="51" name="Picture 50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5C29C664-85B8-73EA-7FB2-776AF81D9691}"/>
              </a:ext>
            </a:extLst>
      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2580453" y="5858314"/>
            <a:ext cx="977900" cy="152400"/>
          </a:xfrm>
          <a:prstGeom prst="rect">
            <a:avLst/>
          </a:prstGeom>
        </p:spPr>
      </p:pic>
      <p:pic>
        <p:nvPicPr>
          <p:cNvPr id="53" name="Picture 52" descr="A picture containing text, clipart&#10;&#10;Description automatically generated">
            <a:hlinkClick r:id="rId32"/>
            <a:extLst>
              <a:ext uri="{FF2B5EF4-FFF2-40B4-BE49-F238E27FC236}">
                <a16:creationId xmlns:a16="http://schemas.microsoft.com/office/drawing/2014/main" id="{67637389-D544-8F66-71E6-50D3B35E8276}"/>
              </a:ext>
            </a:extLst>
      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10887435" y="6428492"/>
            <a:ext cx="228600" cy="228600"/>
          </a:xfrm>
          <a:prstGeom prst="rect">
            <a:avLst/>
          </a:prstGeom>
        </p:spPr>
      </p:pic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19D8FB93-7E3B-D2D5-BF79-9911592A49ED}"/>
              </a:ext>
            </a:extLst>
          </p:cNvPr>
          <p:cNvCxnSpPr>
            <a:cxnSpLocks/>
          </p:cNvCxnSpPr>
          <p:nvPr/>
        </p:nvCxnSpPr>
        <p:spPr>
          <a:xfrm>
            <a:off x="2580453" y="2716520"/>
            <a:ext cx="0" cy="519804"/>
          </a:xfrm>
          <a:prstGeom prst="line">
            <a:avLst/>
          </a:prstGeom>
          <a:ln w="19050">
            <a:solidFill>
              <a:srgbClr val="E8E8EB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235348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 2013 - 2022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 2013 - 2022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5671</TotalTime>
  <Words>570</Words>
  <Application>Microsoft Office PowerPoint</Application>
  <PresentationFormat>Widescreen</PresentationFormat>
  <Paragraphs>74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Arial</vt:lpstr>
      <vt:lpstr>Calibri</vt:lpstr>
      <vt:lpstr>Calibri Light</vt:lpstr>
      <vt:lpstr>Roboto</vt:lpstr>
      <vt:lpstr>Roboto Medium</vt:lpstr>
      <vt:lpstr>Wingdings</vt:lpstr>
      <vt:lpstr>Office Theme 2013 - 2022</vt:lpstr>
      <vt:lpstr>Hanwha Vision  17th Mar’25 – 31st Mar’25</vt:lpstr>
      <vt:lpstr>Meeting Participants</vt:lpstr>
      <vt:lpstr>Parth Jotangiya - Highlights of the work done in two weeks</vt:lpstr>
      <vt:lpstr>Parth Jotangiya - Highlights of the work done in two weeks</vt:lpstr>
      <vt:lpstr>Parth Jotangiya - Roadblocks / issues if any </vt:lpstr>
      <vt:lpstr>Parth Jotangiya - Improvement Points Identified</vt:lpstr>
      <vt:lpstr>Parth Jotangiya - Any New Problem Statement Seen / Identified * If any</vt:lpstr>
      <vt:lpstr>Parth Jotangiya - Achievements/Extra mile of the week * if any</vt:lpstr>
      <vt:lpstr>Thank You For  Your Time &amp; Attention!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 Your IT Partner  We Have The Right SPEC</dc:title>
  <dc:creator>Amar Chuhan</dc:creator>
  <cp:lastModifiedBy>Parth Jotangiya</cp:lastModifiedBy>
  <cp:revision>485</cp:revision>
  <dcterms:created xsi:type="dcterms:W3CDTF">2023-01-02T08:33:04Z</dcterms:created>
  <dcterms:modified xsi:type="dcterms:W3CDTF">2025-04-07T07:09:24Z</dcterms:modified>
</cp:coreProperties>
</file>