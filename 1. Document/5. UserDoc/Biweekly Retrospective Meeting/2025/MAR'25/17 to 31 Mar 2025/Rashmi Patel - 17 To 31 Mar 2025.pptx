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</p:sldIdLst>
  <p:sldSz cx="12192000" cy="6858000"/>
  <p:notesSz cx="77724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D718C22-B7B3-4A31-B709-0FA4340FB590}" type="slidenum">
              <a:rPr/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5502149-6058-4FA8-AD85-200AA51B3DFE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DC37CC97-4A31-4FDD-854B-8884E35206E0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2EB14A2-D9EB-4969-9B85-B02B30016633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0F5990E2-A48C-4718-A359-9A92F1A6AE84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BD5B5AB4-5FBC-4ECB-BE25-445D3C758566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4A4DF639-E66D-40BE-8F59-4F34F24F9AAB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F2A2F5E3-38A8-41D6-ACEF-B388CCBC96C7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C84445B0-F808-4BA6-8E38-C03EF73A021D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48917BFC-CD6D-4FEF-A96B-552401530C08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A28821B6-54AF-42A6-96CA-0729E00E46FF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F131BDA-5968-4DD3-89CF-AA1D84DF51C3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249EE20-467B-4F36-8166-EF5D87A9CD97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2FC600A-296E-4DE4-9A21-FA00DB48234D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80E86F7-1421-461E-8F77-E2308D344D71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/>
    <p:bodyStyle/>
    <p:otherStyle/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672D711-C54F-4A3F-A78A-FB99DD6EF3FE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/>
    <p:bodyStyle/>
    <p:otherStyle/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6515A6B-F016-4039-853C-C68D27A8D728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/>
    <p:bodyStyle/>
    <p:otherStyle/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5832A51-C04C-4299-9175-168D307DA318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/>
    <p:bodyStyle/>
    <p:otherStyle/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78EE735-5DA2-4162-9377-85B6B008D140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/>
    <p:bodyStyle/>
    <p:otherStyle/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5E0DDA1-1A20-4066-A9AE-44F61DFD30C7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/>
    <p:bodyStyle/>
    <p:otherStyle/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3EA0A38-2B10-42BD-9A5E-D214946C1B7B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/>
    <p:bodyStyle/>
    <p:otherStyle/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886DB7A-67EA-4DDA-B8F6-67A3F84C3579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spec-india.com/" TargetMode="Externa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hyperlink" Target="https://www.glassdoor.co.in/Reviews/SPEC-INDIA-Reviews-E688018.htm" TargetMode="External"/><Relationship Id="rId26" Type="http://schemas.openxmlformats.org/officeDocument/2006/relationships/hyperlink" Target="https://www.linkedin.com/company/spec-india/mycompany/" TargetMode="External"/><Relationship Id="rId3" Type="http://schemas.openxmlformats.org/officeDocument/2006/relationships/image" Target="../media/image2.emf"/><Relationship Id="rId21" Type="http://schemas.openxmlformats.org/officeDocument/2006/relationships/image" Target="../media/image14.png"/><Relationship Id="rId7" Type="http://schemas.openxmlformats.org/officeDocument/2006/relationships/image" Target="../media/image7.emf"/><Relationship Id="rId12" Type="http://schemas.openxmlformats.org/officeDocument/2006/relationships/hyperlink" Target="https://www.goodfirms.co/company/spec-india" TargetMode="Externa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1.png"/><Relationship Id="rId2" Type="http://schemas.openxmlformats.org/officeDocument/2006/relationships/image" Target="../media/image1.emf"/><Relationship Id="rId16" Type="http://schemas.openxmlformats.org/officeDocument/2006/relationships/hyperlink" Target="https://www.ambitionbox.com/reviews/spec-india-reviews" TargetMode="External"/><Relationship Id="rId20" Type="http://schemas.openxmlformats.org/officeDocument/2006/relationships/hyperlink" Target="https://www.behance.net/specindia" TargetMode="Externa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emf"/><Relationship Id="rId11" Type="http://schemas.openxmlformats.org/officeDocument/2006/relationships/image" Target="../media/image9.png"/><Relationship Id="rId24" Type="http://schemas.openxmlformats.org/officeDocument/2006/relationships/hyperlink" Target="https://www.facebook.com/SPECINDIA.IT" TargetMode="External"/><Relationship Id="rId32" Type="http://schemas.openxmlformats.org/officeDocument/2006/relationships/hyperlink" Target="https://www.instagram.com/spec_india" TargetMode="External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hyperlink" Target="https://twitter.com/infospec_india" TargetMode="External"/><Relationship Id="rId10" Type="http://schemas.openxmlformats.org/officeDocument/2006/relationships/hyperlink" Target="https://clutch.co/profile/spec-india" TargetMode="External"/><Relationship Id="rId19" Type="http://schemas.openxmlformats.org/officeDocument/2006/relationships/image" Target="../media/image13.png"/><Relationship Id="rId31" Type="http://schemas.openxmlformats.org/officeDocument/2006/relationships/image" Target="../media/image20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hyperlink" Target="https://g.page/r/CRApINeFYBWKEAE" TargetMode="External"/><Relationship Id="rId22" Type="http://schemas.openxmlformats.org/officeDocument/2006/relationships/hyperlink" Target="https://dribbble.com/specindia" TargetMode="External"/><Relationship Id="rId27" Type="http://schemas.openxmlformats.org/officeDocument/2006/relationships/image" Target="../media/image17.png"/><Relationship Id="rId30" Type="http://schemas.openxmlformats.org/officeDocument/2006/relationships/image" Target="../media/image19.png"/><Relationship Id="rId8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19"/>
          <p:cNvPicPr/>
          <p:nvPr/>
        </p:nvPicPr>
        <p:blipFill>
          <a:blip r:embed="rId2"/>
          <a:stretch>
            <a:fillRect/>
          </a:stretch>
        </p:blipFill>
        <p:spPr>
          <a:xfrm>
            <a:off x="178200" y="-228600"/>
            <a:ext cx="6679440" cy="6222240"/>
          </a:xfrm>
          <a:prstGeom prst="rect">
            <a:avLst/>
          </a:prstGeom>
          <a:ln w="0">
            <a:noFill/>
          </a:ln>
        </p:spPr>
      </p:pic>
      <p:pic>
        <p:nvPicPr>
          <p:cNvPr id="50" name="Picture 8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5079960"/>
            <a:ext cx="12191400" cy="1777320"/>
          </a:xfrm>
          <a:prstGeom prst="rect">
            <a:avLst/>
          </a:prstGeom>
          <a:ln w="0">
            <a:noFill/>
          </a:ln>
        </p:spPr>
      </p:pic>
      <p:pic>
        <p:nvPicPr>
          <p:cNvPr id="51" name="Picture 7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2031840"/>
            <a:ext cx="12191400" cy="4825440"/>
          </a:xfrm>
          <a:prstGeom prst="rect">
            <a:avLst/>
          </a:prstGeom>
          <a:ln w="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64680" y="1778040"/>
            <a:ext cx="4807080" cy="96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000" b="1" strike="noStrike" spc="7" dirty="0">
                <a:solidFill>
                  <a:schemeClr val="dk1">
                    <a:lumMod val="85000"/>
                    <a:lumOff val="15000"/>
                  </a:schemeClr>
                </a:solidFill>
                <a:latin typeface="Roboto"/>
                <a:ea typeface="Roboto"/>
              </a:rPr>
              <a:t>Hanwha Vision   </a:t>
            </a:r>
            <a:br>
              <a:rPr sz="3000" dirty="0"/>
            </a:br>
            <a:r>
              <a:rPr lang="en-US" sz="3000" b="1" strike="noStrike" spc="7" dirty="0">
                <a:solidFill>
                  <a:schemeClr val="dk1">
                    <a:lumMod val="85000"/>
                    <a:lumOff val="15000"/>
                  </a:schemeClr>
                </a:solidFill>
                <a:latin typeface="Roboto"/>
                <a:ea typeface="Roboto"/>
              </a:rPr>
              <a:t>17th Mar’25 – 31st Mar’25</a:t>
            </a:r>
            <a:endParaRPr lang="en-US" sz="3000" b="0" strike="noStrike" spc="-1" dirty="0">
              <a:solidFill>
                <a:srgbClr val="FFFFFF"/>
              </a:solidFill>
              <a:latin typeface="Arial" panose="020B0604020202020204"/>
            </a:endParaRPr>
          </a:p>
        </p:txBody>
      </p:sp>
      <p:cxnSp>
        <p:nvCxnSpPr>
          <p:cNvPr id="53" name="Straight Connector 6"/>
          <p:cNvCxnSpPr/>
          <p:nvPr/>
        </p:nvCxnSpPr>
        <p:spPr>
          <a:xfrm>
            <a:off x="364320" y="2859480"/>
            <a:ext cx="4953960" cy="720"/>
          </a:xfrm>
          <a:prstGeom prst="straightConnector1">
            <a:avLst/>
          </a:prstGeom>
          <a:ln w="25400">
            <a:solidFill>
              <a:srgbClr val="65BB35"/>
            </a:solidFill>
            <a:round/>
          </a:ln>
        </p:spPr>
      </p:cxnSp>
      <p:pic>
        <p:nvPicPr>
          <p:cNvPr id="54" name="Picture 24"/>
          <p:cNvPicPr/>
          <p:nvPr/>
        </p:nvPicPr>
        <p:blipFill>
          <a:blip r:embed="rId5"/>
          <a:stretch>
            <a:fillRect/>
          </a:stretch>
        </p:blipFill>
        <p:spPr>
          <a:xfrm>
            <a:off x="9562680" y="377280"/>
            <a:ext cx="2171160" cy="1015200"/>
          </a:xfrm>
          <a:prstGeom prst="rect">
            <a:avLst/>
          </a:prstGeom>
          <a:ln w="0">
            <a:noFill/>
          </a:ln>
        </p:spPr>
      </p:pic>
      <p:pic>
        <p:nvPicPr>
          <p:cNvPr id="55" name="Picture 4">
            <a:hlinkClick r:id="rId6"/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524880" y="611280"/>
            <a:ext cx="1777320" cy="532800"/>
          </a:xfrm>
          <a:prstGeom prst="rect">
            <a:avLst/>
          </a:prstGeom>
          <a:ln w="0">
            <a:noFill/>
          </a:ln>
        </p:spPr>
      </p:pic>
      <p:sp>
        <p:nvSpPr>
          <p:cNvPr id="56" name="Title 1"/>
          <p:cNvSpPr/>
          <p:nvPr/>
        </p:nvSpPr>
        <p:spPr>
          <a:xfrm>
            <a:off x="3657600" y="2921040"/>
            <a:ext cx="1718640" cy="380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en-US" sz="2000" b="1" strike="noStrike" spc="7">
                <a:solidFill>
                  <a:srgbClr val="7030A0"/>
                </a:solidFill>
                <a:latin typeface="Roboto"/>
                <a:ea typeface="Roboto"/>
              </a:rPr>
              <a:t>Rashmi Patel</a:t>
            </a:r>
            <a:endParaRPr lang="en-US" sz="20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4"/>
          <p:cNvSpPr/>
          <p:nvPr/>
        </p:nvSpPr>
        <p:spPr>
          <a:xfrm>
            <a:off x="335880" y="380880"/>
            <a:ext cx="11519280" cy="63432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rgbClr val="65BB35"/>
              </a:solidFill>
              <a:latin typeface="Calibri" panose="020F0502020204030204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7477920" cy="114480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lt1"/>
                </a:solidFill>
                <a:latin typeface="Roboto"/>
                <a:ea typeface="Roboto"/>
              </a:rPr>
              <a:t>Meeting Participants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59" name="Straight Connector 8"/>
          <p:cNvCxnSpPr/>
          <p:nvPr/>
        </p:nvCxnSpPr>
        <p:spPr>
          <a:xfrm>
            <a:off x="335880" y="6222960"/>
            <a:ext cx="11520720" cy="72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60" name="TextBox 12"/>
          <p:cNvSpPr/>
          <p:nvPr/>
        </p:nvSpPr>
        <p:spPr>
          <a:xfrm>
            <a:off x="326880" y="6380280"/>
            <a:ext cx="4064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strike="noStrike" spc="7">
                <a:solidFill>
                  <a:schemeClr val="lt1">
                    <a:lumMod val="65000"/>
                  </a:schemeClr>
                </a:solidFill>
                <a:latin typeface="Roboto"/>
                <a:ea typeface="Roboto"/>
              </a:rPr>
              <a:t>04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1" name="Rectangle 7"/>
          <p:cNvSpPr/>
          <p:nvPr/>
        </p:nvSpPr>
        <p:spPr>
          <a:xfrm>
            <a:off x="335880" y="380880"/>
            <a:ext cx="111960" cy="63432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 panose="020F0502020204030204"/>
            </a:endParaRPr>
          </a:p>
        </p:txBody>
      </p:sp>
      <p:pic>
        <p:nvPicPr>
          <p:cNvPr id="62" name="Picture 16"/>
          <p:cNvPicPr/>
          <p:nvPr/>
        </p:nvPicPr>
        <p:blipFill>
          <a:blip r:embed="rId2"/>
          <a:stretch>
            <a:fillRect/>
          </a:stretch>
        </p:blipFill>
        <p:spPr>
          <a:xfrm>
            <a:off x="10849320" y="6380280"/>
            <a:ext cx="1005840" cy="301320"/>
          </a:xfrm>
          <a:prstGeom prst="rect">
            <a:avLst/>
          </a:prstGeom>
          <a:ln w="0">
            <a:noFill/>
          </a:ln>
        </p:spPr>
      </p:pic>
      <p:sp>
        <p:nvSpPr>
          <p:cNvPr id="63" name="Subtitle 2"/>
          <p:cNvSpPr/>
          <p:nvPr/>
        </p:nvSpPr>
        <p:spPr>
          <a:xfrm>
            <a:off x="4835880" y="6443640"/>
            <a:ext cx="2519280" cy="19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1400" b="0" u="sng" strike="noStrike" spc="7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4" name="TextBox 5"/>
          <p:cNvSpPr/>
          <p:nvPr/>
        </p:nvSpPr>
        <p:spPr>
          <a:xfrm>
            <a:off x="448560" y="1270800"/>
            <a:ext cx="8213400" cy="2584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2900" indent="-342900" defTabSz="914400">
              <a:lnSpc>
                <a:spcPct val="130000"/>
              </a:lnSpc>
              <a:buClr>
                <a:srgbClr val="000000"/>
              </a:buClr>
              <a:buFont typeface="Calibri Light" panose="020F0302020204030204"/>
              <a:buAutoNum type="arabicPeriod"/>
            </a:pPr>
            <a:r>
              <a:rPr lang="en-US" sz="1800" b="1" strike="noStrike" spc="-1">
                <a:solidFill>
                  <a:schemeClr val="dk1"/>
                </a:solidFill>
                <a:latin typeface="Calibri" panose="020F0502020204030204"/>
                <a:ea typeface="Roboto Medium"/>
              </a:rPr>
              <a:t>Parth Jotangiya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 defTabSz="914400">
              <a:lnSpc>
                <a:spcPct val="130000"/>
              </a:lnSpc>
              <a:buClr>
                <a:srgbClr val="000000"/>
              </a:buClr>
              <a:buFont typeface="Calibri Light" panose="020F0302020204030204"/>
              <a:buAutoNum type="arabicPeriod"/>
            </a:pPr>
            <a:r>
              <a:rPr lang="en-US" sz="1800" b="1" strike="noStrike" spc="-1">
                <a:solidFill>
                  <a:schemeClr val="dk1"/>
                </a:solidFill>
                <a:latin typeface="Calibri" panose="020F0502020204030204"/>
                <a:ea typeface="Roboto Medium"/>
              </a:rPr>
              <a:t>Jayendra Makvana 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 defTabSz="914400">
              <a:lnSpc>
                <a:spcPct val="130000"/>
              </a:lnSpc>
              <a:buClr>
                <a:srgbClr val="000000"/>
              </a:buClr>
              <a:buFont typeface="Calibri Light" panose="020F0302020204030204"/>
              <a:buAutoNum type="arabicPeriod"/>
            </a:pPr>
            <a:r>
              <a:rPr lang="en-US" sz="1800" b="1" strike="noStrike" spc="-1">
                <a:solidFill>
                  <a:schemeClr val="dk1"/>
                </a:solidFill>
                <a:latin typeface="Calibri" panose="020F0502020204030204"/>
                <a:ea typeface="Roboto Medium"/>
              </a:rPr>
              <a:t>Adnan Mansuri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 defTabSz="914400">
              <a:lnSpc>
                <a:spcPct val="130000"/>
              </a:lnSpc>
              <a:buClr>
                <a:srgbClr val="000000"/>
              </a:buClr>
              <a:buFont typeface="Calibri Light" panose="020F0302020204030204"/>
              <a:buAutoNum type="arabicPeriod"/>
            </a:pPr>
            <a:r>
              <a:rPr lang="en-US" sz="1800" b="1" strike="noStrike" spc="-1">
                <a:solidFill>
                  <a:schemeClr val="dk1"/>
                </a:solidFill>
                <a:latin typeface="Calibri" panose="020F0502020204030204"/>
                <a:ea typeface="Roboto Medium"/>
              </a:rPr>
              <a:t>Dhwanil Solanky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 defTabSz="914400">
              <a:lnSpc>
                <a:spcPct val="130000"/>
              </a:lnSpc>
              <a:buClr>
                <a:srgbClr val="000000"/>
              </a:buClr>
              <a:buFont typeface="Calibri Light" panose="020F0302020204030204"/>
              <a:buAutoNum type="arabicPeriod"/>
            </a:pPr>
            <a:r>
              <a:rPr lang="en-US" sz="1800" b="1" strike="noStrike" spc="-1">
                <a:solidFill>
                  <a:schemeClr val="dk1"/>
                </a:solidFill>
                <a:latin typeface="Calibri" panose="020F0502020204030204"/>
                <a:ea typeface="Roboto Medium"/>
              </a:rPr>
              <a:t>Hiten Parmar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 defTabSz="914400">
              <a:lnSpc>
                <a:spcPct val="130000"/>
              </a:lnSpc>
              <a:buClr>
                <a:srgbClr val="000000"/>
              </a:buClr>
              <a:buFont typeface="Calibri Light" panose="020F0302020204030204"/>
              <a:buAutoNum type="arabicPeriod"/>
            </a:pPr>
            <a:r>
              <a:rPr lang="en-US" sz="1800" b="1" strike="noStrike" spc="-1">
                <a:solidFill>
                  <a:schemeClr val="dk1"/>
                </a:solidFill>
                <a:latin typeface="Calibri" panose="020F0502020204030204"/>
                <a:ea typeface="Roboto Medium"/>
              </a:rPr>
              <a:t>Rashmi Patel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 defTabSz="914400">
              <a:lnSpc>
                <a:spcPct val="130000"/>
              </a:lnSpc>
              <a:buClr>
                <a:srgbClr val="000000"/>
              </a:buClr>
              <a:buFont typeface="Calibri Light" panose="020F0302020204030204"/>
              <a:buAutoNum type="arabicPeriod"/>
            </a:pPr>
            <a:r>
              <a:rPr lang="en-US" sz="1800" b="1" strike="noStrike" spc="-1">
                <a:solidFill>
                  <a:schemeClr val="dk1"/>
                </a:solidFill>
                <a:latin typeface="Calibri" panose="020F0502020204030204"/>
                <a:ea typeface="Roboto Medium"/>
              </a:rPr>
              <a:t>Hasti Kaneriya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4"/>
          <p:cNvSpPr/>
          <p:nvPr/>
        </p:nvSpPr>
        <p:spPr>
          <a:xfrm>
            <a:off x="335880" y="380880"/>
            <a:ext cx="11519280" cy="63432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rgbClr val="65BB35"/>
              </a:solidFill>
              <a:latin typeface="Calibri" panose="020F0502020204030204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1154240" cy="114480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lt1"/>
                </a:solidFill>
                <a:latin typeface="Roboto"/>
                <a:ea typeface="Roboto"/>
              </a:rPr>
              <a:t>Rashmi Patel - Highlights of the work done in two weeks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67" name="Straight Connector 8"/>
          <p:cNvCxnSpPr/>
          <p:nvPr/>
        </p:nvCxnSpPr>
        <p:spPr>
          <a:xfrm>
            <a:off x="335880" y="6222960"/>
            <a:ext cx="11520720" cy="72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68" name="TextBox 12"/>
          <p:cNvSpPr/>
          <p:nvPr/>
        </p:nvSpPr>
        <p:spPr>
          <a:xfrm>
            <a:off x="326880" y="6380280"/>
            <a:ext cx="4064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strike="noStrike" spc="7">
                <a:solidFill>
                  <a:schemeClr val="lt1">
                    <a:lumMod val="65000"/>
                  </a:schemeClr>
                </a:solidFill>
                <a:latin typeface="Roboto"/>
                <a:ea typeface="Roboto"/>
              </a:rPr>
              <a:t>04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9" name="Rectangle 7"/>
          <p:cNvSpPr/>
          <p:nvPr/>
        </p:nvSpPr>
        <p:spPr>
          <a:xfrm>
            <a:off x="335880" y="380880"/>
            <a:ext cx="111960" cy="63432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 panose="020F0502020204030204"/>
            </a:endParaRPr>
          </a:p>
        </p:txBody>
      </p:sp>
      <p:pic>
        <p:nvPicPr>
          <p:cNvPr id="70" name="Picture 16"/>
          <p:cNvPicPr/>
          <p:nvPr/>
        </p:nvPicPr>
        <p:blipFill>
          <a:blip r:embed="rId2"/>
          <a:stretch>
            <a:fillRect/>
          </a:stretch>
        </p:blipFill>
        <p:spPr>
          <a:xfrm>
            <a:off x="10849320" y="6380280"/>
            <a:ext cx="1005840" cy="301320"/>
          </a:xfrm>
          <a:prstGeom prst="rect">
            <a:avLst/>
          </a:prstGeom>
          <a:ln w="0">
            <a:noFill/>
          </a:ln>
        </p:spPr>
      </p:pic>
      <p:sp>
        <p:nvSpPr>
          <p:cNvPr id="71" name="Subtitle 2"/>
          <p:cNvSpPr/>
          <p:nvPr/>
        </p:nvSpPr>
        <p:spPr>
          <a:xfrm>
            <a:off x="4835880" y="6443640"/>
            <a:ext cx="2519280" cy="19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1400" b="0" u="sng" strike="noStrike" spc="7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2" name="TextBox 5"/>
          <p:cNvSpPr/>
          <p:nvPr/>
        </p:nvSpPr>
        <p:spPr>
          <a:xfrm>
            <a:off x="448560" y="1015920"/>
            <a:ext cx="11406600" cy="547497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750" indent="-285750" defTabSz="914400">
              <a:lnSpc>
                <a:spcPct val="200000"/>
              </a:lnSpc>
              <a:buClr>
                <a:srgbClr val="000000"/>
              </a:buClr>
              <a:buFont typeface="Wingdings" panose="05000000000000000000" pitchFamily="2" charset="2"/>
              <a:buChar char=""/>
            </a:pPr>
            <a:r>
              <a:rPr lang="en-US" sz="1400" b="1" strike="noStrike" spc="-1">
                <a:solidFill>
                  <a:srgbClr val="000000"/>
                </a:solidFill>
                <a:latin typeface="Calibri" panose="020F0502020204030204"/>
              </a:rPr>
              <a:t>Front end development of Hanwha Application:</a:t>
            </a:r>
          </a:p>
          <a:p>
            <a:pPr indent="0" defTabSz="914400">
              <a:lnSpc>
                <a:spcPct val="200000"/>
              </a:lnSpc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</a:rPr>
              <a:t> Admin App:</a:t>
            </a:r>
          </a:p>
          <a:p>
            <a:pPr marL="285750" indent="-285750" defTabSz="914400">
              <a:lnSpc>
                <a:spcPct val="150000"/>
              </a:lnSpc>
              <a:buClr>
                <a:srgbClr val="000000"/>
              </a:buClr>
              <a:buFont typeface="Wingdings" panose="05000000000000000000" pitchFamily="2" charset="2"/>
              <a:buChar char=""/>
            </a:pPr>
            <a:r>
              <a:rPr lang="en-US" sz="1400" b="0" strike="noStrike" spc="-1">
                <a:solidFill>
                  <a:srgbClr val="000000"/>
                </a:solidFill>
                <a:latin typeface="Calibri" panose="020F0502020204030204"/>
              </a:rPr>
              <a:t>Made changes in the Generate and Upgrade License validation.</a:t>
            </a:r>
          </a:p>
          <a:p>
            <a:pPr marL="285750" indent="-285750" defTabSz="914400">
              <a:lnSpc>
                <a:spcPct val="150000"/>
              </a:lnSpc>
              <a:buClr>
                <a:srgbClr val="000000"/>
              </a:buClr>
              <a:buFont typeface="Wingdings" panose="05000000000000000000" pitchFamily="2" charset="2"/>
              <a:buChar char=""/>
            </a:pPr>
            <a:r>
              <a:rPr lang="en-US" sz="1400" b="0" strike="noStrike" spc="-1">
                <a:solidFill>
                  <a:srgbClr val="000000"/>
                </a:solidFill>
                <a:latin typeface="Calibri" panose="020F0502020204030204"/>
              </a:rPr>
              <a:t>Implemented an OTP screen that appears when the email is changed while updating a user.</a:t>
            </a:r>
          </a:p>
          <a:p>
            <a:pPr marL="285750" indent="-285750" defTabSz="914400">
              <a:lnSpc>
                <a:spcPct val="150000"/>
              </a:lnSpc>
              <a:buClr>
                <a:srgbClr val="000000"/>
              </a:buClr>
              <a:buFont typeface="Wingdings" panose="05000000000000000000" pitchFamily="2" charset="2"/>
              <a:buChar char=""/>
            </a:pPr>
            <a:r>
              <a:rPr lang="en-US" sz="1400" b="0" strike="noStrike" spc="-1">
                <a:solidFill>
                  <a:srgbClr val="000000"/>
                </a:solidFill>
                <a:latin typeface="Calibri" panose="020F0502020204030204"/>
              </a:rPr>
              <a:t>Fixed an identified bug in the License Application and deployed it on the IIS server.</a:t>
            </a:r>
          </a:p>
          <a:p>
            <a:pPr marL="285750" indent="-285750" defTabSz="914400">
              <a:lnSpc>
                <a:spcPct val="150000"/>
              </a:lnSpc>
              <a:buClr>
                <a:srgbClr val="000000"/>
              </a:buClr>
              <a:buFont typeface="Wingdings" panose="05000000000000000000" pitchFamily="2" charset="2"/>
              <a:buChar char=""/>
            </a:pPr>
            <a:r>
              <a:rPr lang="en-US" sz="1400" b="0" strike="noStrike" spc="-1">
                <a:solidFill>
                  <a:srgbClr val="000000"/>
                </a:solidFill>
                <a:latin typeface="Calibri" panose="020F0502020204030204"/>
              </a:rPr>
              <a:t>Resolved CSS issues with the Designer in the License Application.</a:t>
            </a:r>
          </a:p>
          <a:p>
            <a:pPr marL="285750" indent="-285750" defTabSz="914400">
              <a:lnSpc>
                <a:spcPct val="150000"/>
              </a:lnSpc>
              <a:buClr>
                <a:srgbClr val="000000"/>
              </a:buClr>
              <a:buFont typeface="Wingdings" panose="05000000000000000000" pitchFamily="2" charset="2"/>
              <a:buChar char=""/>
            </a:pPr>
            <a:r>
              <a:rPr lang="en-US" sz="1400" b="0" strike="noStrike" spc="-1">
                <a:solidFill>
                  <a:srgbClr val="000000"/>
                </a:solidFill>
                <a:latin typeface="Calibri" panose="020F0502020204030204"/>
              </a:rPr>
              <a:t>Added a Welcome page after a successful login.</a:t>
            </a:r>
          </a:p>
          <a:p>
            <a:pPr indent="0" defTabSz="914400">
              <a:lnSpc>
                <a:spcPct val="150000"/>
              </a:lnSpc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 sz="1400" b="1" spc="-1">
                <a:solidFill>
                  <a:srgbClr val="000000"/>
                </a:solidFill>
                <a:latin typeface="Arial" panose="020B0604020202020204"/>
                <a:sym typeface="+mn-ea"/>
              </a:rPr>
              <a:t> Client App:</a:t>
            </a:r>
          </a:p>
          <a:p>
            <a:pPr marL="285750" indent="-285750" defTabSz="914400">
              <a:lnSpc>
                <a:spcPct val="150000"/>
              </a:lnSpc>
              <a:buClr>
                <a:srgbClr val="000000"/>
              </a:buClr>
              <a:buFont typeface="Wingdings" panose="05000000000000000000" charset="0"/>
              <a:buChar char="§"/>
            </a:pPr>
            <a:r>
              <a:rPr lang="en-US" sz="1400" spc="-1">
                <a:solidFill>
                  <a:srgbClr val="000000"/>
                </a:solidFill>
                <a:latin typeface="Arial" panose="020B0604020202020204"/>
                <a:sym typeface="+mn-ea"/>
              </a:rPr>
              <a:t>Read the API documentation and conducted R&amp;D on live video streaming.</a:t>
            </a:r>
          </a:p>
          <a:p>
            <a:pPr marL="285750" indent="-285750" defTabSz="914400">
              <a:lnSpc>
                <a:spcPct val="150000"/>
              </a:lnSpc>
              <a:buClr>
                <a:srgbClr val="000000"/>
              </a:buClr>
              <a:buFont typeface="Wingdings" panose="05000000000000000000" charset="0"/>
              <a:buChar char="§"/>
            </a:pPr>
            <a:r>
              <a:rPr lang="en-US" sz="1400" spc="-1">
                <a:solidFill>
                  <a:srgbClr val="000000"/>
                </a:solidFill>
                <a:latin typeface="Arial" panose="020B0604020202020204"/>
                <a:sym typeface="+mn-ea"/>
              </a:rPr>
              <a:t>Created a demo of live video streaming using the MJPEG URL of the installed camera in the spec house.</a:t>
            </a:r>
          </a:p>
          <a:p>
            <a:pPr marL="285750" indent="-285750" defTabSz="914400">
              <a:lnSpc>
                <a:spcPct val="150000"/>
              </a:lnSpc>
              <a:buClr>
                <a:srgbClr val="000000"/>
              </a:buClr>
              <a:buFont typeface="Wingdings" panose="05000000000000000000" charset="0"/>
              <a:buChar char="§"/>
            </a:pPr>
            <a:r>
              <a:rPr lang="en-US" sz="1400" spc="-1">
                <a:solidFill>
                  <a:srgbClr val="000000"/>
                </a:solidFill>
                <a:latin typeface="Arial" panose="020B0604020202020204"/>
                <a:sym typeface="+mn-ea"/>
              </a:rPr>
              <a:t>Conducted R&amp;D on the Tree View feature in the MUI Grid and created a demo for it.</a:t>
            </a:r>
          </a:p>
          <a:p>
            <a:pPr marL="285750" indent="-285750" defTabSz="914400">
              <a:lnSpc>
                <a:spcPct val="150000"/>
              </a:lnSpc>
              <a:buClr>
                <a:srgbClr val="000000"/>
              </a:buClr>
              <a:buFont typeface="Wingdings" panose="05000000000000000000" charset="0"/>
              <a:buChar char="§"/>
            </a:pPr>
            <a:r>
              <a:rPr lang="en-US" sz="1400" spc="-1">
                <a:solidFill>
                  <a:srgbClr val="000000"/>
                </a:solidFill>
                <a:latin typeface="Arial" panose="020B0604020202020204"/>
                <a:sym typeface="+mn-ea"/>
              </a:rPr>
              <a:t>Developed a Tree Table demo as per the Figma design using React's Ant Design library.</a:t>
            </a:r>
          </a:p>
          <a:p>
            <a:pPr marL="285750" indent="-285750" defTabSz="914400">
              <a:lnSpc>
                <a:spcPct val="150000"/>
              </a:lnSpc>
              <a:buClr>
                <a:srgbClr val="000000"/>
              </a:buClr>
              <a:buFont typeface="Wingdings" panose="05000000000000000000" charset="0"/>
              <a:buChar char="§"/>
            </a:pPr>
            <a:r>
              <a:rPr lang="en-US" sz="1400" spc="-1">
                <a:solidFill>
                  <a:srgbClr val="000000"/>
                </a:solidFill>
                <a:latin typeface="Arial" panose="020B0604020202020204"/>
                <a:sym typeface="+mn-ea"/>
              </a:rPr>
              <a:t>Worked on the Multisite Setup screen.</a:t>
            </a:r>
          </a:p>
          <a:p>
            <a:pPr marL="285750" indent="-285750" defTabSz="914400">
              <a:lnSpc>
                <a:spcPct val="150000"/>
              </a:lnSpc>
              <a:buClr>
                <a:srgbClr val="000000"/>
              </a:buClr>
              <a:buFont typeface="Wingdings" panose="05000000000000000000" charset="0"/>
              <a:buChar char="§"/>
            </a:pPr>
            <a:r>
              <a:rPr lang="en-US" sz="1400" spc="-1">
                <a:solidFill>
                  <a:srgbClr val="000000"/>
                </a:solidFill>
                <a:latin typeface="Arial" panose="020B0604020202020204"/>
                <a:sym typeface="+mn-ea"/>
              </a:rPr>
              <a:t>Bound the Sites in the header for the Select Site dropdown.</a:t>
            </a:r>
          </a:p>
          <a:p>
            <a:pPr marL="285750" indent="-285750" defTabSz="914400">
              <a:lnSpc>
                <a:spcPct val="150000"/>
              </a:lnSpc>
              <a:buClr>
                <a:srgbClr val="000000"/>
              </a:buClr>
              <a:buFont typeface="Wingdings" panose="05000000000000000000" charset="0"/>
              <a:buChar char="§"/>
            </a:pPr>
            <a:r>
              <a:rPr lang="en-US" sz="1400" spc="-1">
                <a:solidFill>
                  <a:srgbClr val="000000"/>
                </a:solidFill>
                <a:latin typeface="Arial" panose="020B0604020202020204"/>
                <a:sym typeface="+mn-ea"/>
              </a:rPr>
              <a:t>Developed a Camera Online/Offline widget.</a:t>
            </a:r>
          </a:p>
          <a:p>
            <a:pPr marL="285750" indent="-285750" defTabSz="914400">
              <a:lnSpc>
                <a:spcPct val="150000"/>
              </a:lnSpc>
              <a:buClr>
                <a:srgbClr val="000000"/>
              </a:buClr>
              <a:buFont typeface="Wingdings" panose="05000000000000000000" charset="0"/>
              <a:buChar char="§"/>
            </a:pPr>
            <a:r>
              <a:rPr lang="en-US" sz="1400" spc="-1">
                <a:solidFill>
                  <a:srgbClr val="000000"/>
                </a:solidFill>
                <a:latin typeface="Arial" panose="020B0604020202020204"/>
                <a:sym typeface="+mn-ea"/>
              </a:rPr>
              <a:t>Worked on the Feature Type widget, implementing "1x1" and "2x1" functionalities.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4"/>
          <p:cNvSpPr/>
          <p:nvPr/>
        </p:nvSpPr>
        <p:spPr>
          <a:xfrm>
            <a:off x="335880" y="380880"/>
            <a:ext cx="11519280" cy="63432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rgbClr val="65BB35"/>
              </a:solidFill>
              <a:latin typeface="Calibri" panose="020F0502020204030204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1147400" cy="114480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lt1"/>
                </a:solidFill>
                <a:latin typeface="Roboto"/>
                <a:ea typeface="Roboto"/>
              </a:rPr>
              <a:t>Rashmi Patel - Roadblocks / issues if any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75" name="Straight Connector 8"/>
          <p:cNvCxnSpPr/>
          <p:nvPr/>
        </p:nvCxnSpPr>
        <p:spPr>
          <a:xfrm>
            <a:off x="335880" y="6222960"/>
            <a:ext cx="11520720" cy="72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76" name="TextBox 12"/>
          <p:cNvSpPr/>
          <p:nvPr/>
        </p:nvSpPr>
        <p:spPr>
          <a:xfrm>
            <a:off x="326880" y="6380280"/>
            <a:ext cx="4064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strike="noStrike" spc="7">
                <a:solidFill>
                  <a:schemeClr val="lt1">
                    <a:lumMod val="65000"/>
                  </a:schemeClr>
                </a:solidFill>
                <a:latin typeface="Roboto"/>
                <a:ea typeface="Roboto"/>
              </a:rPr>
              <a:t>04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7" name="Rectangle 7"/>
          <p:cNvSpPr/>
          <p:nvPr/>
        </p:nvSpPr>
        <p:spPr>
          <a:xfrm>
            <a:off x="335880" y="380880"/>
            <a:ext cx="111960" cy="63432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 panose="020F0502020204030204"/>
            </a:endParaRPr>
          </a:p>
        </p:txBody>
      </p:sp>
      <p:pic>
        <p:nvPicPr>
          <p:cNvPr id="78" name="Picture 16"/>
          <p:cNvPicPr/>
          <p:nvPr/>
        </p:nvPicPr>
        <p:blipFill>
          <a:blip r:embed="rId2"/>
          <a:stretch>
            <a:fillRect/>
          </a:stretch>
        </p:blipFill>
        <p:spPr>
          <a:xfrm>
            <a:off x="10849320" y="6380280"/>
            <a:ext cx="1005840" cy="301320"/>
          </a:xfrm>
          <a:prstGeom prst="rect">
            <a:avLst/>
          </a:prstGeom>
          <a:ln w="0">
            <a:noFill/>
          </a:ln>
        </p:spPr>
      </p:pic>
      <p:sp>
        <p:nvSpPr>
          <p:cNvPr id="79" name="Subtitle 2"/>
          <p:cNvSpPr/>
          <p:nvPr/>
        </p:nvSpPr>
        <p:spPr>
          <a:xfrm>
            <a:off x="4835880" y="6443640"/>
            <a:ext cx="2519280" cy="19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1400" b="0" u="sng" strike="noStrike" spc="7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0" name="TextBox 3"/>
          <p:cNvSpPr/>
          <p:nvPr/>
        </p:nvSpPr>
        <p:spPr>
          <a:xfrm>
            <a:off x="448560" y="1236600"/>
            <a:ext cx="11406600" cy="409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750" indent="-285750" defTabSz="914400">
              <a:lnSpc>
                <a:spcPct val="150000"/>
              </a:lnSpc>
              <a:buClr>
                <a:srgbClr val="000000"/>
              </a:buClr>
              <a:buFont typeface="Wingdings" panose="05000000000000000000" pitchFamily="2" charset="2"/>
              <a:buChar char=""/>
            </a:pPr>
            <a:r>
              <a:rPr lang="en-US" sz="1400" b="0" strike="noStrike" spc="-1">
                <a:solidFill>
                  <a:srgbClr val="000000"/>
                </a:solidFill>
                <a:latin typeface="Calibri" panose="020F0502020204030204"/>
              </a:rPr>
              <a:t>Not have any point.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4"/>
          <p:cNvSpPr/>
          <p:nvPr/>
        </p:nvSpPr>
        <p:spPr>
          <a:xfrm>
            <a:off x="335880" y="380880"/>
            <a:ext cx="11519280" cy="63432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rgbClr val="65BB35"/>
              </a:solidFill>
              <a:latin typeface="Calibri" panose="020F0502020204030204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7477920" cy="114480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lt1"/>
                </a:solidFill>
                <a:latin typeface="Roboto"/>
                <a:ea typeface="Roboto"/>
              </a:rPr>
              <a:t>Rashmi Patel - Improvement Points Identified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83" name="Straight Connector 8"/>
          <p:cNvCxnSpPr/>
          <p:nvPr/>
        </p:nvCxnSpPr>
        <p:spPr>
          <a:xfrm>
            <a:off x="335880" y="6222960"/>
            <a:ext cx="11520720" cy="72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84" name="TextBox 12"/>
          <p:cNvSpPr/>
          <p:nvPr/>
        </p:nvSpPr>
        <p:spPr>
          <a:xfrm>
            <a:off x="326880" y="6380280"/>
            <a:ext cx="4064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strike="noStrike" spc="7">
                <a:solidFill>
                  <a:schemeClr val="lt1">
                    <a:lumMod val="65000"/>
                  </a:schemeClr>
                </a:solidFill>
                <a:latin typeface="Roboto"/>
                <a:ea typeface="Roboto"/>
              </a:rPr>
              <a:t>04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5" name="Rectangle 7"/>
          <p:cNvSpPr/>
          <p:nvPr/>
        </p:nvSpPr>
        <p:spPr>
          <a:xfrm>
            <a:off x="335880" y="380880"/>
            <a:ext cx="111960" cy="63432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 panose="020F0502020204030204"/>
            </a:endParaRPr>
          </a:p>
        </p:txBody>
      </p:sp>
      <p:pic>
        <p:nvPicPr>
          <p:cNvPr id="86" name="Picture 16"/>
          <p:cNvPicPr/>
          <p:nvPr/>
        </p:nvPicPr>
        <p:blipFill>
          <a:blip r:embed="rId2"/>
          <a:stretch>
            <a:fillRect/>
          </a:stretch>
        </p:blipFill>
        <p:spPr>
          <a:xfrm>
            <a:off x="10849320" y="6380280"/>
            <a:ext cx="1005840" cy="301320"/>
          </a:xfrm>
          <a:prstGeom prst="rect">
            <a:avLst/>
          </a:prstGeom>
          <a:ln w="0">
            <a:noFill/>
          </a:ln>
        </p:spPr>
      </p:pic>
      <p:sp>
        <p:nvSpPr>
          <p:cNvPr id="87" name="Subtitle 2"/>
          <p:cNvSpPr/>
          <p:nvPr/>
        </p:nvSpPr>
        <p:spPr>
          <a:xfrm>
            <a:off x="4835880" y="6443640"/>
            <a:ext cx="2519280" cy="19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1400" b="0" u="sng" strike="noStrike" spc="7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8" name="TextBox 5"/>
          <p:cNvSpPr/>
          <p:nvPr/>
        </p:nvSpPr>
        <p:spPr>
          <a:xfrm>
            <a:off x="448560" y="1235880"/>
            <a:ext cx="11406600" cy="921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750" indent="-285750" defTabSz="914400">
              <a:lnSpc>
                <a:spcPct val="13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400" b="0" strike="noStrike" spc="-1">
                <a:solidFill>
                  <a:srgbClr val="000000"/>
                </a:solidFill>
                <a:latin typeface="Calibri" panose="020F0502020204030204"/>
                <a:ea typeface="DejaVu Sans" panose="020B0603030804020204"/>
              </a:rPr>
              <a:t>Need to Improve communication skill</a:t>
            </a:r>
            <a:r>
              <a:rPr lang="en-US" sz="1400" b="0" strike="noStrike" spc="-1">
                <a:solidFill>
                  <a:schemeClr val="dk1"/>
                </a:solidFill>
                <a:latin typeface="Roboto"/>
                <a:ea typeface="Roboto"/>
              </a:rPr>
              <a:t>.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 defTabSz="914400">
              <a:lnSpc>
                <a:spcPct val="13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400" b="0" strike="noStrike" spc="-1">
                <a:solidFill>
                  <a:srgbClr val="000000"/>
                </a:solidFill>
                <a:latin typeface="Calibri" panose="020F0502020204030204"/>
                <a:ea typeface="Roboto"/>
              </a:rPr>
              <a:t>Need to improve turn around time (TAT) on the each assigned task. So, that will be helpful for me to complete the responsibilities in timely manner. </a:t>
            </a:r>
            <a:r>
              <a:rPr lang="en-US" sz="1400" b="0" strike="noStrike" spc="-1">
                <a:solidFill>
                  <a:srgbClr val="FF0000"/>
                </a:solidFill>
                <a:highlight>
                  <a:srgbClr val="FFFF00"/>
                </a:highlight>
                <a:latin typeface="Calibri" panose="020F0502020204030204"/>
                <a:ea typeface="Roboto"/>
              </a:rPr>
              <a:t>Most Imp</a:t>
            </a:r>
            <a:r>
              <a:rPr lang="en-US" sz="1400" b="0" strike="noStrike" spc="-1">
                <a:solidFill>
                  <a:srgbClr val="000000"/>
                </a:solidFill>
                <a:latin typeface="Calibri" panose="020F0502020204030204"/>
                <a:ea typeface="Roboto"/>
              </a:rPr>
              <a:t>.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4"/>
          <p:cNvSpPr/>
          <p:nvPr/>
        </p:nvSpPr>
        <p:spPr>
          <a:xfrm>
            <a:off x="335880" y="380880"/>
            <a:ext cx="11519280" cy="63432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rgbClr val="65BB35"/>
              </a:solidFill>
              <a:latin typeface="Calibri" panose="020F0502020204030204"/>
            </a:endParaRPr>
          </a:p>
        </p:txBody>
      </p: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1154240" cy="114480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lt1"/>
                </a:solidFill>
                <a:latin typeface="Roboto"/>
                <a:ea typeface="Roboto"/>
              </a:rPr>
              <a:t>Rashmi Patel - Any New Problem Statement Seen / Identified * If any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91" name="Straight Connector 8"/>
          <p:cNvCxnSpPr/>
          <p:nvPr/>
        </p:nvCxnSpPr>
        <p:spPr>
          <a:xfrm>
            <a:off x="335880" y="6222960"/>
            <a:ext cx="11520720" cy="72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92" name="TextBox 12"/>
          <p:cNvSpPr/>
          <p:nvPr/>
        </p:nvSpPr>
        <p:spPr>
          <a:xfrm>
            <a:off x="326880" y="6380280"/>
            <a:ext cx="4064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strike="noStrike" spc="7">
                <a:solidFill>
                  <a:schemeClr val="lt1">
                    <a:lumMod val="65000"/>
                  </a:schemeClr>
                </a:solidFill>
                <a:latin typeface="Roboto"/>
                <a:ea typeface="Roboto"/>
              </a:rPr>
              <a:t>04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3" name="Rectangle 7"/>
          <p:cNvSpPr/>
          <p:nvPr/>
        </p:nvSpPr>
        <p:spPr>
          <a:xfrm>
            <a:off x="335880" y="380880"/>
            <a:ext cx="111960" cy="63432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 panose="020F0502020204030204"/>
            </a:endParaRPr>
          </a:p>
        </p:txBody>
      </p:sp>
      <p:pic>
        <p:nvPicPr>
          <p:cNvPr id="94" name="Picture 16"/>
          <p:cNvPicPr/>
          <p:nvPr/>
        </p:nvPicPr>
        <p:blipFill>
          <a:blip r:embed="rId2"/>
          <a:stretch>
            <a:fillRect/>
          </a:stretch>
        </p:blipFill>
        <p:spPr>
          <a:xfrm>
            <a:off x="10849320" y="6380280"/>
            <a:ext cx="1005840" cy="301320"/>
          </a:xfrm>
          <a:prstGeom prst="rect">
            <a:avLst/>
          </a:prstGeom>
          <a:ln w="0">
            <a:noFill/>
          </a:ln>
        </p:spPr>
      </p:pic>
      <p:sp>
        <p:nvSpPr>
          <p:cNvPr id="95" name="Subtitle 2"/>
          <p:cNvSpPr/>
          <p:nvPr/>
        </p:nvSpPr>
        <p:spPr>
          <a:xfrm>
            <a:off x="4835880" y="6443640"/>
            <a:ext cx="2519280" cy="19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1400" b="0" u="sng" strike="noStrike" spc="7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6" name="TextBox 5"/>
          <p:cNvSpPr/>
          <p:nvPr/>
        </p:nvSpPr>
        <p:spPr>
          <a:xfrm>
            <a:off x="448560" y="1264680"/>
            <a:ext cx="11068200" cy="366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750" indent="-285750" defTabSz="914400">
              <a:lnSpc>
                <a:spcPct val="13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400" b="0" strike="noStrike" spc="-1">
                <a:solidFill>
                  <a:schemeClr val="dk1"/>
                </a:solidFill>
                <a:latin typeface="Calibri" panose="020F0502020204030204"/>
                <a:ea typeface="Roboto"/>
              </a:rPr>
              <a:t>There is no any problem statement identified yet.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4"/>
          <p:cNvSpPr/>
          <p:nvPr/>
        </p:nvSpPr>
        <p:spPr>
          <a:xfrm>
            <a:off x="335880" y="380880"/>
            <a:ext cx="11519280" cy="63432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rgbClr val="65BB35"/>
              </a:solidFill>
              <a:latin typeface="Calibri" panose="020F0502020204030204"/>
            </a:endParaRPr>
          </a:p>
        </p:txBody>
      </p: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0831680" cy="114480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lt1"/>
                </a:solidFill>
                <a:latin typeface="Roboto"/>
                <a:ea typeface="Roboto"/>
              </a:rPr>
              <a:t>Rashmi Patel - Achievements/Extra mile of the week * if any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99" name="Straight Connector 8"/>
          <p:cNvCxnSpPr/>
          <p:nvPr/>
        </p:nvCxnSpPr>
        <p:spPr>
          <a:xfrm>
            <a:off x="335880" y="6222960"/>
            <a:ext cx="11520720" cy="72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00" name="TextBox 12"/>
          <p:cNvSpPr/>
          <p:nvPr/>
        </p:nvSpPr>
        <p:spPr>
          <a:xfrm>
            <a:off x="326880" y="6380280"/>
            <a:ext cx="4064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strike="noStrike" spc="7">
                <a:solidFill>
                  <a:schemeClr val="lt1">
                    <a:lumMod val="65000"/>
                  </a:schemeClr>
                </a:solidFill>
                <a:latin typeface="Roboto"/>
                <a:ea typeface="Roboto"/>
              </a:rPr>
              <a:t>04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1" name="Rectangle 7"/>
          <p:cNvSpPr/>
          <p:nvPr/>
        </p:nvSpPr>
        <p:spPr>
          <a:xfrm>
            <a:off x="335880" y="380880"/>
            <a:ext cx="111960" cy="63432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 panose="020F0502020204030204"/>
            </a:endParaRPr>
          </a:p>
        </p:txBody>
      </p:sp>
      <p:pic>
        <p:nvPicPr>
          <p:cNvPr id="102" name="Picture 16"/>
          <p:cNvPicPr/>
          <p:nvPr/>
        </p:nvPicPr>
        <p:blipFill>
          <a:blip r:embed="rId2"/>
          <a:stretch>
            <a:fillRect/>
          </a:stretch>
        </p:blipFill>
        <p:spPr>
          <a:xfrm>
            <a:off x="10849320" y="6380280"/>
            <a:ext cx="1005840" cy="301320"/>
          </a:xfrm>
          <a:prstGeom prst="rect">
            <a:avLst/>
          </a:prstGeom>
          <a:ln w="0">
            <a:noFill/>
          </a:ln>
        </p:spPr>
      </p:pic>
      <p:sp>
        <p:nvSpPr>
          <p:cNvPr id="103" name="Subtitle 2"/>
          <p:cNvSpPr/>
          <p:nvPr/>
        </p:nvSpPr>
        <p:spPr>
          <a:xfrm>
            <a:off x="4835880" y="6443640"/>
            <a:ext cx="2519280" cy="19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1400" b="0" u="sng" strike="noStrike" spc="7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" name="TextBox 5"/>
          <p:cNvSpPr/>
          <p:nvPr/>
        </p:nvSpPr>
        <p:spPr>
          <a:xfrm>
            <a:off x="448560" y="1198800"/>
            <a:ext cx="9673560" cy="3683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750" indent="-285750" defTabSz="914400">
              <a:lnSpc>
                <a:spcPct val="130000"/>
              </a:lnSpc>
              <a:buClr>
                <a:srgbClr val="000000"/>
              </a:buClr>
              <a:buFont typeface="Wingdings" panose="05000000000000000000" pitchFamily="2" charset="2"/>
              <a:buChar char=""/>
            </a:pPr>
            <a:r>
              <a:rPr lang="en-US" sz="1400" b="0" strike="noStrike" spc="-1">
                <a:solidFill>
                  <a:schemeClr val="dk1"/>
                </a:solidFill>
                <a:latin typeface="Calibri" panose="020F0502020204030204"/>
              </a:rPr>
              <a:t>There have been no achievements recorded in the last two weeks.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Picture 19"/>
          <p:cNvPicPr/>
          <p:nvPr/>
        </p:nvPicPr>
        <p:blipFill>
          <a:blip r:embed="rId2"/>
          <a:stretch>
            <a:fillRect/>
          </a:stretch>
        </p:blipFill>
        <p:spPr>
          <a:xfrm>
            <a:off x="-18360" y="0"/>
            <a:ext cx="6679440" cy="6222240"/>
          </a:xfrm>
          <a:prstGeom prst="rect">
            <a:avLst/>
          </a:prstGeom>
          <a:ln w="0">
            <a:noFill/>
          </a:ln>
        </p:spPr>
      </p:pic>
      <p:pic>
        <p:nvPicPr>
          <p:cNvPr id="106" name="Picture 8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5079960"/>
            <a:ext cx="12191400" cy="1777320"/>
          </a:xfrm>
          <a:prstGeom prst="rect">
            <a:avLst/>
          </a:prstGeom>
          <a:ln w="0">
            <a:noFill/>
          </a:ln>
        </p:spPr>
      </p:pic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560" y="462960"/>
            <a:ext cx="5222880" cy="1031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3000" b="1" strike="noStrike" spc="7">
                <a:solidFill>
                  <a:srgbClr val="65BB35"/>
                </a:solidFill>
                <a:latin typeface="Roboto"/>
                <a:ea typeface="Roboto"/>
              </a:rPr>
              <a:t>Thank You For </a:t>
            </a:r>
            <a:br>
              <a:rPr sz="3000"/>
            </a:br>
            <a:r>
              <a:rPr lang="en-US" sz="3000" b="1" strike="noStrike" spc="7">
                <a:solidFill>
                  <a:srgbClr val="65BB35"/>
                </a:solidFill>
                <a:latin typeface="Roboto"/>
                <a:ea typeface="Roboto"/>
              </a:rPr>
              <a:t>Your Time &amp; Attention!</a:t>
            </a:r>
            <a:endParaRPr lang="en-US" sz="30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subTitle"/>
          </p:nvPr>
        </p:nvSpPr>
        <p:spPr>
          <a:xfrm>
            <a:off x="457560" y="1756080"/>
            <a:ext cx="5222880" cy="697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7222"/>
          </a:bodyPr>
          <a:lstStyle/>
          <a:p>
            <a:pPr indent="0" defTabSz="914400">
              <a:lnSpc>
                <a:spcPct val="130000"/>
              </a:lnSpc>
              <a:buNone/>
              <a:tabLst>
                <a:tab pos="0" algn="l"/>
              </a:tabLst>
            </a:pPr>
            <a:r>
              <a:rPr lang="en-US" sz="1600" b="0" strike="noStrike" spc="7">
                <a:solidFill>
                  <a:schemeClr val="dk1">
                    <a:lumMod val="85000"/>
                    <a:lumOff val="15000"/>
                  </a:schemeClr>
                </a:solidFill>
                <a:latin typeface="Roboto"/>
                <a:ea typeface="Roboto"/>
              </a:rPr>
              <a:t>Looking forward to having a mutually beneficial association! Assuring you of our best services always!</a:t>
            </a:r>
            <a:endParaRPr lang="en-US" sz="16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cxnSp>
        <p:nvCxnSpPr>
          <p:cNvPr id="109" name="Straight Connector 6"/>
          <p:cNvCxnSpPr/>
          <p:nvPr/>
        </p:nvCxnSpPr>
        <p:spPr>
          <a:xfrm>
            <a:off x="524880" y="1622160"/>
            <a:ext cx="4321080" cy="720"/>
          </a:xfrm>
          <a:prstGeom prst="straightConnector1">
            <a:avLst/>
          </a:prstGeom>
          <a:ln w="25400">
            <a:solidFill>
              <a:srgbClr val="65BB35"/>
            </a:solidFill>
            <a:round/>
          </a:ln>
        </p:spPr>
      </p:cxnSp>
      <p:cxnSp>
        <p:nvCxnSpPr>
          <p:cNvPr id="110" name="Straight Connector 5"/>
          <p:cNvCxnSpPr/>
          <p:nvPr/>
        </p:nvCxnSpPr>
        <p:spPr>
          <a:xfrm>
            <a:off x="335880" y="6301080"/>
            <a:ext cx="11520720" cy="720"/>
          </a:xfrm>
          <a:prstGeom prst="straightConnector1">
            <a:avLst/>
          </a:prstGeom>
          <a:ln w="12700">
            <a:solidFill>
              <a:srgbClr val="D9D9D9">
                <a:alpha val="70000"/>
              </a:srgbClr>
            </a:solidFill>
            <a:round/>
          </a:ln>
        </p:spPr>
      </p:cxnSp>
      <p:sp>
        <p:nvSpPr>
          <p:cNvPr id="111" name="TextBox 9"/>
          <p:cNvSpPr/>
          <p:nvPr/>
        </p:nvSpPr>
        <p:spPr>
          <a:xfrm>
            <a:off x="142200" y="6384600"/>
            <a:ext cx="38721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strike="noStrike" spc="7">
                <a:solidFill>
                  <a:schemeClr val="lt1">
                    <a:lumMod val="95000"/>
                  </a:schemeClr>
                </a:solidFill>
                <a:latin typeface="Roboto"/>
                <a:ea typeface="Roboto"/>
              </a:rPr>
              <a:t>© 2023 SPEC INDIA. All Rights Reserved.</a:t>
            </a:r>
            <a:endParaRPr lang="en-US" sz="1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2" name="Subtitle 2"/>
          <p:cNvSpPr/>
          <p:nvPr/>
        </p:nvSpPr>
        <p:spPr>
          <a:xfrm>
            <a:off x="457560" y="2609640"/>
            <a:ext cx="2340360" cy="644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numCol="1" spcCol="0" anchor="t">
            <a:sp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1" strike="noStrike" spc="7">
                <a:solidFill>
                  <a:srgbClr val="0B334C"/>
                </a:solidFill>
                <a:latin typeface="Roboto"/>
                <a:ea typeface="Roboto"/>
              </a:rPr>
              <a:t>Visit us at </a:t>
            </a:r>
            <a:endParaRPr lang="en-US" sz="14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0" u="sng" strike="noStrike" spc="7">
                <a:solidFill>
                  <a:srgbClr val="0563C1"/>
                </a:solidFill>
                <a:uFillTx/>
                <a:latin typeface="Roboto"/>
                <a:ea typeface="Roboto"/>
                <a:hlinkClick r:id="rId4"/>
              </a:rPr>
              <a:t>www.spec-india.com </a:t>
            </a:r>
            <a:endParaRPr lang="en-US" sz="1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3" name="Subtitle 2"/>
          <p:cNvSpPr/>
          <p:nvPr/>
        </p:nvSpPr>
        <p:spPr>
          <a:xfrm>
            <a:off x="2798640" y="2609640"/>
            <a:ext cx="2340360" cy="644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numCol="1" spcCol="0" anchor="t">
            <a:sp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1" strike="noStrike" spc="7">
                <a:solidFill>
                  <a:srgbClr val="0B334C"/>
                </a:solidFill>
                <a:latin typeface="Roboto"/>
                <a:ea typeface="Roboto"/>
              </a:rPr>
              <a:t>Write to us at</a:t>
            </a:r>
            <a:endParaRPr lang="en-US" sz="14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0" u="sng" strike="noStrike" spc="7">
                <a:solidFill>
                  <a:srgbClr val="0563C1"/>
                </a:solidFill>
                <a:uFillTx/>
                <a:latin typeface="Roboto"/>
                <a:ea typeface="Roboto"/>
                <a:hlinkClick r:id="rId5"/>
              </a:rPr>
              <a:t>lead@spec-india.com</a:t>
            </a:r>
            <a:endParaRPr lang="en-US" sz="1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4" name="Subtitle 2"/>
          <p:cNvSpPr/>
          <p:nvPr/>
        </p:nvSpPr>
        <p:spPr>
          <a:xfrm>
            <a:off x="7244280" y="796680"/>
            <a:ext cx="3699360" cy="406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1" strike="noStrike" spc="7">
                <a:solidFill>
                  <a:srgbClr val="0B334C"/>
                </a:solidFill>
                <a:latin typeface="Roboto"/>
                <a:ea typeface="Roboto"/>
              </a:rPr>
              <a:t>India</a:t>
            </a:r>
            <a:endParaRPr lang="en-US" sz="16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5" name="Subtitle 2"/>
          <p:cNvSpPr/>
          <p:nvPr/>
        </p:nvSpPr>
        <p:spPr>
          <a:xfrm>
            <a:off x="7581240" y="1292040"/>
            <a:ext cx="36993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sng" strike="noStrike" spc="7">
                <a:solidFill>
                  <a:schemeClr val="lt1"/>
                </a:solidFill>
                <a:uFillTx/>
                <a:latin typeface="Roboto"/>
                <a:ea typeface="Roboto"/>
                <a:hlinkClick r:id="rId5"/>
              </a:rPr>
              <a:t>lead@spec-india.com </a:t>
            </a:r>
            <a:endParaRPr lang="en-US" sz="1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6" name="Subtitle 2"/>
          <p:cNvSpPr/>
          <p:nvPr/>
        </p:nvSpPr>
        <p:spPr>
          <a:xfrm>
            <a:off x="7581240" y="1687680"/>
            <a:ext cx="36993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7">
                <a:solidFill>
                  <a:schemeClr val="lt1"/>
                </a:solidFill>
                <a:latin typeface="Roboto"/>
                <a:ea typeface="Roboto"/>
              </a:rPr>
              <a:t>+91-79-26404031 to 34</a:t>
            </a:r>
            <a:endParaRPr lang="en-US" sz="1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7" name="Subtitle 2"/>
          <p:cNvSpPr/>
          <p:nvPr/>
        </p:nvSpPr>
        <p:spPr>
          <a:xfrm>
            <a:off x="7581240" y="2083320"/>
            <a:ext cx="3699360" cy="943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7">
                <a:solidFill>
                  <a:schemeClr val="lt1"/>
                </a:solidFill>
                <a:latin typeface="Roboto"/>
                <a:ea typeface="Roboto"/>
              </a:rPr>
              <a:t>SPEC House”, Parth Complex,</a:t>
            </a:r>
            <a:endParaRPr lang="en-US" sz="14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7">
                <a:solidFill>
                  <a:schemeClr val="lt1"/>
                </a:solidFill>
                <a:latin typeface="Roboto"/>
                <a:ea typeface="Roboto"/>
              </a:rPr>
              <a:t>Near Swastik Cross Roads, Navarangpura, Ahmedabad 380009, INDIA.</a:t>
            </a:r>
            <a:endParaRPr lang="en-US" sz="1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cxnSp>
        <p:nvCxnSpPr>
          <p:cNvPr id="118" name="Straight Connector 12"/>
          <p:cNvCxnSpPr/>
          <p:nvPr/>
        </p:nvCxnSpPr>
        <p:spPr>
          <a:xfrm>
            <a:off x="7326720" y="1179720"/>
            <a:ext cx="3069000" cy="720"/>
          </a:xfrm>
          <a:prstGeom prst="straightConnector1">
            <a:avLst/>
          </a:prstGeom>
          <a:ln w="12700">
            <a:solidFill>
              <a:srgbClr val="0B334C"/>
            </a:solidFill>
            <a:round/>
          </a:ln>
        </p:spPr>
      </p:cxnSp>
      <p:pic>
        <p:nvPicPr>
          <p:cNvPr id="119" name="Picture 16"/>
          <p:cNvPicPr/>
          <p:nvPr/>
        </p:nvPicPr>
        <p:blipFill>
          <a:blip r:embed="rId6"/>
          <a:stretch>
            <a:fillRect/>
          </a:stretch>
        </p:blipFill>
        <p:spPr>
          <a:xfrm>
            <a:off x="7326720" y="1331640"/>
            <a:ext cx="227880" cy="22788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17"/>
          <p:cNvPicPr/>
          <p:nvPr/>
        </p:nvPicPr>
        <p:blipFill>
          <a:blip r:embed="rId7"/>
          <a:stretch>
            <a:fillRect/>
          </a:stretch>
        </p:blipFill>
        <p:spPr>
          <a:xfrm>
            <a:off x="7326720" y="1727280"/>
            <a:ext cx="227880" cy="227880"/>
          </a:xfrm>
          <a:prstGeom prst="rect">
            <a:avLst/>
          </a:prstGeom>
          <a:ln w="0">
            <a:noFill/>
          </a:ln>
        </p:spPr>
      </p:pic>
      <p:pic>
        <p:nvPicPr>
          <p:cNvPr id="121" name="Picture 18"/>
          <p:cNvPicPr/>
          <p:nvPr/>
        </p:nvPicPr>
        <p:blipFill>
          <a:blip r:embed="rId8"/>
          <a:stretch>
            <a:fillRect/>
          </a:stretch>
        </p:blipFill>
        <p:spPr>
          <a:xfrm>
            <a:off x="7328520" y="2122920"/>
            <a:ext cx="227880" cy="227880"/>
          </a:xfrm>
          <a:prstGeom prst="rect">
            <a:avLst/>
          </a:prstGeom>
          <a:ln w="0">
            <a:noFill/>
          </a:ln>
        </p:spPr>
      </p:pic>
      <p:sp>
        <p:nvSpPr>
          <p:cNvPr id="122" name="Subtitle 2"/>
          <p:cNvSpPr/>
          <p:nvPr/>
        </p:nvSpPr>
        <p:spPr>
          <a:xfrm>
            <a:off x="7244280" y="2842200"/>
            <a:ext cx="3699360" cy="406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1" strike="noStrike" spc="7">
                <a:solidFill>
                  <a:srgbClr val="0B334C"/>
                </a:solidFill>
                <a:latin typeface="Roboto"/>
                <a:ea typeface="Roboto"/>
              </a:rPr>
              <a:t>USA</a:t>
            </a:r>
            <a:endParaRPr lang="en-US" sz="16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3" name="Subtitle 2"/>
          <p:cNvSpPr/>
          <p:nvPr/>
        </p:nvSpPr>
        <p:spPr>
          <a:xfrm>
            <a:off x="7581240" y="3337560"/>
            <a:ext cx="36993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sng" strike="noStrike" spc="7">
                <a:solidFill>
                  <a:schemeClr val="lt1"/>
                </a:solidFill>
                <a:uFillTx/>
                <a:latin typeface="Roboto"/>
                <a:ea typeface="Roboto"/>
                <a:hlinkClick r:id="rId9"/>
              </a:rPr>
              <a:t>lead@spec-usa.net</a:t>
            </a:r>
            <a:endParaRPr lang="en-US" sz="1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4" name="Subtitle 2"/>
          <p:cNvSpPr/>
          <p:nvPr/>
        </p:nvSpPr>
        <p:spPr>
          <a:xfrm>
            <a:off x="7581240" y="3733200"/>
            <a:ext cx="36993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7">
                <a:solidFill>
                  <a:schemeClr val="lt1"/>
                </a:solidFill>
                <a:latin typeface="Roboto"/>
                <a:ea typeface="Roboto"/>
              </a:rPr>
              <a:t>+ 1 908-450-9862</a:t>
            </a:r>
            <a:endParaRPr lang="en-US" sz="1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5" name="Subtitle 2"/>
          <p:cNvSpPr/>
          <p:nvPr/>
        </p:nvSpPr>
        <p:spPr>
          <a:xfrm>
            <a:off x="7581240" y="4128480"/>
            <a:ext cx="369936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7">
                <a:solidFill>
                  <a:schemeClr val="lt1"/>
                </a:solidFill>
                <a:latin typeface="Roboto"/>
                <a:ea typeface="Roboto"/>
              </a:rPr>
              <a:t>SPEC Partner”, 350 Grove Street, Bridgewater, NJ 08807, United States.</a:t>
            </a:r>
            <a:endParaRPr lang="en-US" sz="1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cxnSp>
        <p:nvCxnSpPr>
          <p:cNvPr id="126" name="Straight Connector 24"/>
          <p:cNvCxnSpPr/>
          <p:nvPr/>
        </p:nvCxnSpPr>
        <p:spPr>
          <a:xfrm>
            <a:off x="7326720" y="3224880"/>
            <a:ext cx="3069000" cy="720"/>
          </a:xfrm>
          <a:prstGeom prst="straightConnector1">
            <a:avLst/>
          </a:prstGeom>
          <a:ln w="12700">
            <a:solidFill>
              <a:srgbClr val="0B334C"/>
            </a:solidFill>
            <a:round/>
          </a:ln>
        </p:spPr>
      </p:cxnSp>
      <p:pic>
        <p:nvPicPr>
          <p:cNvPr id="127" name="Picture 25"/>
          <p:cNvPicPr/>
          <p:nvPr/>
        </p:nvPicPr>
        <p:blipFill>
          <a:blip r:embed="rId6"/>
          <a:stretch>
            <a:fillRect/>
          </a:stretch>
        </p:blipFill>
        <p:spPr>
          <a:xfrm>
            <a:off x="7326720" y="3377160"/>
            <a:ext cx="227880" cy="227880"/>
          </a:xfrm>
          <a:prstGeom prst="rect">
            <a:avLst/>
          </a:prstGeom>
          <a:ln w="0">
            <a:noFill/>
          </a:ln>
        </p:spPr>
      </p:pic>
      <p:pic>
        <p:nvPicPr>
          <p:cNvPr id="128" name="Picture 26"/>
          <p:cNvPicPr/>
          <p:nvPr/>
        </p:nvPicPr>
        <p:blipFill>
          <a:blip r:embed="rId7"/>
          <a:stretch>
            <a:fillRect/>
          </a:stretch>
        </p:blipFill>
        <p:spPr>
          <a:xfrm>
            <a:off x="7326720" y="3772440"/>
            <a:ext cx="227880" cy="227880"/>
          </a:xfrm>
          <a:prstGeom prst="rect">
            <a:avLst/>
          </a:prstGeom>
          <a:ln w="0">
            <a:noFill/>
          </a:ln>
        </p:spPr>
      </p:pic>
      <p:pic>
        <p:nvPicPr>
          <p:cNvPr id="129" name="Picture 27"/>
          <p:cNvPicPr/>
          <p:nvPr/>
        </p:nvPicPr>
        <p:blipFill>
          <a:blip r:embed="rId8"/>
          <a:stretch>
            <a:fillRect/>
          </a:stretch>
        </p:blipFill>
        <p:spPr>
          <a:xfrm>
            <a:off x="7328520" y="4168080"/>
            <a:ext cx="227880" cy="227880"/>
          </a:xfrm>
          <a:prstGeom prst="rect">
            <a:avLst/>
          </a:prstGeom>
          <a:ln w="0">
            <a:noFill/>
          </a:ln>
        </p:spPr>
      </p:pic>
      <p:pic>
        <p:nvPicPr>
          <p:cNvPr id="130" name="Picture 39" descr="Logo&#10;&#10;Description automatically generated">
            <a:hlinkClick r:id="rId10"/>
          </p:cNvPr>
          <p:cNvPicPr/>
          <p:nvPr/>
        </p:nvPicPr>
        <p:blipFill>
          <a:blip r:embed="rId11"/>
          <a:stretch>
            <a:fillRect/>
          </a:stretch>
        </p:blipFill>
        <p:spPr>
          <a:xfrm>
            <a:off x="2600280" y="5526000"/>
            <a:ext cx="881280" cy="251280"/>
          </a:xfrm>
          <a:prstGeom prst="rect">
            <a:avLst/>
          </a:prstGeom>
          <a:ln w="0">
            <a:noFill/>
          </a:ln>
        </p:spPr>
      </p:pic>
      <p:pic>
        <p:nvPicPr>
          <p:cNvPr id="131" name="Picture 41" descr="A picture containing text, clipart&#10;&#10;Description automatically generated">
            <a:hlinkClick r:id="rId12"/>
          </p:cNvPr>
          <p:cNvPicPr/>
          <p:nvPr/>
        </p:nvPicPr>
        <p:blipFill>
          <a:blip r:embed="rId13"/>
          <a:stretch>
            <a:fillRect/>
          </a:stretch>
        </p:blipFill>
        <p:spPr>
          <a:xfrm>
            <a:off x="3831120" y="5544000"/>
            <a:ext cx="1511280" cy="215280"/>
          </a:xfrm>
          <a:prstGeom prst="rect">
            <a:avLst/>
          </a:prstGeom>
          <a:ln w="0">
            <a:noFill/>
          </a:ln>
        </p:spPr>
      </p:pic>
      <p:pic>
        <p:nvPicPr>
          <p:cNvPr id="132" name="Picture 43" descr="A picture containing text, clipart&#10;&#10;Description automatically generated">
            <a:hlinkClick r:id="rId14"/>
          </p:cNvPr>
          <p:cNvPicPr/>
          <p:nvPr/>
        </p:nvPicPr>
        <p:blipFill>
          <a:blip r:embed="rId15"/>
          <a:stretch>
            <a:fillRect/>
          </a:stretch>
        </p:blipFill>
        <p:spPr>
          <a:xfrm>
            <a:off x="5692320" y="5526000"/>
            <a:ext cx="765720" cy="251280"/>
          </a:xfrm>
          <a:prstGeom prst="rect">
            <a:avLst/>
          </a:prstGeom>
          <a:ln w="0">
            <a:noFill/>
          </a:ln>
        </p:spPr>
      </p:pic>
      <p:pic>
        <p:nvPicPr>
          <p:cNvPr id="133" name="Picture 45" descr="A picture containing text, clipart&#10;&#10;Description automatically generated">
            <a:hlinkClick r:id="rId16"/>
          </p:cNvPr>
          <p:cNvPicPr/>
          <p:nvPr/>
        </p:nvPicPr>
        <p:blipFill>
          <a:blip r:embed="rId17"/>
          <a:stretch>
            <a:fillRect/>
          </a:stretch>
        </p:blipFill>
        <p:spPr>
          <a:xfrm>
            <a:off x="6807960" y="5526000"/>
            <a:ext cx="1282320" cy="251280"/>
          </a:xfrm>
          <a:prstGeom prst="rect">
            <a:avLst/>
          </a:prstGeom>
          <a:ln w="0">
            <a:noFill/>
          </a:ln>
        </p:spPr>
      </p:pic>
      <p:pic>
        <p:nvPicPr>
          <p:cNvPr id="134" name="Picture 47" descr="A picture containing text, transport, clipart, wheel&#10;&#10;Description automatically generated">
            <a:hlinkClick r:id="rId18"/>
          </p:cNvPr>
          <p:cNvPicPr/>
          <p:nvPr/>
        </p:nvPicPr>
        <p:blipFill>
          <a:blip r:embed="rId19"/>
          <a:stretch>
            <a:fillRect/>
          </a:stretch>
        </p:blipFill>
        <p:spPr>
          <a:xfrm>
            <a:off x="8439840" y="5544000"/>
            <a:ext cx="1151280" cy="215280"/>
          </a:xfrm>
          <a:prstGeom prst="rect">
            <a:avLst/>
          </a:prstGeom>
          <a:ln w="0">
            <a:noFill/>
          </a:ln>
        </p:spPr>
      </p:pic>
      <p:pic>
        <p:nvPicPr>
          <p:cNvPr id="135" name="Picture 13" descr="Shape&#10;&#10;Description automatically generated">
            <a:hlinkClick r:id="rId20"/>
          </p:cNvPr>
          <p:cNvPicPr/>
          <p:nvPr/>
        </p:nvPicPr>
        <p:blipFill>
          <a:blip r:embed="rId21"/>
          <a:stretch>
            <a:fillRect/>
          </a:stretch>
        </p:blipFill>
        <p:spPr>
          <a:xfrm>
            <a:off x="11627280" y="6429240"/>
            <a:ext cx="227880" cy="227880"/>
          </a:xfrm>
          <a:prstGeom prst="rect">
            <a:avLst/>
          </a:prstGeom>
          <a:ln w="0">
            <a:noFill/>
          </a:ln>
        </p:spPr>
      </p:pic>
      <p:pic>
        <p:nvPicPr>
          <p:cNvPr id="136" name="Picture 29" descr="A picture containing clipart&#10;&#10;Description automatically generated">
            <a:hlinkClick r:id="rId22"/>
          </p:cNvPr>
          <p:cNvPicPr/>
          <p:nvPr/>
        </p:nvPicPr>
        <p:blipFill>
          <a:blip r:embed="rId23"/>
          <a:stretch>
            <a:fillRect/>
          </a:stretch>
        </p:blipFill>
        <p:spPr>
          <a:xfrm>
            <a:off x="11257560" y="6429240"/>
            <a:ext cx="227880" cy="227880"/>
          </a:xfrm>
          <a:prstGeom prst="rect">
            <a:avLst/>
          </a:prstGeom>
          <a:ln w="0">
            <a:noFill/>
          </a:ln>
        </p:spPr>
      </p:pic>
      <p:pic>
        <p:nvPicPr>
          <p:cNvPr id="137" name="Picture 31" descr="A picture containing text, clipart&#10;&#10;Description automatically generated">
            <a:hlinkClick r:id="rId24"/>
          </p:cNvPr>
          <p:cNvPicPr/>
          <p:nvPr/>
        </p:nvPicPr>
        <p:blipFill>
          <a:blip r:embed="rId25"/>
          <a:stretch>
            <a:fillRect/>
          </a:stretch>
        </p:blipFill>
        <p:spPr>
          <a:xfrm>
            <a:off x="9777600" y="6429240"/>
            <a:ext cx="227880" cy="227880"/>
          </a:xfrm>
          <a:prstGeom prst="rect">
            <a:avLst/>
          </a:prstGeom>
          <a:ln w="0">
            <a:noFill/>
          </a:ln>
        </p:spPr>
      </p:pic>
      <p:pic>
        <p:nvPicPr>
          <p:cNvPr id="138" name="Picture 35" descr="A picture containing text, clipart&#10;&#10;Description automatically generated">
            <a:hlinkClick r:id="rId26"/>
          </p:cNvPr>
          <p:cNvPicPr/>
          <p:nvPr/>
        </p:nvPicPr>
        <p:blipFill>
          <a:blip r:embed="rId27"/>
          <a:stretch>
            <a:fillRect/>
          </a:stretch>
        </p:blipFill>
        <p:spPr>
          <a:xfrm>
            <a:off x="10147320" y="6429240"/>
            <a:ext cx="227880" cy="227880"/>
          </a:xfrm>
          <a:prstGeom prst="rect">
            <a:avLst/>
          </a:prstGeom>
          <a:ln w="0">
            <a:noFill/>
          </a:ln>
        </p:spPr>
      </p:pic>
      <p:pic>
        <p:nvPicPr>
          <p:cNvPr id="139" name="Picture 37" descr="A picture containing clipart&#10;&#10;Description automatically generated">
            <a:hlinkClick r:id="rId28"/>
          </p:cNvPr>
          <p:cNvPicPr/>
          <p:nvPr/>
        </p:nvPicPr>
        <p:blipFill>
          <a:blip r:embed="rId29"/>
          <a:stretch>
            <a:fillRect/>
          </a:stretch>
        </p:blipFill>
        <p:spPr>
          <a:xfrm>
            <a:off x="10517400" y="6429240"/>
            <a:ext cx="227880" cy="227880"/>
          </a:xfrm>
          <a:prstGeom prst="rect">
            <a:avLst/>
          </a:prstGeom>
          <a:ln w="0">
            <a:noFill/>
          </a:ln>
        </p:spPr>
      </p:pic>
      <p:pic>
        <p:nvPicPr>
          <p:cNvPr id="140" name="Picture 40" descr="A picture containing text, clipart&#10;&#10;Description automatically generated"/>
          <p:cNvPicPr/>
          <p:nvPr/>
        </p:nvPicPr>
        <p:blipFill>
          <a:blip r:embed="rId30"/>
          <a:stretch>
            <a:fillRect/>
          </a:stretch>
        </p:blipFill>
        <p:spPr>
          <a:xfrm>
            <a:off x="6960240" y="5863680"/>
            <a:ext cx="977040" cy="151560"/>
          </a:xfrm>
          <a:prstGeom prst="rect">
            <a:avLst/>
          </a:prstGeom>
          <a:ln w="0">
            <a:noFill/>
          </a:ln>
        </p:spPr>
      </p:pic>
      <p:pic>
        <p:nvPicPr>
          <p:cNvPr id="141" name="Picture 44" descr="A picture containing text, clipart&#10;&#10;Description automatically generated"/>
          <p:cNvPicPr/>
          <p:nvPr/>
        </p:nvPicPr>
        <p:blipFill>
          <a:blip r:embed="rId31"/>
          <a:stretch>
            <a:fillRect/>
          </a:stretch>
        </p:blipFill>
        <p:spPr>
          <a:xfrm>
            <a:off x="8526960" y="5851440"/>
            <a:ext cx="977040" cy="151560"/>
          </a:xfrm>
          <a:prstGeom prst="rect">
            <a:avLst/>
          </a:prstGeom>
          <a:ln w="0">
            <a:noFill/>
          </a:ln>
        </p:spPr>
      </p:pic>
      <p:pic>
        <p:nvPicPr>
          <p:cNvPr id="142" name="Picture 46" descr="A picture containing text, clipart&#10;&#10;Description automatically generated"/>
          <p:cNvPicPr/>
          <p:nvPr/>
        </p:nvPicPr>
        <p:blipFill>
          <a:blip r:embed="rId31"/>
          <a:stretch>
            <a:fillRect/>
          </a:stretch>
        </p:blipFill>
        <p:spPr>
          <a:xfrm>
            <a:off x="5586480" y="5851440"/>
            <a:ext cx="977040" cy="151560"/>
          </a:xfrm>
          <a:prstGeom prst="rect">
            <a:avLst/>
          </a:prstGeom>
          <a:ln w="0">
            <a:noFill/>
          </a:ln>
        </p:spPr>
      </p:pic>
      <p:pic>
        <p:nvPicPr>
          <p:cNvPr id="143" name="Picture 49" descr="A picture containing text, clipart&#10;&#10;Description automatically generated"/>
          <p:cNvPicPr/>
          <p:nvPr/>
        </p:nvPicPr>
        <p:blipFill>
          <a:blip r:embed="rId30"/>
          <a:stretch>
            <a:fillRect/>
          </a:stretch>
        </p:blipFill>
        <p:spPr>
          <a:xfrm>
            <a:off x="4098240" y="5863680"/>
            <a:ext cx="977040" cy="151560"/>
          </a:xfrm>
          <a:prstGeom prst="rect">
            <a:avLst/>
          </a:prstGeom>
          <a:ln w="0">
            <a:noFill/>
          </a:ln>
        </p:spPr>
      </p:pic>
      <p:pic>
        <p:nvPicPr>
          <p:cNvPr id="144" name="Picture 50" descr="A picture containing text, clipart&#10;&#10;Description automatically generated"/>
          <p:cNvPicPr/>
          <p:nvPr/>
        </p:nvPicPr>
        <p:blipFill>
          <a:blip r:embed="rId31"/>
          <a:stretch>
            <a:fillRect/>
          </a:stretch>
        </p:blipFill>
        <p:spPr>
          <a:xfrm>
            <a:off x="2580480" y="5858280"/>
            <a:ext cx="977040" cy="151560"/>
          </a:xfrm>
          <a:prstGeom prst="rect">
            <a:avLst/>
          </a:prstGeom>
          <a:ln w="0">
            <a:noFill/>
          </a:ln>
        </p:spPr>
      </p:pic>
      <p:pic>
        <p:nvPicPr>
          <p:cNvPr id="145" name="Picture 52" descr="A picture containing text, clipart&#10;&#10;Description automatically generated">
            <a:hlinkClick r:id="rId32"/>
          </p:cNvPr>
          <p:cNvPicPr/>
          <p:nvPr/>
        </p:nvPicPr>
        <p:blipFill>
          <a:blip r:embed="rId33"/>
          <a:stretch>
            <a:fillRect/>
          </a:stretch>
        </p:blipFill>
        <p:spPr>
          <a:xfrm>
            <a:off x="10887480" y="6428520"/>
            <a:ext cx="227880" cy="227880"/>
          </a:xfrm>
          <a:prstGeom prst="rect">
            <a:avLst/>
          </a:prstGeom>
          <a:ln w="0">
            <a:noFill/>
          </a:ln>
        </p:spPr>
      </p:pic>
      <p:cxnSp>
        <p:nvCxnSpPr>
          <p:cNvPr id="146" name="Straight Connector 58"/>
          <p:cNvCxnSpPr/>
          <p:nvPr/>
        </p:nvCxnSpPr>
        <p:spPr>
          <a:xfrm>
            <a:off x="2580120" y="2716200"/>
            <a:ext cx="720" cy="520560"/>
          </a:xfrm>
          <a:prstGeom prst="straightConnector1">
            <a:avLst/>
          </a:prstGeom>
          <a:ln w="0">
            <a:solidFill>
              <a:srgbClr val="E8E8EB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474</Words>
  <Application>Microsoft Office PowerPoint</Application>
  <PresentationFormat>Widescreen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8</vt:i4>
      </vt:variant>
    </vt:vector>
  </HeadingPairs>
  <TitlesOfParts>
    <vt:vector size="26" baseType="lpstr">
      <vt:lpstr>Arial</vt:lpstr>
      <vt:lpstr>Calibri</vt:lpstr>
      <vt:lpstr>Calibri Light</vt:lpstr>
      <vt:lpstr>Roboto</vt:lpstr>
      <vt:lpstr>Symbol</vt:lpstr>
      <vt:lpstr>Times New Roman</vt:lpstr>
      <vt:lpstr>Wingdings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Hanwha Vision    17th Mar’25 – 31st Mar’25</vt:lpstr>
      <vt:lpstr>Meeting Participants</vt:lpstr>
      <vt:lpstr>Rashmi Patel - Highlights of the work done in two weeks</vt:lpstr>
      <vt:lpstr>Rashmi Patel - Roadblocks / issues if any </vt:lpstr>
      <vt:lpstr>Rashmi Patel - Improvement Points Identified</vt:lpstr>
      <vt:lpstr>Rashmi Patel - Any New Problem Statement Seen / Identified * If any</vt:lpstr>
      <vt:lpstr>Rashmi Patel - Achievements/Extra mile of the week * if any</vt:lpstr>
      <vt:lpstr>Thank You For  Your Time &amp;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Parth Jotangiya</cp:lastModifiedBy>
  <cp:revision>491</cp:revision>
  <dcterms:created xsi:type="dcterms:W3CDTF">2023-01-02T08:33:00Z</dcterms:created>
  <dcterms:modified xsi:type="dcterms:W3CDTF">2025-04-07T07:12:18Z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8</vt:i4>
  </property>
  <property fmtid="{D5CDD505-2E9C-101B-9397-08002B2CF9AE}" pid="4" name="ICV">
    <vt:lpwstr>76030A7711084D6A9EBC293995FA41FD</vt:lpwstr>
  </property>
  <property fmtid="{D5CDD505-2E9C-101B-9397-08002B2CF9AE}" pid="5" name="KSOProductBuildVer">
    <vt:lpwstr>1033-11.2.0.11440</vt:lpwstr>
  </property>
</Properties>
</file>