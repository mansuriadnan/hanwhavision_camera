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85" r:id="rId3"/>
    <p:sldId id="286" r:id="rId4"/>
    <p:sldId id="289" r:id="rId5"/>
    <p:sldId id="291" r:id="rId6"/>
    <p:sldId id="290" r:id="rId7"/>
    <p:sldId id="292" r:id="rId8"/>
    <p:sldId id="28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74BD"/>
    <a:srgbClr val="1985BF"/>
    <a:srgbClr val="5B447C"/>
    <a:srgbClr val="65BB35"/>
    <a:srgbClr val="0B334C"/>
    <a:srgbClr val="E8E8EB"/>
    <a:srgbClr val="046067"/>
    <a:srgbClr val="FF693A"/>
    <a:srgbClr val="FFC200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67"/>
    <p:restoredTop sz="94082"/>
  </p:normalViewPr>
  <p:slideViewPr>
    <p:cSldViewPr snapToGrid="0" snapToObjects="1">
      <p:cViewPr varScale="1">
        <p:scale>
          <a:sx n="104" d="100"/>
          <a:sy n="104" d="100"/>
        </p:scale>
        <p:origin x="106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B5163-9B59-9641-9D3D-D468DD839B4D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C5864-3DE2-4443-B533-31B844D2AD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512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E9C69-D8C5-83BE-996E-0F71D0B3B7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57EB7E-4F62-E400-3276-022880D14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7B7C6-60EE-D05A-B622-0C87AA9A2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350C1-CA07-ED99-6B9D-F2583D96E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D14AD-1879-4B8A-285C-D92FBECBD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201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0A810-C6BD-6E03-E776-1AEB14DA6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F5285-D8BB-0AD7-E6D4-3417E5724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22C23-DF52-2E0D-2F6D-128760CFE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54A7C-0596-342C-50D5-0AA03D421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82FC-E59E-6836-0353-1274C4D62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709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B7813-CE63-BD06-CD89-369B06B95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95D92-8A65-B96F-8897-76C146361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80D78-E80F-2569-7F79-640D41A4F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5ECD7-168D-E56E-A9C1-4013E8790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C4538-FD40-A206-D3AE-8AFAE5F01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669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08E56-9089-C060-2225-A0C1FF34A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84606-C66D-24BC-C5E1-9DA0F31DA9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EC331-BCE0-27F5-D5B4-198A2C5DFF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1F3133-A585-0EB5-C744-638CAE5A0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A9A45-DE81-7E02-B6EF-917AB21E3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C57C91-51F2-CFA3-27D8-5FBC63B82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9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B354-3A15-1A11-95CA-D44A311A4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C071A-F7ED-CA45-660E-09D50F526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B9B468-7DEA-9362-3845-1C083F7DE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FEFEB9-38C2-2023-52FA-6496A9A06B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7C1677-7E10-C518-AC2B-BA9C4918AD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C9253A-EA50-D6FB-DBBC-5FE99D151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95777-10F0-AAF0-A2C7-28347D211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15E26-C841-F322-C597-94165B8A2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13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55069-703A-EB6B-5AB9-50E4C6100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D7F3DC-6622-C283-FA14-913CC2CA7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735C5A-F312-E76E-1436-08FEA9B65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E3665B-204B-561F-8FDA-5E7097CD4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827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217CD3-0047-26B9-B49F-681E6668B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C854B9-BA4D-2CD5-A2CF-05297DC17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FD7DA-BCFB-CE0C-4AF9-C7A891663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44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47D5C-21BE-069E-B053-1CEEDBDE0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73436-AF0B-6C4D-B4D6-F98686B73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82FC38-6077-5FDE-B6D0-B1B76648F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FF875-AAA8-784E-F849-4B51B4DFD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5DAEB-7D9B-6D95-9811-E99F4F590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A9D13-BFEA-F1BF-5229-56D16A481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272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4A5D0-8A60-E2D9-F543-30CCBF25C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8EAD8E-4E26-43B8-1339-28D714C650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87F326-8D75-8A68-3C80-1062E670C9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A83766-F28E-E255-9CEE-4B38DB9C2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BE9498-464D-BDF2-052C-C3BD0AD6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755DE-6123-9D0B-D3C5-2548FB70B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322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3DB61-0A1A-B883-3602-66E0A548D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1BA32D-C10E-EC3E-E59C-90C791F07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FED56-B775-B180-782E-2BC8C15C3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D4D68-8A7E-6D77-1564-F9BD115B6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7EA48-0894-7E3A-2162-112F48D06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796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7FBDE1-DBB0-4DC1-0A54-FAE219970E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5232DF-0F79-CA41-4AEF-67220B0A0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F8595-9BA5-1CC4-D413-A4B134252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D4E8E-779F-1902-9307-5AEF48F7E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8CF02-45A2-E538-914E-662B50B6A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168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1C433B-F914-2DA3-C1C8-B000F0028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4BC9D-7936-CBE0-6E57-ACD913158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8E311-AA6E-8453-96E2-005FE05622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4AA76-8368-D345-9022-280C5DF7C5D9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C7DF7-C7AD-7C7B-9225-719BCEEEC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112EC-08FA-C32C-A083-21D330C77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362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spec-india.com/" TargetMode="Externa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hyperlink" Target="https://www.glassdoor.co.in/Reviews/SPEC-INDIA-Reviews-E688018.htm" TargetMode="External"/><Relationship Id="rId26" Type="http://schemas.openxmlformats.org/officeDocument/2006/relationships/hyperlink" Target="https://www.linkedin.com/company/spec-india/mycompany/" TargetMode="External"/><Relationship Id="rId3" Type="http://schemas.openxmlformats.org/officeDocument/2006/relationships/image" Target="../media/image2.emf"/><Relationship Id="rId21" Type="http://schemas.openxmlformats.org/officeDocument/2006/relationships/image" Target="../media/image14.png"/><Relationship Id="rId7" Type="http://schemas.openxmlformats.org/officeDocument/2006/relationships/image" Target="../media/image7.emf"/><Relationship Id="rId12" Type="http://schemas.openxmlformats.org/officeDocument/2006/relationships/hyperlink" Target="https://www.goodfirms.co/company/spec-india" TargetMode="Externa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21.png"/><Relationship Id="rId2" Type="http://schemas.openxmlformats.org/officeDocument/2006/relationships/image" Target="../media/image1.emf"/><Relationship Id="rId16" Type="http://schemas.openxmlformats.org/officeDocument/2006/relationships/hyperlink" Target="https://www.ambitionbox.com/reviews/spec-india-reviews" TargetMode="External"/><Relationship Id="rId20" Type="http://schemas.openxmlformats.org/officeDocument/2006/relationships/hyperlink" Target="https://www.behance.net/specindia" TargetMode="External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emf"/><Relationship Id="rId11" Type="http://schemas.openxmlformats.org/officeDocument/2006/relationships/image" Target="../media/image9.png"/><Relationship Id="rId24" Type="http://schemas.openxmlformats.org/officeDocument/2006/relationships/hyperlink" Target="https://www.facebook.com/SPECINDIA.IT" TargetMode="External"/><Relationship Id="rId32" Type="http://schemas.openxmlformats.org/officeDocument/2006/relationships/hyperlink" Target="https://www.instagram.com/spec_india" TargetMode="External"/><Relationship Id="rId5" Type="http://schemas.openxmlformats.org/officeDocument/2006/relationships/hyperlink" Target="mailto:lead@spec-india.com" TargetMode="External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hyperlink" Target="https://twitter.com/infospec_india" TargetMode="External"/><Relationship Id="rId10" Type="http://schemas.openxmlformats.org/officeDocument/2006/relationships/hyperlink" Target="https://clutch.co/profile/spec-india" TargetMode="External"/><Relationship Id="rId19" Type="http://schemas.openxmlformats.org/officeDocument/2006/relationships/image" Target="../media/image13.png"/><Relationship Id="rId31" Type="http://schemas.openxmlformats.org/officeDocument/2006/relationships/image" Target="../media/image20.png"/><Relationship Id="rId4" Type="http://schemas.openxmlformats.org/officeDocument/2006/relationships/hyperlink" Target="http://www.spec-india.com/" TargetMode="External"/><Relationship Id="rId9" Type="http://schemas.openxmlformats.org/officeDocument/2006/relationships/hyperlink" Target="mailto:lead@spec-usa.net" TargetMode="External"/><Relationship Id="rId14" Type="http://schemas.openxmlformats.org/officeDocument/2006/relationships/hyperlink" Target="https://g.page/r/CRApINeFYBWKEAE" TargetMode="External"/><Relationship Id="rId22" Type="http://schemas.openxmlformats.org/officeDocument/2006/relationships/hyperlink" Target="https://dribbble.com/specindia" TargetMode="External"/><Relationship Id="rId27" Type="http://schemas.openxmlformats.org/officeDocument/2006/relationships/image" Target="../media/image17.png"/><Relationship Id="rId30" Type="http://schemas.openxmlformats.org/officeDocument/2006/relationships/image" Target="../media/image19.png"/><Relationship Id="rId8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E973377-9F71-D594-1085-A35F120D3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C3D6B1-1AC2-47BD-81D9-8E96673EC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EDB37C-2498-A06C-031D-2AF8576318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" y="2032001"/>
            <a:ext cx="12191997" cy="4825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3BC040-4A96-63A7-6A7C-8B539D171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4631" y="1778001"/>
            <a:ext cx="4807733" cy="965198"/>
          </a:xfrm>
        </p:spPr>
        <p:txBody>
          <a:bodyPr>
            <a:noAutofit/>
          </a:bodyPr>
          <a:lstStyle/>
          <a:p>
            <a:pPr algn="l"/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Hanwha Vision </a:t>
            </a:r>
            <a:b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1st May’25 – 15th May’25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78DCE7-143A-12CF-4858-23FC1C088A0F}"/>
              </a:ext>
            </a:extLst>
          </p:cNvPr>
          <p:cNvCxnSpPr>
            <a:cxnSpLocks/>
          </p:cNvCxnSpPr>
          <p:nvPr/>
        </p:nvCxnSpPr>
        <p:spPr>
          <a:xfrm>
            <a:off x="364632" y="2859801"/>
            <a:ext cx="4953000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B2612C87-BBC5-8333-179C-B31DB9E88E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2624" y="377146"/>
            <a:ext cx="2171700" cy="1016000"/>
          </a:xfrm>
          <a:prstGeom prst="rect">
            <a:avLst/>
          </a:prstGeom>
        </p:spPr>
      </p:pic>
      <p:pic>
        <p:nvPicPr>
          <p:cNvPr id="5" name="Picture 4">
            <a:hlinkClick r:id="rId6"/>
            <a:extLst>
              <a:ext uri="{FF2B5EF4-FFF2-40B4-BE49-F238E27FC236}">
                <a16:creationId xmlns:a16="http://schemas.microsoft.com/office/drawing/2014/main" id="{521EC069-46D0-C6A4-3353-4C770189F6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933" y="611135"/>
            <a:ext cx="1778000" cy="5334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5C6D42C-3850-8AD4-31EC-2D05C0DBEEE1}"/>
              </a:ext>
            </a:extLst>
          </p:cNvPr>
          <p:cNvSpPr txBox="1">
            <a:spLocks/>
          </p:cNvSpPr>
          <p:nvPr/>
        </p:nvSpPr>
        <p:spPr>
          <a:xfrm>
            <a:off x="2909455" y="2920993"/>
            <a:ext cx="2467557" cy="3810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spc="10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000" b="1" spc="10" dirty="0" err="1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endParaRPr lang="en-US" sz="2000" b="1" spc="10" dirty="0">
              <a:solidFill>
                <a:srgbClr val="7030A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362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Meeting Participants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3" y="1270631"/>
            <a:ext cx="8214199" cy="2583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Parth Jotangiya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Jayendra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Makvana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Adnan Mansuri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Hiten Parmar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Rashmi Patel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Hasti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Kaneriya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Bhavika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Gamdha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825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Highlights of the work done in two weeks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4" y="1158058"/>
            <a:ext cx="11407266" cy="458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Reviewed backend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data models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and suggested changes, and removed unwanted fields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R&amp;D on video API based on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video token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for saving videos (Bala suggested using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FTP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server for an event video)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Prepared the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data dictionary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for the BI Dashboard application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Reviewed all widgets and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added feedback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based on client suggestions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Worked with </a:t>
            </a:r>
            <a:r>
              <a:rPr lang="en-US" sz="1400" spc="-1" dirty="0" err="1">
                <a:solidFill>
                  <a:srgbClr val="000000"/>
                </a:solidFill>
                <a:latin typeface="Calibri"/>
              </a:rPr>
              <a:t>Hasti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to prepare chart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scale logic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issues and prepare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bar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charts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Worked with Sandip to address Figma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design feedback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Discussed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camera reset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time and people counting logic as per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operational time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Created a list of </a:t>
            </a:r>
            <a:r>
              <a:rPr lang="en-US" sz="1400" b="1" spc="-1" dirty="0" err="1">
                <a:solidFill>
                  <a:srgbClr val="000000"/>
                </a:solidFill>
                <a:latin typeface="Calibri"/>
              </a:rPr>
              <a:t>cron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jobs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Prepared the setup flow for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map plan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and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floor plan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widgets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Reviewed site report setup and provided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feedback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Filtered data based on X-axis scale and implemented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line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chart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Prepared logic to bind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tick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dropdown based on available data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Attended client meeting with Bala to review new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requirements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Discussion with team members regarding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Tasks and doubts</a:t>
            </a:r>
          </a:p>
        </p:txBody>
      </p:sp>
    </p:spTree>
    <p:extLst>
      <p:ext uri="{BB962C8B-B14F-4D97-AF65-F5344CB8AC3E}">
        <p14:creationId xmlns:p14="http://schemas.microsoft.com/office/powerpoint/2010/main" val="1695503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1" y="532302"/>
            <a:ext cx="11148289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Roadblocks / issues if any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27CCB2-E6AD-A05C-49CE-FFFD0EF41A8F}"/>
              </a:ext>
            </a:extLst>
          </p:cNvPr>
          <p:cNvSpPr txBox="1"/>
          <p:nvPr/>
        </p:nvSpPr>
        <p:spPr>
          <a:xfrm>
            <a:off x="392365" y="1337459"/>
            <a:ext cx="9674322" cy="349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r>
              <a:rPr lang="en-US" sz="1400" dirty="0"/>
              <a:t>N/A</a:t>
            </a:r>
            <a:endParaRPr lang="en-US" altLang="en-IN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0528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Improvement Points Identified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3" y="1235914"/>
            <a:ext cx="11407267" cy="629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Conduct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code reviews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and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testing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before marking any task as complete.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Increase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speed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in repeated tasks.</a:t>
            </a:r>
          </a:p>
        </p:txBody>
      </p:sp>
    </p:spTree>
    <p:extLst>
      <p:ext uri="{BB962C8B-B14F-4D97-AF65-F5344CB8AC3E}">
        <p14:creationId xmlns:p14="http://schemas.microsoft.com/office/powerpoint/2010/main" val="4092693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Any New Problem Statement Seen / Identified * If any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3" y="1264590"/>
            <a:ext cx="11069012" cy="629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Many times, we cannot connect to the cameras due to client-side firewall restrictions.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Additionally, the camera with safety measure features has not been provided yet.</a:t>
            </a:r>
          </a:p>
        </p:txBody>
      </p:sp>
    </p:spTree>
    <p:extLst>
      <p:ext uri="{BB962C8B-B14F-4D97-AF65-F5344CB8AC3E}">
        <p14:creationId xmlns:p14="http://schemas.microsoft.com/office/powerpoint/2010/main" val="2159249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1" y="532302"/>
            <a:ext cx="10832351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Achievements/Extra mile of the week * if any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3" y="1198913"/>
            <a:ext cx="9674322" cy="349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r>
              <a:rPr lang="en-US" sz="1400" dirty="0"/>
              <a:t>N/A</a:t>
            </a:r>
            <a:endParaRPr lang="en-US" altLang="en-IN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808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E973377-9F71-D594-1085-A35F120D3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C3D6B1-1AC2-47BD-81D9-8E96673EC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3BC040-4A96-63A7-6A7C-8B539D171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675" y="462989"/>
            <a:ext cx="5223457" cy="1031690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 For </a:t>
            </a:r>
            <a:b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 Time &amp; Attention!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7C87D-2BF4-2094-429B-833F6A4031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675" y="1755910"/>
            <a:ext cx="5223457" cy="697921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Looking forward to having a mutually beneficial association! Assuring you of our best services always!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78DCE7-143A-12CF-4858-23FC1C088A0F}"/>
              </a:ext>
            </a:extLst>
          </p:cNvPr>
          <p:cNvCxnSpPr>
            <a:cxnSpLocks/>
          </p:cNvCxnSpPr>
          <p:nvPr/>
        </p:nvCxnSpPr>
        <p:spPr>
          <a:xfrm>
            <a:off x="524933" y="1622274"/>
            <a:ext cx="4320335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152B89-4C8B-339C-D082-52ED69A6938A}"/>
              </a:ext>
            </a:extLst>
          </p:cNvPr>
          <p:cNvCxnSpPr>
            <a:cxnSpLocks/>
          </p:cNvCxnSpPr>
          <p:nvPr/>
        </p:nvCxnSpPr>
        <p:spPr>
          <a:xfrm>
            <a:off x="336000" y="6301416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EA8F4E2-E03C-0E4A-BEA2-2C45470AFA89}"/>
              </a:ext>
            </a:extLst>
          </p:cNvPr>
          <p:cNvSpPr txBox="1"/>
          <p:nvPr/>
        </p:nvSpPr>
        <p:spPr>
          <a:xfrm>
            <a:off x="336000" y="6384714"/>
            <a:ext cx="3485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2023 SPEC INDIA. All Rights Reserved.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38C491A-98BC-D26F-C944-17A4B65E5D77}"/>
              </a:ext>
            </a:extLst>
          </p:cNvPr>
          <p:cNvSpPr txBox="1">
            <a:spLocks/>
          </p:cNvSpPr>
          <p:nvPr/>
        </p:nvSpPr>
        <p:spPr>
          <a:xfrm>
            <a:off x="457677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Visit us at 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CD447CDB-FC6C-CAB2-948E-2411D69C363A}"/>
              </a:ext>
            </a:extLst>
          </p:cNvPr>
          <p:cNvSpPr txBox="1">
            <a:spLocks/>
          </p:cNvSpPr>
          <p:nvPr/>
        </p:nvSpPr>
        <p:spPr>
          <a:xfrm>
            <a:off x="2798709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Write to us at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lead@spec-india.com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ABCEE6D-BE76-87BF-39F9-211E275FDB05}"/>
              </a:ext>
            </a:extLst>
          </p:cNvPr>
          <p:cNvSpPr txBox="1">
            <a:spLocks/>
          </p:cNvSpPr>
          <p:nvPr/>
        </p:nvSpPr>
        <p:spPr>
          <a:xfrm>
            <a:off x="7244318" y="796759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India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7CEBD7A-A64D-2CC2-219B-205E1ABEAC4C}"/>
              </a:ext>
            </a:extLst>
          </p:cNvPr>
          <p:cNvSpPr txBox="1">
            <a:spLocks/>
          </p:cNvSpPr>
          <p:nvPr/>
        </p:nvSpPr>
        <p:spPr>
          <a:xfrm>
            <a:off x="7581200" y="1292033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lead@spec-india.com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C589E73-A1F7-8D3B-1002-78B9E88428D0}"/>
              </a:ext>
            </a:extLst>
          </p:cNvPr>
          <p:cNvSpPr txBox="1">
            <a:spLocks/>
          </p:cNvSpPr>
          <p:nvPr/>
        </p:nvSpPr>
        <p:spPr>
          <a:xfrm>
            <a:off x="7581200" y="1687659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+91-79-26404031 to 34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ACF21E3B-CFF7-C1BC-1C84-CEF3FAC10D71}"/>
              </a:ext>
            </a:extLst>
          </p:cNvPr>
          <p:cNvSpPr txBox="1">
            <a:spLocks/>
          </p:cNvSpPr>
          <p:nvPr/>
        </p:nvSpPr>
        <p:spPr>
          <a:xfrm>
            <a:off x="7581200" y="2083285"/>
            <a:ext cx="3700132" cy="73866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House”,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Complex,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Near Swastik Cross Roads,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Navarangpura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Ahmedabad 380009, INDIA.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B9A06EC-1120-2A36-F390-AD7E34081305}"/>
              </a:ext>
            </a:extLst>
          </p:cNvPr>
          <p:cNvCxnSpPr>
            <a:cxnSpLocks/>
          </p:cNvCxnSpPr>
          <p:nvPr/>
        </p:nvCxnSpPr>
        <p:spPr>
          <a:xfrm>
            <a:off x="7326788" y="1179749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366FD6CE-FD61-89E0-91D7-5F8304994F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1331621"/>
            <a:ext cx="228600" cy="2286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0EDEB6C-B6E4-6FDB-C1AC-E3A47A59D3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1727247"/>
            <a:ext cx="228600" cy="2286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97FEFD3-0309-57D5-3132-F673BA1FD6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2122873"/>
            <a:ext cx="228600" cy="228600"/>
          </a:xfrm>
          <a:prstGeom prst="rect">
            <a:avLst/>
          </a:prstGeom>
        </p:spPr>
      </p:pic>
      <p:sp>
        <p:nvSpPr>
          <p:cNvPr id="21" name="Subtitle 2">
            <a:extLst>
              <a:ext uri="{FF2B5EF4-FFF2-40B4-BE49-F238E27FC236}">
                <a16:creationId xmlns:a16="http://schemas.microsoft.com/office/drawing/2014/main" id="{3E750425-6495-BDB9-98D9-2D6312334CE8}"/>
              </a:ext>
            </a:extLst>
          </p:cNvPr>
          <p:cNvSpPr txBox="1">
            <a:spLocks/>
          </p:cNvSpPr>
          <p:nvPr/>
        </p:nvSpPr>
        <p:spPr>
          <a:xfrm>
            <a:off x="7244318" y="2842128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USA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9EFFB4FD-C66E-DCFF-3CED-845FF7FCD1D3}"/>
              </a:ext>
            </a:extLst>
          </p:cNvPr>
          <p:cNvSpPr txBox="1">
            <a:spLocks/>
          </p:cNvSpPr>
          <p:nvPr/>
        </p:nvSpPr>
        <p:spPr>
          <a:xfrm>
            <a:off x="7581200" y="3337402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lead@spec-usa.net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0794C45F-E4E9-18E1-5291-E063DAA9D94C}"/>
              </a:ext>
            </a:extLst>
          </p:cNvPr>
          <p:cNvSpPr txBox="1">
            <a:spLocks/>
          </p:cNvSpPr>
          <p:nvPr/>
        </p:nvSpPr>
        <p:spPr>
          <a:xfrm>
            <a:off x="7581200" y="3733028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+ 1 908-450-9862</a:t>
            </a: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8615222F-C7DB-5A8C-7552-3410393517F5}"/>
              </a:ext>
            </a:extLst>
          </p:cNvPr>
          <p:cNvSpPr txBox="1">
            <a:spLocks/>
          </p:cNvSpPr>
          <p:nvPr/>
        </p:nvSpPr>
        <p:spPr>
          <a:xfrm>
            <a:off x="7581200" y="4128654"/>
            <a:ext cx="3700132" cy="5232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Partner”, 350 Grove Street, Bridgewater, NJ 08807, United States.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D39D151-9FF0-F98C-5050-8117EAF186CC}"/>
              </a:ext>
            </a:extLst>
          </p:cNvPr>
          <p:cNvCxnSpPr>
            <a:cxnSpLocks/>
          </p:cNvCxnSpPr>
          <p:nvPr/>
        </p:nvCxnSpPr>
        <p:spPr>
          <a:xfrm>
            <a:off x="7326788" y="3225118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CF2AB4B-873F-E596-9F71-00AEB41AB2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3376990"/>
            <a:ext cx="228600" cy="2286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F7E2225-123C-E2AC-6610-FE75B6E7CA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3772616"/>
            <a:ext cx="228600" cy="2286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357D4EE-C6A4-0780-5917-5352EBA049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4168242"/>
            <a:ext cx="228600" cy="228600"/>
          </a:xfrm>
          <a:prstGeom prst="rect">
            <a:avLst/>
          </a:prstGeom>
        </p:spPr>
      </p:pic>
      <p:pic>
        <p:nvPicPr>
          <p:cNvPr id="40" name="Picture 39" descr="Logo&#10;&#10;Description automatically generated">
            <a:hlinkClick r:id="rId10"/>
            <a:extLst>
              <a:ext uri="{FF2B5EF4-FFF2-40B4-BE49-F238E27FC236}">
                <a16:creationId xmlns:a16="http://schemas.microsoft.com/office/drawing/2014/main" id="{3A64C5C4-EF68-BBD2-DA4D-FA1654CB6B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00252" y="5526127"/>
            <a:ext cx="881997" cy="251999"/>
          </a:xfrm>
          <a:prstGeom prst="rect">
            <a:avLst/>
          </a:prstGeom>
        </p:spPr>
      </p:pic>
      <p:pic>
        <p:nvPicPr>
          <p:cNvPr id="42" name="Picture 41" descr="A picture containing text, clipart&#10;&#10;Description automatically generated">
            <a:hlinkClick r:id="rId12"/>
            <a:extLst>
              <a:ext uri="{FF2B5EF4-FFF2-40B4-BE49-F238E27FC236}">
                <a16:creationId xmlns:a16="http://schemas.microsoft.com/office/drawing/2014/main" id="{C6B2261D-8975-83F4-293C-153EA1232EB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31274" y="5544126"/>
            <a:ext cx="1511998" cy="216000"/>
          </a:xfrm>
          <a:prstGeom prst="rect">
            <a:avLst/>
          </a:prstGeom>
        </p:spPr>
      </p:pic>
      <p:pic>
        <p:nvPicPr>
          <p:cNvPr id="44" name="Picture 43" descr="A picture containing text, clipart&#10;&#10;Description automatically generated">
            <a:hlinkClick r:id="rId14"/>
            <a:extLst>
              <a:ext uri="{FF2B5EF4-FFF2-40B4-BE49-F238E27FC236}">
                <a16:creationId xmlns:a16="http://schemas.microsoft.com/office/drawing/2014/main" id="{3D7D5357-E86E-92E3-5707-CA2FF00762D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92297" y="5526127"/>
            <a:ext cx="766497" cy="251999"/>
          </a:xfrm>
          <a:prstGeom prst="rect">
            <a:avLst/>
          </a:prstGeom>
        </p:spPr>
      </p:pic>
      <p:pic>
        <p:nvPicPr>
          <p:cNvPr id="46" name="Picture 45" descr="A picture containing text, clipart&#10;&#10;Description automatically generated">
            <a:hlinkClick r:id="rId16"/>
            <a:extLst>
              <a:ext uri="{FF2B5EF4-FFF2-40B4-BE49-F238E27FC236}">
                <a16:creationId xmlns:a16="http://schemas.microsoft.com/office/drawing/2014/main" id="{A62404A7-491D-AB8C-DF4C-0A7689FF8D3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07819" y="5526127"/>
            <a:ext cx="1282904" cy="251999"/>
          </a:xfrm>
          <a:prstGeom prst="rect">
            <a:avLst/>
          </a:prstGeom>
        </p:spPr>
      </p:pic>
      <p:pic>
        <p:nvPicPr>
          <p:cNvPr id="48" name="Picture 47" descr="A picture containing text, transport, clipart, wheel&#10;&#10;Description automatically generated">
            <a:hlinkClick r:id="rId18"/>
            <a:extLst>
              <a:ext uri="{FF2B5EF4-FFF2-40B4-BE49-F238E27FC236}">
                <a16:creationId xmlns:a16="http://schemas.microsoft.com/office/drawing/2014/main" id="{2B45102B-90BF-9A69-CC61-4C6AFF245D0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39748" y="5544126"/>
            <a:ext cx="1152000" cy="216000"/>
          </a:xfrm>
          <a:prstGeom prst="rect">
            <a:avLst/>
          </a:prstGeom>
        </p:spPr>
      </p:pic>
      <p:pic>
        <p:nvPicPr>
          <p:cNvPr id="14" name="Picture 13" descr="Shape&#10;&#10;Description automatically generated">
            <a:hlinkClick r:id="rId20"/>
            <a:extLst>
              <a:ext uri="{FF2B5EF4-FFF2-40B4-BE49-F238E27FC236}">
                <a16:creationId xmlns:a16="http://schemas.microsoft.com/office/drawing/2014/main" id="{ADB2A65D-4BAF-3302-A7AD-454CFB6416D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627401" y="6429239"/>
            <a:ext cx="228600" cy="228600"/>
          </a:xfrm>
          <a:prstGeom prst="rect">
            <a:avLst/>
          </a:prstGeom>
        </p:spPr>
      </p:pic>
      <p:pic>
        <p:nvPicPr>
          <p:cNvPr id="30" name="Picture 29" descr="A picture containing clipart&#10;&#10;Description automatically generated">
            <a:hlinkClick r:id="rId22"/>
            <a:extLst>
              <a:ext uri="{FF2B5EF4-FFF2-40B4-BE49-F238E27FC236}">
                <a16:creationId xmlns:a16="http://schemas.microsoft.com/office/drawing/2014/main" id="{4C05D210-7545-E130-D32C-60104CD0AA7F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257418" y="6429239"/>
            <a:ext cx="228600" cy="228600"/>
          </a:xfrm>
          <a:prstGeom prst="rect">
            <a:avLst/>
          </a:prstGeom>
        </p:spPr>
      </p:pic>
      <p:pic>
        <p:nvPicPr>
          <p:cNvPr id="32" name="Picture 31" descr="A picture containing text, clipart&#10;&#10;Description automatically generated">
            <a:hlinkClick r:id="rId24"/>
            <a:extLst>
              <a:ext uri="{FF2B5EF4-FFF2-40B4-BE49-F238E27FC236}">
                <a16:creationId xmlns:a16="http://schemas.microsoft.com/office/drawing/2014/main" id="{90AA3777-8D97-1931-9916-D94B8CE1EA2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77486" y="6429239"/>
            <a:ext cx="228600" cy="228600"/>
          </a:xfrm>
          <a:prstGeom prst="rect">
            <a:avLst/>
          </a:prstGeom>
        </p:spPr>
      </p:pic>
      <p:pic>
        <p:nvPicPr>
          <p:cNvPr id="36" name="Picture 35" descr="A picture containing text, clipart&#10;&#10;Description automatically generated">
            <a:hlinkClick r:id="rId26"/>
            <a:extLst>
              <a:ext uri="{FF2B5EF4-FFF2-40B4-BE49-F238E27FC236}">
                <a16:creationId xmlns:a16="http://schemas.microsoft.com/office/drawing/2014/main" id="{277E1FE5-F90B-E5EC-6B64-547EE65FA01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147469" y="6429239"/>
            <a:ext cx="228600" cy="228600"/>
          </a:xfrm>
          <a:prstGeom prst="rect">
            <a:avLst/>
          </a:prstGeom>
        </p:spPr>
      </p:pic>
      <p:pic>
        <p:nvPicPr>
          <p:cNvPr id="38" name="Picture 37" descr="A picture containing clipart&#10;&#10;Description automatically generated">
            <a:hlinkClick r:id="rId28"/>
            <a:extLst>
              <a:ext uri="{FF2B5EF4-FFF2-40B4-BE49-F238E27FC236}">
                <a16:creationId xmlns:a16="http://schemas.microsoft.com/office/drawing/2014/main" id="{913D1D7C-DD97-008D-32E9-2F3E1449CF1B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517452" y="6429239"/>
            <a:ext cx="228600" cy="228600"/>
          </a:xfrm>
          <a:prstGeom prst="rect">
            <a:avLst/>
          </a:prstGeom>
        </p:spPr>
      </p:pic>
      <p:pic>
        <p:nvPicPr>
          <p:cNvPr id="41" name="Picture 4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ECF0721-5F3F-7A0A-8B07-97E09AE355B8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960321" y="5863640"/>
            <a:ext cx="977900" cy="152400"/>
          </a:xfrm>
          <a:prstGeom prst="rect">
            <a:avLst/>
          </a:prstGeom>
        </p:spPr>
      </p:pic>
      <p:pic>
        <p:nvPicPr>
          <p:cNvPr id="45" name="Picture 4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60C7B80-41F7-6F4C-9EB0-D97AE9FAE43E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526798" y="5851286"/>
            <a:ext cx="977900" cy="152400"/>
          </a:xfrm>
          <a:prstGeom prst="rect">
            <a:avLst/>
          </a:prstGeom>
        </p:spPr>
      </p:pic>
      <p:pic>
        <p:nvPicPr>
          <p:cNvPr id="47" name="Picture 4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EDFC17D-0BEB-CE00-5CFF-4350F761C97F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86595" y="5851286"/>
            <a:ext cx="977900" cy="152400"/>
          </a:xfrm>
          <a:prstGeom prst="rect">
            <a:avLst/>
          </a:prstGeom>
        </p:spPr>
      </p:pic>
      <p:pic>
        <p:nvPicPr>
          <p:cNvPr id="50" name="Picture 49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DC590AF-236B-8D2E-6C6C-26D1E11EE6CE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8323" y="5863640"/>
            <a:ext cx="977900" cy="152400"/>
          </a:xfrm>
          <a:prstGeom prst="rect">
            <a:avLst/>
          </a:prstGeom>
        </p:spPr>
      </p:pic>
      <p:pic>
        <p:nvPicPr>
          <p:cNvPr id="51" name="Picture 5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C29C664-85B8-73EA-7FB2-776AF81D9691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580453" y="5858314"/>
            <a:ext cx="977900" cy="152400"/>
          </a:xfrm>
          <a:prstGeom prst="rect">
            <a:avLst/>
          </a:prstGeom>
        </p:spPr>
      </p:pic>
      <p:pic>
        <p:nvPicPr>
          <p:cNvPr id="53" name="Picture 52" descr="A picture containing text, clipart&#10;&#10;Description automatically generated">
            <a:hlinkClick r:id="rId32"/>
            <a:extLst>
              <a:ext uri="{FF2B5EF4-FFF2-40B4-BE49-F238E27FC236}">
                <a16:creationId xmlns:a16="http://schemas.microsoft.com/office/drawing/2014/main" id="{67637389-D544-8F66-71E6-50D3B35E8276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887435" y="6428492"/>
            <a:ext cx="228600" cy="228600"/>
          </a:xfrm>
          <a:prstGeom prst="rect">
            <a:avLst/>
          </a:prstGeom>
        </p:spPr>
      </p:pic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9D8FB93-7E3B-D2D5-BF79-9911592A49ED}"/>
              </a:ext>
            </a:extLst>
          </p:cNvPr>
          <p:cNvCxnSpPr>
            <a:cxnSpLocks/>
          </p:cNvCxnSpPr>
          <p:nvPr/>
        </p:nvCxnSpPr>
        <p:spPr>
          <a:xfrm>
            <a:off x="2580453" y="2716520"/>
            <a:ext cx="0" cy="519804"/>
          </a:xfrm>
          <a:prstGeom prst="line">
            <a:avLst/>
          </a:prstGeom>
          <a:ln w="19050">
            <a:solidFill>
              <a:srgbClr val="E8E8E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534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5955</TotalTime>
  <Words>419</Words>
  <Application>Microsoft Office PowerPoint</Application>
  <PresentationFormat>Widescreen</PresentationFormat>
  <Paragraphs>63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Roboto</vt:lpstr>
      <vt:lpstr>Roboto Medium</vt:lpstr>
      <vt:lpstr>Wingdings</vt:lpstr>
      <vt:lpstr>Office Theme 2013 - 2022</vt:lpstr>
      <vt:lpstr>Hanwha Vision  1st May’25 – 15th May’25</vt:lpstr>
      <vt:lpstr>Meeting Participants</vt:lpstr>
      <vt:lpstr>Jayendra Makvana - Highlights of the work done in two weeks</vt:lpstr>
      <vt:lpstr>Jayendra Makvana - Roadblocks / issues if any </vt:lpstr>
      <vt:lpstr>Jayendra Makvana - Improvement Points Identified</vt:lpstr>
      <vt:lpstr>Jayendra Makvana - Any New Problem Statement Seen / Identified * If any</vt:lpstr>
      <vt:lpstr>Jayendra Makvana - Achievements/Extra mile of the week * if any</vt:lpstr>
      <vt:lpstr>Thank You For  Your Time &amp;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creator>Amar Chuhan</dc:creator>
  <cp:lastModifiedBy>Parth Jotangiya</cp:lastModifiedBy>
  <cp:revision>507</cp:revision>
  <dcterms:created xsi:type="dcterms:W3CDTF">2023-01-02T08:33:04Z</dcterms:created>
  <dcterms:modified xsi:type="dcterms:W3CDTF">2025-05-20T11:28:44Z</dcterms:modified>
</cp:coreProperties>
</file>