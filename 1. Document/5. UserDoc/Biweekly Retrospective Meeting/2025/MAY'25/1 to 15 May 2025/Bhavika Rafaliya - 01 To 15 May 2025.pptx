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theme/theme5.xml" ContentType="application/vnd.openxmlformats-officedocument.theme+xml"/>
  <Override PartName="/ppt/slideLayouts/slideLayout12.xml" ContentType="application/vnd.openxmlformats-officedocument.presentationml.slideLayout+xml"/>
  <Override PartName="/ppt/theme/theme6.xml" ContentType="application/vnd.openxmlformats-officedocument.theme+xml"/>
  <Override PartName="/ppt/slideLayouts/slideLayout13.xml" ContentType="application/vnd.openxmlformats-officedocument.presentationml.slideLayout+xml"/>
  <Override PartName="/ppt/theme/theme7.xml" ContentType="application/vnd.openxmlformats-officedocument.theme+xml"/>
  <Override PartName="/ppt/slideLayouts/slideLayout14.xml" ContentType="application/vnd.openxmlformats-officedocument.presentationml.slideLayout+xml"/>
  <Override PartName="/ppt/theme/theme8.xml" ContentType="application/vnd.openxmlformats-officedocument.theme+xml"/>
  <Override PartName="/ppt/slideLayouts/slideLayout15.xml" ContentType="application/vnd.openxmlformats-officedocument.presentationml.slideLayout+xml"/>
  <Override PartName="/ppt/theme/theme9.xml" ContentType="application/vnd.openxmlformats-officedocument.theme+xml"/>
  <Override PartName="/ppt/slideLayouts/slideLayout16.xml" ContentType="application/vnd.openxmlformats-officedocument.presentationml.slideLayout+xml"/>
  <Override PartName="/ppt/theme/theme10.xml" ContentType="application/vnd.openxmlformats-officedocument.theme+xml"/>
  <Override PartName="/ppt/slideLayouts/slideLayout17.xml" ContentType="application/vnd.openxmlformats-officedocument.presentationml.slideLayout+xml"/>
  <Override PartName="/ppt/theme/theme1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6" r:id="rId2"/>
    <p:sldMasterId id="2147483658" r:id="rId3"/>
    <p:sldMasterId id="2147483660" r:id="rId4"/>
    <p:sldMasterId id="2147483662" r:id="rId5"/>
    <p:sldMasterId id="2147483664" r:id="rId6"/>
    <p:sldMasterId id="2147483666" r:id="rId7"/>
    <p:sldMasterId id="2147483668" r:id="rId8"/>
    <p:sldMasterId id="2147483670" r:id="rId9"/>
    <p:sldMasterId id="2147483672" r:id="rId10"/>
    <p:sldMasterId id="2147483674" r:id="rId11"/>
  </p:sld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4.xml"/><Relationship Id="rId23" Type="http://schemas.openxmlformats.org/officeDocument/2006/relationships/tableStyles" Target="tableStyle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8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EDA38853-1492-404B-84B8-AB9C8EAF5D5A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69DC3D20-950A-45EF-92D4-BD00B203E097}" type="slidenum">
              <a:t>‹#›</a:t>
            </a:fld>
            <a:endParaRPr/>
          </a:p>
        </p:txBody>
      </p:sp>
      <p:sp>
        <p:nvSpPr>
          <p:cNvPr id="2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0C2D6E9B-594C-4CB2-A81C-3C2E85048B52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A549FC43-F80F-47AD-B1EB-F8FD6E6D7B5C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1D02544-B009-4406-A421-19355F501934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F8CCA42C-9B9B-4260-9004-78F517AFE800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69C3F7BC-9D63-4682-BA49-A6A4DA74FE7A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BCC6DAA1-1B16-44C5-A10C-0E277BF7292A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4BE1EB19-7CB5-49BC-8D27-FF5627AAB331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1117AC6-5C8E-442E-A732-F605868999CF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FE56F5B7-BCA9-42B1-8F13-DFEF011B2056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C12F4A77-82B9-4B95-BB92-DC26FF9E2427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7EB51A9F-66FA-4497-9E54-941A8488B27E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E2B0D4FD-D961-4F43-AC50-451252DF8F1E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2E603C6E-A5D4-4AE2-87CF-F5C0F68DC6BD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lstStyle/>
          <a:p>
            <a:fld id="{E3E74471-11BD-4A55-A4FC-19F5BCD1D410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lstStyle/>
          <a:p>
            <a:fld id="{26CB862B-5C44-4FC1-A6D7-2EFC99D26108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1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2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3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4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5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6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GB" sz="6000" b="0" u="none" strike="noStrike">
                <a:solidFill>
                  <a:schemeClr val="dk1"/>
                </a:solidFill>
                <a:uFillTx/>
                <a:latin typeface="Calibri Light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Calibri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Calibri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GB" sz="4400" b="0" u="none" strike="noStrike">
                <a:solidFill>
                  <a:schemeClr val="dk1"/>
                </a:solidFill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800" b="0" u="none" strike="noStrik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00" b="0" u="none" strike="noStrik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1800" b="0" u="none" strike="noStrik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1800" b="0" u="none" strike="noStrik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16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17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GB" sz="4400" b="0" u="none" strike="noStrike">
                <a:solidFill>
                  <a:schemeClr val="dk1"/>
                </a:solidFill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800" b="0" u="none" strike="noStrik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00" b="0" u="none" strike="noStrik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1800" b="0" u="none" strike="noStrik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1800" b="0" u="none" strike="noStrik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21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22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GB" sz="4400" b="0" u="none" strike="noStrike">
                <a:solidFill>
                  <a:schemeClr val="dk1"/>
                </a:solidFill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800" b="0" u="none" strike="noStrik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00" b="0" u="none" strike="noStrik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1800" b="0" u="none" strike="noStrik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1800" b="0" u="none" strike="noStrik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26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27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GB" sz="6000" b="0" u="none" strike="noStrike">
                <a:solidFill>
                  <a:schemeClr val="dk1"/>
                </a:solidFill>
                <a:uFillTx/>
                <a:latin typeface="Calibri Light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GB" sz="24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33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34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GB" sz="4400" b="0" u="none" strike="noStrike">
                <a:solidFill>
                  <a:schemeClr val="dk1"/>
                </a:solidFill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800" b="0" u="none" strike="noStrik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00" b="0" u="none" strike="noStrik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1800" b="0" u="none" strike="noStrik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1800" b="0" u="none" strike="noStrik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800" b="0" u="none" strike="noStrik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00" b="0" u="none" strike="noStrik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1800" b="0" u="none" strike="noStrik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1800" b="0" u="none" strike="noStrik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39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40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GB" sz="4400" b="0" u="none" strike="noStrike">
                <a:solidFill>
                  <a:schemeClr val="dk1"/>
                </a:solidFill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GB" sz="2400" b="1" u="none" strike="noStrik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800" b="0" u="none" strike="noStrik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00" b="0" u="none" strike="noStrik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1800" b="0" u="none" strike="noStrik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1800" b="0" u="none" strike="noStrik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GB" sz="2400" b="1" u="none" strike="noStrik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800" b="0" u="none" strike="noStrik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00" b="0" u="none" strike="noStrik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1800" b="0" u="none" strike="noStrik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1800" b="0" u="none" strike="noStrik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50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51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GB" sz="4400" b="0" u="none" strike="noStrike">
                <a:solidFill>
                  <a:schemeClr val="dk1"/>
                </a:solidFill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54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55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58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59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GB" sz="3200" b="0" u="none" strike="noStrike">
                <a:solidFill>
                  <a:schemeClr val="dk1"/>
                </a:solidFill>
                <a:uFillTx/>
                <a:latin typeface="Calibri Light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3200" b="0" u="none" strike="noStrik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800" b="0" u="none" strike="noStrik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00" b="0" u="none" strike="noStrik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00" b="0" u="none" strike="noStrik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64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65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GB" sz="3200" b="0" u="none" strike="noStrike">
                <a:solidFill>
                  <a:schemeClr val="dk1"/>
                </a:solidFill>
                <a:uFillTx/>
                <a:latin typeface="Calibri Light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Calibri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Calibri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Calibri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Calibri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Calibri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Calibri"/>
              </a:rPr>
              <a:t>Seventh Outline Level</a:t>
            </a: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70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71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7" Type="http://schemas.openxmlformats.org/officeDocument/2006/relationships/image" Target="../media/image5.wmf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www.spec-india.com/" TargetMode="External"/><Relationship Id="rId5" Type="http://schemas.openxmlformats.org/officeDocument/2006/relationships/image" Target="../media/image4.wmf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18" Type="http://schemas.openxmlformats.org/officeDocument/2006/relationships/hyperlink" Target="https://www.glassdoor.co.in/Reviews/SPEC-INDIA-Reviews-E688018.htm" TargetMode="External"/><Relationship Id="rId26" Type="http://schemas.openxmlformats.org/officeDocument/2006/relationships/hyperlink" Target="https://www.linkedin.com/company/spec-india/mycompany/" TargetMode="External"/><Relationship Id="rId3" Type="http://schemas.openxmlformats.org/officeDocument/2006/relationships/image" Target="../media/image2.wmf"/><Relationship Id="rId21" Type="http://schemas.openxmlformats.org/officeDocument/2006/relationships/image" Target="../media/image14.png"/><Relationship Id="rId7" Type="http://schemas.openxmlformats.org/officeDocument/2006/relationships/image" Target="../media/image7.wmf"/><Relationship Id="rId12" Type="http://schemas.openxmlformats.org/officeDocument/2006/relationships/hyperlink" Target="https://www.goodfirms.co/company/spec-india" TargetMode="External"/><Relationship Id="rId17" Type="http://schemas.openxmlformats.org/officeDocument/2006/relationships/image" Target="../media/image12.png"/><Relationship Id="rId25" Type="http://schemas.openxmlformats.org/officeDocument/2006/relationships/image" Target="../media/image16.png"/><Relationship Id="rId33" Type="http://schemas.openxmlformats.org/officeDocument/2006/relationships/image" Target="../media/image21.png"/><Relationship Id="rId2" Type="http://schemas.openxmlformats.org/officeDocument/2006/relationships/image" Target="../media/image1.wmf"/><Relationship Id="rId16" Type="http://schemas.openxmlformats.org/officeDocument/2006/relationships/hyperlink" Target="https://www.ambitionbox.com/reviews/spec-india-reviews" TargetMode="External"/><Relationship Id="rId20" Type="http://schemas.openxmlformats.org/officeDocument/2006/relationships/hyperlink" Target="https://www.behance.net/specindia" TargetMode="External"/><Relationship Id="rId29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wmf"/><Relationship Id="rId11" Type="http://schemas.openxmlformats.org/officeDocument/2006/relationships/image" Target="../media/image9.png"/><Relationship Id="rId24" Type="http://schemas.openxmlformats.org/officeDocument/2006/relationships/hyperlink" Target="https://www.facebook.com/SPECINDIA.IT" TargetMode="External"/><Relationship Id="rId32" Type="http://schemas.openxmlformats.org/officeDocument/2006/relationships/hyperlink" Target="https://www.instagram.com/spec_india" TargetMode="External"/><Relationship Id="rId5" Type="http://schemas.openxmlformats.org/officeDocument/2006/relationships/hyperlink" Target="mailto:lead@spec-india.com" TargetMode="External"/><Relationship Id="rId15" Type="http://schemas.openxmlformats.org/officeDocument/2006/relationships/image" Target="../media/image11.png"/><Relationship Id="rId23" Type="http://schemas.openxmlformats.org/officeDocument/2006/relationships/image" Target="../media/image15.png"/><Relationship Id="rId28" Type="http://schemas.openxmlformats.org/officeDocument/2006/relationships/hyperlink" Target="https://twitter.com/infospec_india" TargetMode="External"/><Relationship Id="rId10" Type="http://schemas.openxmlformats.org/officeDocument/2006/relationships/hyperlink" Target="https://clutch.co/profile/spec-india" TargetMode="External"/><Relationship Id="rId19" Type="http://schemas.openxmlformats.org/officeDocument/2006/relationships/image" Target="../media/image13.png"/><Relationship Id="rId31" Type="http://schemas.openxmlformats.org/officeDocument/2006/relationships/image" Target="../media/image20.png"/><Relationship Id="rId4" Type="http://schemas.openxmlformats.org/officeDocument/2006/relationships/hyperlink" Target="http://www.spec-india.com/" TargetMode="External"/><Relationship Id="rId9" Type="http://schemas.openxmlformats.org/officeDocument/2006/relationships/hyperlink" Target="mailto:lead@spec-usa.net" TargetMode="External"/><Relationship Id="rId14" Type="http://schemas.openxmlformats.org/officeDocument/2006/relationships/hyperlink" Target="https://g.page/r/CRApINeFYBWKEAE" TargetMode="External"/><Relationship Id="rId22" Type="http://schemas.openxmlformats.org/officeDocument/2006/relationships/hyperlink" Target="https://dribbble.com/specindia" TargetMode="External"/><Relationship Id="rId27" Type="http://schemas.openxmlformats.org/officeDocument/2006/relationships/image" Target="../media/image17.png"/><Relationship Id="rId30" Type="http://schemas.openxmlformats.org/officeDocument/2006/relationships/image" Target="../media/image19.png"/><Relationship Id="rId8" Type="http://schemas.openxmlformats.org/officeDocument/2006/relationships/image" Target="../media/image8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19"/>
          <p:cNvPicPr/>
          <p:nvPr/>
        </p:nvPicPr>
        <p:blipFill>
          <a:blip r:embed="rId2"/>
          <a:stretch/>
        </p:blipFill>
        <p:spPr>
          <a:xfrm>
            <a:off x="-18360" y="0"/>
            <a:ext cx="6679800" cy="6222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" name="Picture 8"/>
          <p:cNvPicPr/>
          <p:nvPr/>
        </p:nvPicPr>
        <p:blipFill>
          <a:blip r:embed="rId3"/>
          <a:stretch/>
        </p:blipFill>
        <p:spPr>
          <a:xfrm>
            <a:off x="0" y="5079960"/>
            <a:ext cx="12191760" cy="1777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" name="Picture 7"/>
          <p:cNvPicPr/>
          <p:nvPr/>
        </p:nvPicPr>
        <p:blipFill>
          <a:blip r:embed="rId4"/>
          <a:stretch/>
        </p:blipFill>
        <p:spPr>
          <a:xfrm>
            <a:off x="0" y="2031840"/>
            <a:ext cx="12191760" cy="4825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313920" y="1536480"/>
            <a:ext cx="5223240" cy="1206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br>
              <a:rPr sz="3000" dirty="0"/>
            </a:br>
            <a:br>
              <a:rPr sz="3000" dirty="0"/>
            </a:br>
            <a:r>
              <a:rPr lang="en-US" sz="3000" b="1" u="none" strike="noStrike" spc="11" dirty="0">
                <a:uFillTx/>
                <a:latin typeface="Roboto"/>
                <a:ea typeface="Roboto"/>
              </a:rPr>
              <a:t>Hanwha Vision</a:t>
            </a:r>
            <a:br>
              <a:rPr sz="3000" dirty="0"/>
            </a:br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1st May’25 – 15th May’25</a:t>
            </a:r>
            <a:endParaRPr lang="en-US" sz="3000" b="0" u="none" strike="noStrike" dirty="0">
              <a:solidFill>
                <a:schemeClr val="dk1"/>
              </a:solidFill>
              <a:uFillTx/>
              <a:latin typeface="Calibri"/>
            </a:endParaRPr>
          </a:p>
        </p:txBody>
      </p:sp>
      <p:cxnSp>
        <p:nvCxnSpPr>
          <p:cNvPr id="76" name="Straight Connector 6"/>
          <p:cNvCxnSpPr/>
          <p:nvPr/>
        </p:nvCxnSpPr>
        <p:spPr>
          <a:xfrm>
            <a:off x="364320" y="2859480"/>
            <a:ext cx="4953600" cy="360"/>
          </a:xfrm>
          <a:prstGeom prst="straightConnector1">
            <a:avLst/>
          </a:prstGeom>
          <a:ln w="25400">
            <a:solidFill>
              <a:srgbClr val="65BB35"/>
            </a:solidFill>
          </a:ln>
        </p:spPr>
      </p:cxnSp>
      <p:pic>
        <p:nvPicPr>
          <p:cNvPr id="77" name="Picture 24"/>
          <p:cNvPicPr/>
          <p:nvPr/>
        </p:nvPicPr>
        <p:blipFill>
          <a:blip r:embed="rId5"/>
          <a:stretch/>
        </p:blipFill>
        <p:spPr>
          <a:xfrm>
            <a:off x="9562680" y="377280"/>
            <a:ext cx="2171520" cy="1015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" name="Picture 4">
            <a:hlinkClick r:id="rId6"/>
          </p:cNvPr>
          <p:cNvPicPr/>
          <p:nvPr/>
        </p:nvPicPr>
        <p:blipFill>
          <a:blip r:embed="rId7"/>
          <a:stretch/>
        </p:blipFill>
        <p:spPr>
          <a:xfrm>
            <a:off x="524880" y="611280"/>
            <a:ext cx="1777680" cy="53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Text Box 2"/>
          <p:cNvSpPr/>
          <p:nvPr/>
        </p:nvSpPr>
        <p:spPr>
          <a:xfrm>
            <a:off x="3522960" y="2935440"/>
            <a:ext cx="231300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1" u="none" strike="noStrike" spc="11">
                <a:solidFill>
                  <a:srgbClr val="7030A0"/>
                </a:solidFill>
                <a:uFillTx/>
                <a:latin typeface="Roboto"/>
                <a:ea typeface="Roboto"/>
              </a:rPr>
              <a:t>Bhavika Rafaliya</a:t>
            </a:r>
            <a:endParaRPr lang="en-US" sz="18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4"/>
          <p:cNvSpPr/>
          <p:nvPr/>
        </p:nvSpPr>
        <p:spPr>
          <a:xfrm>
            <a:off x="335880" y="380880"/>
            <a:ext cx="11519640" cy="63468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65BB35"/>
              </a:solidFill>
              <a:uFillTx/>
              <a:latin typeface="Calibri"/>
            </a:endParaRPr>
          </a:p>
        </p:txBody>
      </p:sp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507960" y="532080"/>
            <a:ext cx="7478280" cy="332640"/>
          </a:xfrm>
          <a:prstGeom prst="rect">
            <a:avLst/>
          </a:prstGeom>
          <a:noFill/>
          <a:ln w="0">
            <a:noFill/>
          </a:ln>
        </p:spPr>
        <p:txBody>
          <a:bodyPr lIns="91440" tIns="0" rIns="9144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2400" b="1" u="none" strike="noStrike">
                <a:solidFill>
                  <a:schemeClr val="lt1"/>
                </a:solidFill>
                <a:uFillTx/>
                <a:latin typeface="Roboto"/>
                <a:ea typeface="Roboto"/>
              </a:rPr>
              <a:t>Meeting Participants</a:t>
            </a:r>
            <a:endParaRPr lang="en-US" sz="24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cxnSp>
        <p:nvCxnSpPr>
          <p:cNvPr id="82" name="Straight Connector 8"/>
          <p:cNvCxnSpPr/>
          <p:nvPr/>
        </p:nvCxnSpPr>
        <p:spPr>
          <a:xfrm>
            <a:off x="335880" y="6222960"/>
            <a:ext cx="11520360" cy="360"/>
          </a:xfrm>
          <a:prstGeom prst="straightConnector1">
            <a:avLst/>
          </a:prstGeom>
          <a:ln w="12700">
            <a:solidFill>
              <a:srgbClr val="FFFFFF">
                <a:lumMod val="85000"/>
              </a:srgbClr>
            </a:solidFill>
          </a:ln>
        </p:spPr>
      </p:cxnSp>
      <p:sp>
        <p:nvSpPr>
          <p:cNvPr id="83" name="TextBox 12"/>
          <p:cNvSpPr/>
          <p:nvPr/>
        </p:nvSpPr>
        <p:spPr>
          <a:xfrm>
            <a:off x="326520" y="6380280"/>
            <a:ext cx="407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400" b="0" u="none" strike="noStrike" spc="11">
                <a:solidFill>
                  <a:schemeClr val="lt1">
                    <a:lumMod val="65000"/>
                  </a:schemeClr>
                </a:solidFill>
                <a:uFillTx/>
                <a:latin typeface="Roboto"/>
                <a:ea typeface="Roboto"/>
              </a:rPr>
              <a:t>04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" name="Rectangle 7"/>
          <p:cNvSpPr/>
          <p:nvPr/>
        </p:nvSpPr>
        <p:spPr>
          <a:xfrm>
            <a:off x="335880" y="380880"/>
            <a:ext cx="112320" cy="63468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85" name="Picture 16"/>
          <p:cNvPicPr/>
          <p:nvPr/>
        </p:nvPicPr>
        <p:blipFill>
          <a:blip r:embed="rId2"/>
          <a:stretch/>
        </p:blipFill>
        <p:spPr>
          <a:xfrm>
            <a:off x="10849320" y="6380280"/>
            <a:ext cx="1006200" cy="301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Subtitle 2"/>
          <p:cNvSpPr/>
          <p:nvPr/>
        </p:nvSpPr>
        <p:spPr>
          <a:xfrm>
            <a:off x="4835880" y="6443640"/>
            <a:ext cx="2519640" cy="19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0" bIns="0" anchor="t">
            <a:spAutoFit/>
          </a:bodyPr>
          <a:lstStyle/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sng" strike="noStrike" spc="11">
                <a:solidFill>
                  <a:schemeClr val="lt1">
                    <a:lumMod val="75000"/>
                  </a:schemeClr>
                </a:solidFill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7" name="TextBox 3"/>
          <p:cNvSpPr/>
          <p:nvPr/>
        </p:nvSpPr>
        <p:spPr>
          <a:xfrm>
            <a:off x="448920" y="1262880"/>
            <a:ext cx="9157680" cy="257822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1800" b="0" u="none" strike="noStrike" dirty="0">
                <a:solidFill>
                  <a:schemeClr val="dk1"/>
                </a:solidFill>
                <a:uFillTx/>
                <a:latin typeface="Roboto Medium"/>
                <a:ea typeface="Roboto Medium"/>
              </a:rPr>
              <a:t>Bhavika Rafaliya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1800" b="0" u="none" strike="noStrike" dirty="0">
                <a:solidFill>
                  <a:schemeClr val="dk1"/>
                </a:solidFill>
                <a:uFillTx/>
                <a:latin typeface="Roboto Medium"/>
                <a:ea typeface="Roboto Medium"/>
              </a:rPr>
              <a:t>Parth Jotangiya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1800" b="0" u="none" strike="noStrike" dirty="0">
                <a:solidFill>
                  <a:schemeClr val="dk1"/>
                </a:solidFill>
                <a:uFillTx/>
                <a:latin typeface="Roboto Medium"/>
                <a:ea typeface="Roboto Medium"/>
              </a:rPr>
              <a:t>Jayendra makwana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1800" b="0" u="none" strike="noStrike" dirty="0">
                <a:solidFill>
                  <a:schemeClr val="dk1"/>
                </a:solidFill>
                <a:uFillTx/>
                <a:latin typeface="Roboto Medium"/>
                <a:ea typeface="Roboto Medium"/>
              </a:rPr>
              <a:t>Hasti Tilva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1800" b="0" u="none" strike="noStrike" dirty="0">
                <a:solidFill>
                  <a:schemeClr val="dk1"/>
                </a:solidFill>
                <a:uFillTx/>
                <a:latin typeface="Roboto Medium"/>
                <a:ea typeface="Roboto Medium"/>
              </a:rPr>
              <a:t>Rashmi Patel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1800" b="0" u="none" strike="noStrike" dirty="0">
                <a:solidFill>
                  <a:schemeClr val="dk1"/>
                </a:solidFill>
                <a:uFillTx/>
                <a:latin typeface="Roboto Medium"/>
                <a:ea typeface="Roboto Medium"/>
              </a:rPr>
              <a:t>Hiten Parmar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Roboto Medium"/>
                <a:ea typeface="Roboto Medium"/>
              </a:rPr>
              <a:t>Adnan Mansuri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4"/>
          <p:cNvSpPr/>
          <p:nvPr/>
        </p:nvSpPr>
        <p:spPr>
          <a:xfrm>
            <a:off x="335880" y="380880"/>
            <a:ext cx="11519640" cy="63468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65BB35"/>
              </a:solidFill>
              <a:uFillTx/>
              <a:latin typeface="Calibri"/>
            </a:endParaRPr>
          </a:p>
        </p:txBody>
      </p:sp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507960" y="532080"/>
            <a:ext cx="11347560" cy="332640"/>
          </a:xfrm>
          <a:prstGeom prst="rect">
            <a:avLst/>
          </a:prstGeom>
          <a:noFill/>
          <a:ln w="0">
            <a:noFill/>
          </a:ln>
        </p:spPr>
        <p:txBody>
          <a:bodyPr lIns="91440" tIns="0" rIns="9144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2400" b="1" u="none" strike="noStrike">
                <a:solidFill>
                  <a:schemeClr val="lt1"/>
                </a:solidFill>
                <a:uFillTx/>
                <a:latin typeface="Calibri"/>
                <a:ea typeface="Roboto"/>
              </a:rPr>
              <a:t>Bhavika Rafaliya - </a:t>
            </a:r>
            <a:r>
              <a:rPr lang="en-US" sz="2400" b="1" u="none" strike="noStrike">
                <a:solidFill>
                  <a:schemeClr val="lt1"/>
                </a:solidFill>
                <a:uFillTx/>
                <a:latin typeface="Roboto"/>
                <a:ea typeface="Roboto"/>
              </a:rPr>
              <a:t>Highlights of the work in two weeks</a:t>
            </a:r>
            <a:endParaRPr lang="en-US" sz="24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cxnSp>
        <p:nvCxnSpPr>
          <p:cNvPr id="90" name="Straight Connector 8"/>
          <p:cNvCxnSpPr/>
          <p:nvPr/>
        </p:nvCxnSpPr>
        <p:spPr>
          <a:xfrm>
            <a:off x="335880" y="6222960"/>
            <a:ext cx="11520360" cy="360"/>
          </a:xfrm>
          <a:prstGeom prst="straightConnector1">
            <a:avLst/>
          </a:prstGeom>
          <a:ln w="12700">
            <a:solidFill>
              <a:srgbClr val="FFFFFF">
                <a:lumMod val="85000"/>
              </a:srgbClr>
            </a:solidFill>
          </a:ln>
        </p:spPr>
      </p:cxnSp>
      <p:sp>
        <p:nvSpPr>
          <p:cNvPr id="91" name="TextBox 12"/>
          <p:cNvSpPr/>
          <p:nvPr/>
        </p:nvSpPr>
        <p:spPr>
          <a:xfrm>
            <a:off x="326520" y="6380280"/>
            <a:ext cx="407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400" b="0" u="none" strike="noStrike" spc="11">
                <a:solidFill>
                  <a:schemeClr val="lt1">
                    <a:lumMod val="65000"/>
                  </a:schemeClr>
                </a:solidFill>
                <a:uFillTx/>
                <a:latin typeface="Roboto"/>
                <a:ea typeface="Roboto"/>
              </a:rPr>
              <a:t>04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2" name="Rectangle 7"/>
          <p:cNvSpPr/>
          <p:nvPr/>
        </p:nvSpPr>
        <p:spPr>
          <a:xfrm>
            <a:off x="335880" y="380880"/>
            <a:ext cx="112320" cy="63468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93" name="Picture 16"/>
          <p:cNvPicPr/>
          <p:nvPr/>
        </p:nvPicPr>
        <p:blipFill>
          <a:blip r:embed="rId2"/>
          <a:stretch/>
        </p:blipFill>
        <p:spPr>
          <a:xfrm>
            <a:off x="10849320" y="6380280"/>
            <a:ext cx="1006200" cy="301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Subtitle 2"/>
          <p:cNvSpPr/>
          <p:nvPr/>
        </p:nvSpPr>
        <p:spPr>
          <a:xfrm>
            <a:off x="4835880" y="6443640"/>
            <a:ext cx="2519640" cy="19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0" bIns="0" anchor="t">
            <a:spAutoFit/>
          </a:bodyPr>
          <a:lstStyle/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sng" strike="noStrike" spc="11">
                <a:solidFill>
                  <a:schemeClr val="lt1">
                    <a:lumMod val="75000"/>
                  </a:schemeClr>
                </a:solidFill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5" name="TextBox 5"/>
          <p:cNvSpPr/>
          <p:nvPr/>
        </p:nvSpPr>
        <p:spPr>
          <a:xfrm>
            <a:off x="448920" y="914400"/>
            <a:ext cx="11406960" cy="541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lang="en-US" sz="1800" b="1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Hanwha</a:t>
            </a:r>
            <a:endParaRPr lang="en-US" sz="1800" b="0" u="none" strike="noStrike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Integrated DateTimeRangePicker in a project.</a:t>
            </a:r>
            <a:endParaRPr lang="en-US" sz="1600" b="0" u="none" strike="noStrike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Worked on below widgets</a:t>
            </a:r>
            <a:endParaRPr lang="en-US" sz="1600" b="0" u="none" strike="noStrike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 marL="432000" lvl="1" indent="-216000" defTabSz="9144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"/>
            </a:pPr>
            <a:r>
              <a:rPr lang="en-US" sz="16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Average people counting</a:t>
            </a:r>
            <a:endParaRPr lang="en-US" sz="1600" b="0" u="none" strike="noStrike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 marL="432000" lvl="1" indent="-216000" defTabSz="9144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"/>
            </a:pPr>
            <a:r>
              <a:rPr lang="en-US" sz="16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New Vs Total Visitors</a:t>
            </a:r>
            <a:endParaRPr lang="en-US" sz="1600" b="0" u="none" strike="noStrike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 marL="432000" lvl="1" indent="-216000" defTabSz="9144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"/>
            </a:pPr>
            <a:r>
              <a:rPr lang="en-US" sz="16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Average Vehicle Counting</a:t>
            </a:r>
            <a:endParaRPr lang="en-US" sz="1600" b="0" u="none" strike="noStrike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 marL="432000" lvl="1" indent="-216000" defTabSz="9144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"/>
            </a:pPr>
            <a:r>
              <a:rPr lang="en-US" sz="16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blocked exit detection</a:t>
            </a:r>
            <a:endParaRPr lang="en-US" sz="1600" b="0" u="none" strike="noStrike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 marL="432000" lvl="1" indent="-216000" defTabSz="9144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"/>
            </a:pPr>
            <a:r>
              <a:rPr lang="en-US" sz="16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Stopped Exit Detection</a:t>
            </a:r>
            <a:endParaRPr lang="en-US" sz="1600" b="0" u="none" strike="noStrike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 marL="432000" lvl="1" indent="-216000" defTabSz="9144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"/>
            </a:pPr>
            <a:r>
              <a:rPr lang="en-US" sz="16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Stopped Vehicle count by type</a:t>
            </a:r>
            <a:endParaRPr lang="en-US" sz="1600" b="0" u="none" strike="noStrike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 marL="432000" lvl="1" indent="-216000" defTabSz="9144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"/>
            </a:pPr>
            <a:r>
              <a:rPr lang="en-US" sz="16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Queue Events for People</a:t>
            </a:r>
            <a:endParaRPr lang="en-US" sz="1600" b="0" u="none" strike="noStrike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 marL="432000" lvl="1" indent="-216000" defTabSz="9144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"/>
            </a:pPr>
            <a:r>
              <a:rPr lang="en-US" sz="16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Detect forklifts</a:t>
            </a:r>
            <a:endParaRPr lang="en-US" sz="1600" b="0" u="none" strike="noStrike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 marL="432000" lvl="1" indent="-216000" defTabSz="9144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"/>
            </a:pPr>
            <a:r>
              <a:rPr lang="en-US" sz="16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Safety measures</a:t>
            </a:r>
            <a:endParaRPr lang="en-US" sz="1600" b="0" u="none" strike="noStrike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Code review for front-end task</a:t>
            </a:r>
            <a:endParaRPr lang="en-US" sz="16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Fixed the code review comments</a:t>
            </a:r>
            <a:endParaRPr lang="en-US" sz="1600" b="0" u="none" strike="noStrike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 marL="432000" lvl="1" indent="-216000" defTabSz="9144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1600" b="0" u="none" strike="noStrike">
              <a:solidFill>
                <a:srgbClr val="000000"/>
              </a:solidFill>
              <a:uFillTx/>
              <a:latin typeface="Arial"/>
              <a:ea typeface="Microsoft YaHe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angle 4"/>
          <p:cNvSpPr/>
          <p:nvPr/>
        </p:nvSpPr>
        <p:spPr>
          <a:xfrm>
            <a:off x="335880" y="380880"/>
            <a:ext cx="11519640" cy="63468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65BB35"/>
              </a:solidFill>
              <a:uFillTx/>
              <a:latin typeface="Calibri"/>
            </a:endParaRPr>
          </a:p>
        </p:txBody>
      </p:sp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507960" y="532080"/>
            <a:ext cx="7478280" cy="332640"/>
          </a:xfrm>
          <a:prstGeom prst="rect">
            <a:avLst/>
          </a:prstGeom>
          <a:noFill/>
          <a:ln w="0">
            <a:noFill/>
          </a:ln>
        </p:spPr>
        <p:txBody>
          <a:bodyPr lIns="91440" tIns="0" rIns="9144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2400" b="1" u="none" strike="noStrike">
                <a:solidFill>
                  <a:schemeClr val="lt1"/>
                </a:solidFill>
                <a:uFillTx/>
                <a:latin typeface="Calibri"/>
                <a:ea typeface="Roboto"/>
              </a:rPr>
              <a:t>Bhavika Rafaliya - </a:t>
            </a:r>
            <a:r>
              <a:rPr lang="en-US" sz="2400" b="1" u="none" strike="noStrike">
                <a:solidFill>
                  <a:schemeClr val="lt1"/>
                </a:solidFill>
                <a:uFillTx/>
                <a:latin typeface="Roboto"/>
                <a:ea typeface="Roboto"/>
              </a:rPr>
              <a:t>Roadblocks / issues if any </a:t>
            </a:r>
            <a:endParaRPr lang="en-US" sz="24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cxnSp>
        <p:nvCxnSpPr>
          <p:cNvPr id="98" name="Straight Connector 8"/>
          <p:cNvCxnSpPr/>
          <p:nvPr/>
        </p:nvCxnSpPr>
        <p:spPr>
          <a:xfrm>
            <a:off x="335880" y="6222960"/>
            <a:ext cx="11520360" cy="360"/>
          </a:xfrm>
          <a:prstGeom prst="straightConnector1">
            <a:avLst/>
          </a:prstGeom>
          <a:ln w="12700">
            <a:solidFill>
              <a:srgbClr val="FFFFFF">
                <a:lumMod val="85000"/>
              </a:srgbClr>
            </a:solidFill>
          </a:ln>
        </p:spPr>
      </p:cxnSp>
      <p:sp>
        <p:nvSpPr>
          <p:cNvPr id="99" name="TextBox 12"/>
          <p:cNvSpPr/>
          <p:nvPr/>
        </p:nvSpPr>
        <p:spPr>
          <a:xfrm>
            <a:off x="326520" y="6380280"/>
            <a:ext cx="407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400" b="0" u="none" strike="noStrike" spc="11">
                <a:solidFill>
                  <a:schemeClr val="lt1">
                    <a:lumMod val="65000"/>
                  </a:schemeClr>
                </a:solidFill>
                <a:uFillTx/>
                <a:latin typeface="Roboto"/>
                <a:ea typeface="Roboto"/>
              </a:rPr>
              <a:t>04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0" name="Rectangle 7"/>
          <p:cNvSpPr/>
          <p:nvPr/>
        </p:nvSpPr>
        <p:spPr>
          <a:xfrm>
            <a:off x="335880" y="380880"/>
            <a:ext cx="112320" cy="63468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101" name="Picture 16"/>
          <p:cNvPicPr/>
          <p:nvPr/>
        </p:nvPicPr>
        <p:blipFill>
          <a:blip r:embed="rId2"/>
          <a:stretch/>
        </p:blipFill>
        <p:spPr>
          <a:xfrm>
            <a:off x="10849320" y="6380280"/>
            <a:ext cx="1006200" cy="301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Subtitle 2"/>
          <p:cNvSpPr/>
          <p:nvPr/>
        </p:nvSpPr>
        <p:spPr>
          <a:xfrm>
            <a:off x="4835880" y="6443640"/>
            <a:ext cx="2519640" cy="19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0" bIns="0" anchor="t">
            <a:spAutoFit/>
          </a:bodyPr>
          <a:lstStyle/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sng" strike="noStrike" spc="11">
                <a:solidFill>
                  <a:schemeClr val="lt1">
                    <a:lumMod val="75000"/>
                  </a:schemeClr>
                </a:solidFill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3" name="TextBox 5"/>
          <p:cNvSpPr/>
          <p:nvPr/>
        </p:nvSpPr>
        <p:spPr>
          <a:xfrm>
            <a:off x="440640" y="1352520"/>
            <a:ext cx="11406960" cy="44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NA</a:t>
            </a: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ctangle 4"/>
          <p:cNvSpPr/>
          <p:nvPr/>
        </p:nvSpPr>
        <p:spPr>
          <a:xfrm>
            <a:off x="335880" y="380880"/>
            <a:ext cx="11519640" cy="63468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65BB35"/>
              </a:solidFill>
              <a:uFillTx/>
              <a:latin typeface="Calibri"/>
            </a:endParaRPr>
          </a:p>
        </p:txBody>
      </p:sp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507960" y="369360"/>
            <a:ext cx="7478280" cy="658440"/>
          </a:xfrm>
          <a:prstGeom prst="rect">
            <a:avLst/>
          </a:prstGeom>
          <a:noFill/>
          <a:ln w="0">
            <a:noFill/>
          </a:ln>
        </p:spPr>
        <p:txBody>
          <a:bodyPr lIns="91440" tIns="0" rIns="9144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2400" b="1" u="none" strike="noStrike">
                <a:solidFill>
                  <a:schemeClr val="lt1"/>
                </a:solidFill>
                <a:uFillTx/>
                <a:latin typeface="Calibri"/>
                <a:ea typeface="Roboto"/>
              </a:rPr>
              <a:t>Bhavika Rafaliya - </a:t>
            </a:r>
            <a:r>
              <a:rPr lang="en-US" sz="2400" b="1" u="none" strike="noStrike">
                <a:solidFill>
                  <a:schemeClr val="lt1"/>
                </a:solidFill>
                <a:uFillTx/>
                <a:latin typeface="Roboto"/>
                <a:ea typeface="Roboto"/>
              </a:rPr>
              <a:t>Improvement Points Identified</a:t>
            </a:r>
            <a:endParaRPr lang="en-US" sz="24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cxnSp>
        <p:nvCxnSpPr>
          <p:cNvPr id="106" name="Straight Connector 8"/>
          <p:cNvCxnSpPr/>
          <p:nvPr/>
        </p:nvCxnSpPr>
        <p:spPr>
          <a:xfrm>
            <a:off x="335880" y="6222960"/>
            <a:ext cx="11520360" cy="360"/>
          </a:xfrm>
          <a:prstGeom prst="straightConnector1">
            <a:avLst/>
          </a:prstGeom>
          <a:ln w="12700">
            <a:solidFill>
              <a:srgbClr val="FFFFFF">
                <a:lumMod val="85000"/>
              </a:srgbClr>
            </a:solidFill>
          </a:ln>
        </p:spPr>
      </p:cxnSp>
      <p:sp>
        <p:nvSpPr>
          <p:cNvPr id="107" name="TextBox 12"/>
          <p:cNvSpPr/>
          <p:nvPr/>
        </p:nvSpPr>
        <p:spPr>
          <a:xfrm>
            <a:off x="326520" y="6380280"/>
            <a:ext cx="407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400" b="0" u="none" strike="noStrike" spc="11">
                <a:solidFill>
                  <a:schemeClr val="lt1">
                    <a:lumMod val="65000"/>
                  </a:schemeClr>
                </a:solidFill>
                <a:uFillTx/>
                <a:latin typeface="Roboto"/>
                <a:ea typeface="Roboto"/>
              </a:rPr>
              <a:t>04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8" name="Rectangle 7"/>
          <p:cNvSpPr/>
          <p:nvPr/>
        </p:nvSpPr>
        <p:spPr>
          <a:xfrm>
            <a:off x="335880" y="380880"/>
            <a:ext cx="112320" cy="63468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109" name="Picture 16"/>
          <p:cNvPicPr/>
          <p:nvPr/>
        </p:nvPicPr>
        <p:blipFill>
          <a:blip r:embed="rId2"/>
          <a:stretch/>
        </p:blipFill>
        <p:spPr>
          <a:xfrm>
            <a:off x="10849320" y="6380280"/>
            <a:ext cx="1006200" cy="301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Subtitle 2"/>
          <p:cNvSpPr/>
          <p:nvPr/>
        </p:nvSpPr>
        <p:spPr>
          <a:xfrm>
            <a:off x="4835880" y="6443640"/>
            <a:ext cx="2519640" cy="19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0" bIns="0" anchor="t">
            <a:spAutoFit/>
          </a:bodyPr>
          <a:lstStyle/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sng" strike="noStrike" spc="11">
                <a:solidFill>
                  <a:schemeClr val="lt1">
                    <a:lumMod val="75000"/>
                  </a:schemeClr>
                </a:solidFill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1" name="TextBox 5"/>
          <p:cNvSpPr/>
          <p:nvPr/>
        </p:nvSpPr>
        <p:spPr>
          <a:xfrm>
            <a:off x="448560" y="1325160"/>
            <a:ext cx="11406960" cy="44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840" defTabSz="914400">
              <a:lnSpc>
                <a:spcPct val="13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NA</a:t>
            </a: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Rectangle 4"/>
          <p:cNvSpPr/>
          <p:nvPr/>
        </p:nvSpPr>
        <p:spPr>
          <a:xfrm>
            <a:off x="335880" y="380880"/>
            <a:ext cx="11519640" cy="63468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65BB35"/>
              </a:solidFill>
              <a:uFillTx/>
              <a:latin typeface="Calibri"/>
            </a:endParaRPr>
          </a:p>
        </p:txBody>
      </p:sp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507960" y="369360"/>
            <a:ext cx="11347560" cy="658440"/>
          </a:xfrm>
          <a:prstGeom prst="rect">
            <a:avLst/>
          </a:prstGeom>
          <a:noFill/>
          <a:ln w="0">
            <a:noFill/>
          </a:ln>
        </p:spPr>
        <p:txBody>
          <a:bodyPr lIns="91440" tIns="0" rIns="9144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2400" b="1" u="none" strike="noStrike">
                <a:solidFill>
                  <a:schemeClr val="lt1"/>
                </a:solidFill>
                <a:uFillTx/>
                <a:latin typeface="Calibri"/>
                <a:ea typeface="Roboto"/>
              </a:rPr>
              <a:t>Bhavika Rafaliya - </a:t>
            </a:r>
            <a:r>
              <a:rPr lang="en-US" sz="2400" b="1" u="none" strike="noStrike">
                <a:solidFill>
                  <a:schemeClr val="lt1"/>
                </a:solidFill>
                <a:uFillTx/>
                <a:latin typeface="Roboto"/>
                <a:ea typeface="Roboto"/>
              </a:rPr>
              <a:t>Any New Problem Statement Seen / Identified * If any</a:t>
            </a:r>
            <a:endParaRPr lang="en-US" sz="24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cxnSp>
        <p:nvCxnSpPr>
          <p:cNvPr id="114" name="Straight Connector 8"/>
          <p:cNvCxnSpPr/>
          <p:nvPr/>
        </p:nvCxnSpPr>
        <p:spPr>
          <a:xfrm>
            <a:off x="335880" y="6222960"/>
            <a:ext cx="11520360" cy="360"/>
          </a:xfrm>
          <a:prstGeom prst="straightConnector1">
            <a:avLst/>
          </a:prstGeom>
          <a:ln w="12700">
            <a:solidFill>
              <a:srgbClr val="FFFFFF">
                <a:lumMod val="85000"/>
              </a:srgbClr>
            </a:solidFill>
          </a:ln>
        </p:spPr>
      </p:cxnSp>
      <p:sp>
        <p:nvSpPr>
          <p:cNvPr id="115" name="TextBox 12"/>
          <p:cNvSpPr/>
          <p:nvPr/>
        </p:nvSpPr>
        <p:spPr>
          <a:xfrm>
            <a:off x="326520" y="6380280"/>
            <a:ext cx="407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400" b="0" u="none" strike="noStrike" spc="11">
                <a:solidFill>
                  <a:schemeClr val="lt1">
                    <a:lumMod val="65000"/>
                  </a:schemeClr>
                </a:solidFill>
                <a:uFillTx/>
                <a:latin typeface="Roboto"/>
                <a:ea typeface="Roboto"/>
              </a:rPr>
              <a:t>04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6" name="Rectangle 7"/>
          <p:cNvSpPr/>
          <p:nvPr/>
        </p:nvSpPr>
        <p:spPr>
          <a:xfrm>
            <a:off x="335880" y="380880"/>
            <a:ext cx="112320" cy="63468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117" name="Picture 16"/>
          <p:cNvPicPr/>
          <p:nvPr/>
        </p:nvPicPr>
        <p:blipFill>
          <a:blip r:embed="rId2"/>
          <a:stretch/>
        </p:blipFill>
        <p:spPr>
          <a:xfrm>
            <a:off x="10849320" y="6380280"/>
            <a:ext cx="1006200" cy="301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Subtitle 2"/>
          <p:cNvSpPr/>
          <p:nvPr/>
        </p:nvSpPr>
        <p:spPr>
          <a:xfrm>
            <a:off x="4835880" y="6443640"/>
            <a:ext cx="2519640" cy="19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0" bIns="0" anchor="t">
            <a:spAutoFit/>
          </a:bodyPr>
          <a:lstStyle/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sng" strike="noStrike" spc="11">
                <a:solidFill>
                  <a:schemeClr val="lt1">
                    <a:lumMod val="75000"/>
                  </a:schemeClr>
                </a:solidFill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9" name="TextBox 3"/>
          <p:cNvSpPr/>
          <p:nvPr/>
        </p:nvSpPr>
        <p:spPr>
          <a:xfrm>
            <a:off x="448560" y="1325160"/>
            <a:ext cx="11406960" cy="36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840" defTabSz="914400">
              <a:lnSpc>
                <a:spcPct val="13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lang="en-US" sz="14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N/A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angle 4"/>
          <p:cNvSpPr/>
          <p:nvPr/>
        </p:nvSpPr>
        <p:spPr>
          <a:xfrm>
            <a:off x="335880" y="380880"/>
            <a:ext cx="11519640" cy="63468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65BB35"/>
              </a:solidFill>
              <a:uFillTx/>
              <a:latin typeface="Calibri"/>
            </a:endParaRPr>
          </a:p>
        </p:txBody>
      </p:sp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507960" y="532080"/>
            <a:ext cx="11294280" cy="332640"/>
          </a:xfrm>
          <a:prstGeom prst="rect">
            <a:avLst/>
          </a:prstGeom>
          <a:noFill/>
          <a:ln w="0">
            <a:noFill/>
          </a:ln>
        </p:spPr>
        <p:txBody>
          <a:bodyPr lIns="91440" tIns="0" rIns="9144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2400" b="1" u="none" strike="noStrike">
                <a:solidFill>
                  <a:schemeClr val="lt1"/>
                </a:solidFill>
                <a:uFillTx/>
                <a:latin typeface="Calibri"/>
                <a:ea typeface="Roboto"/>
              </a:rPr>
              <a:t>Bhavika Rafaliya - </a:t>
            </a:r>
            <a:r>
              <a:rPr lang="en-US" sz="2400" b="1" u="none" strike="noStrike">
                <a:solidFill>
                  <a:schemeClr val="lt1"/>
                </a:solidFill>
                <a:uFillTx/>
                <a:latin typeface="Roboto"/>
                <a:ea typeface="Roboto"/>
              </a:rPr>
              <a:t>Achievements/Extra mile of the week * if any</a:t>
            </a:r>
            <a:endParaRPr lang="en-US" sz="24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cxnSp>
        <p:nvCxnSpPr>
          <p:cNvPr id="122" name="Straight Connector 8"/>
          <p:cNvCxnSpPr/>
          <p:nvPr/>
        </p:nvCxnSpPr>
        <p:spPr>
          <a:xfrm>
            <a:off x="335880" y="6222960"/>
            <a:ext cx="11520360" cy="360"/>
          </a:xfrm>
          <a:prstGeom prst="straightConnector1">
            <a:avLst/>
          </a:prstGeom>
          <a:ln w="12700">
            <a:solidFill>
              <a:srgbClr val="FFFFFF">
                <a:lumMod val="85000"/>
              </a:srgbClr>
            </a:solidFill>
          </a:ln>
        </p:spPr>
      </p:cxnSp>
      <p:sp>
        <p:nvSpPr>
          <p:cNvPr id="123" name="TextBox 12"/>
          <p:cNvSpPr/>
          <p:nvPr/>
        </p:nvSpPr>
        <p:spPr>
          <a:xfrm>
            <a:off x="326520" y="6380280"/>
            <a:ext cx="407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400" b="0" u="none" strike="noStrike" spc="11">
                <a:solidFill>
                  <a:schemeClr val="lt1">
                    <a:lumMod val="65000"/>
                  </a:schemeClr>
                </a:solidFill>
                <a:uFillTx/>
                <a:latin typeface="Roboto"/>
                <a:ea typeface="Roboto"/>
              </a:rPr>
              <a:t>04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4" name="Rectangle 7"/>
          <p:cNvSpPr/>
          <p:nvPr/>
        </p:nvSpPr>
        <p:spPr>
          <a:xfrm>
            <a:off x="335880" y="380880"/>
            <a:ext cx="112320" cy="63468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125" name="Picture 16"/>
          <p:cNvPicPr/>
          <p:nvPr/>
        </p:nvPicPr>
        <p:blipFill>
          <a:blip r:embed="rId2"/>
          <a:stretch/>
        </p:blipFill>
        <p:spPr>
          <a:xfrm>
            <a:off x="10849320" y="6380280"/>
            <a:ext cx="1006200" cy="301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Subtitle 2"/>
          <p:cNvSpPr/>
          <p:nvPr/>
        </p:nvSpPr>
        <p:spPr>
          <a:xfrm>
            <a:off x="4835880" y="6443640"/>
            <a:ext cx="2519640" cy="19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0" bIns="0" anchor="t">
            <a:spAutoFit/>
          </a:bodyPr>
          <a:lstStyle/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sng" strike="noStrike" spc="11">
                <a:solidFill>
                  <a:schemeClr val="lt1">
                    <a:lumMod val="75000"/>
                  </a:schemeClr>
                </a:solidFill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7" name="TextBox 3"/>
          <p:cNvSpPr/>
          <p:nvPr/>
        </p:nvSpPr>
        <p:spPr>
          <a:xfrm>
            <a:off x="448560" y="1225800"/>
            <a:ext cx="11406960" cy="36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840" defTabSz="914400">
              <a:lnSpc>
                <a:spcPct val="13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lang="en-US" sz="14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N/A</a:t>
            </a: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Picture 19"/>
          <p:cNvPicPr/>
          <p:nvPr/>
        </p:nvPicPr>
        <p:blipFill>
          <a:blip r:embed="rId2"/>
          <a:stretch/>
        </p:blipFill>
        <p:spPr>
          <a:xfrm>
            <a:off x="-18360" y="0"/>
            <a:ext cx="6679800" cy="6222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" name="Picture 8"/>
          <p:cNvPicPr/>
          <p:nvPr/>
        </p:nvPicPr>
        <p:blipFill>
          <a:blip r:embed="rId3"/>
          <a:stretch/>
        </p:blipFill>
        <p:spPr>
          <a:xfrm>
            <a:off x="0" y="5079960"/>
            <a:ext cx="12191760" cy="1777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457560" y="462960"/>
            <a:ext cx="5223240" cy="103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20000"/>
              </a:lnSpc>
              <a:buNone/>
            </a:pPr>
            <a:r>
              <a:rPr lang="en-US" sz="3000" b="1" u="none" strike="noStrike" spc="11">
                <a:solidFill>
                  <a:srgbClr val="65BB35"/>
                </a:solidFill>
                <a:uFillTx/>
                <a:latin typeface="Roboto"/>
                <a:ea typeface="Roboto"/>
              </a:rPr>
              <a:t>Thank You For </a:t>
            </a:r>
            <a:br>
              <a:rPr sz="3000"/>
            </a:br>
            <a:r>
              <a:rPr lang="en-US" sz="3000" b="1" u="none" strike="noStrike" spc="11">
                <a:solidFill>
                  <a:srgbClr val="65BB35"/>
                </a:solidFill>
                <a:uFillTx/>
                <a:latin typeface="Roboto"/>
                <a:ea typeface="Roboto"/>
              </a:rPr>
              <a:t>Your Time &amp; Attention!</a:t>
            </a:r>
            <a:endParaRPr lang="en-US" sz="30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subTitle"/>
          </p:nvPr>
        </p:nvSpPr>
        <p:spPr>
          <a:xfrm>
            <a:off x="457560" y="1756080"/>
            <a:ext cx="5223240" cy="697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lstStyle/>
          <a:p>
            <a:pPr indent="0" defTabSz="914400">
              <a:lnSpc>
                <a:spcPct val="130000"/>
              </a:lnSpc>
              <a:buNone/>
              <a:tabLst>
                <a:tab pos="0" algn="l"/>
              </a:tabLst>
            </a:pPr>
            <a:r>
              <a:rPr lang="en-US" sz="1600" b="0" u="none" strike="noStrike" spc="11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Roboto"/>
                <a:ea typeface="Roboto"/>
              </a:rPr>
              <a:t>Looking forward to having a mutually beneficial association! Assuring you of our best services always!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132" name="Straight Connector 6"/>
          <p:cNvCxnSpPr/>
          <p:nvPr/>
        </p:nvCxnSpPr>
        <p:spPr>
          <a:xfrm>
            <a:off x="524880" y="1622160"/>
            <a:ext cx="4320720" cy="360"/>
          </a:xfrm>
          <a:prstGeom prst="straightConnector1">
            <a:avLst/>
          </a:prstGeom>
          <a:ln w="25400">
            <a:solidFill>
              <a:srgbClr val="65BB35"/>
            </a:solidFill>
          </a:ln>
        </p:spPr>
      </p:cxnSp>
      <p:cxnSp>
        <p:nvCxnSpPr>
          <p:cNvPr id="133" name="Straight Connector 5"/>
          <p:cNvCxnSpPr/>
          <p:nvPr/>
        </p:nvCxnSpPr>
        <p:spPr>
          <a:xfrm>
            <a:off x="335880" y="6301080"/>
            <a:ext cx="11520360" cy="360"/>
          </a:xfrm>
          <a:prstGeom prst="straightConnector1">
            <a:avLst/>
          </a:prstGeom>
          <a:ln w="12700">
            <a:solidFill>
              <a:srgbClr val="FFFFFF">
                <a:lumMod val="85000"/>
                <a:alpha val="70000"/>
              </a:srgbClr>
            </a:solidFill>
          </a:ln>
        </p:spPr>
      </p:cxnSp>
      <p:sp>
        <p:nvSpPr>
          <p:cNvPr id="134" name="TextBox 9"/>
          <p:cNvSpPr/>
          <p:nvPr/>
        </p:nvSpPr>
        <p:spPr>
          <a:xfrm>
            <a:off x="135720" y="6384600"/>
            <a:ext cx="388584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400" b="0" u="none" strike="noStrike" spc="11">
                <a:solidFill>
                  <a:schemeClr val="lt1">
                    <a:lumMod val="95000"/>
                  </a:schemeClr>
                </a:solidFill>
                <a:uFillTx/>
                <a:latin typeface="Roboto"/>
                <a:ea typeface="Roboto"/>
              </a:rPr>
              <a:t>© 2023 SPEC INDIA. All Rights Reserved.</a:t>
            </a: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5" name="Subtitle 2"/>
          <p:cNvSpPr/>
          <p:nvPr/>
        </p:nvSpPr>
        <p:spPr>
          <a:xfrm>
            <a:off x="457560" y="2609640"/>
            <a:ext cx="2340720" cy="64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spAutoFit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00" b="1" u="none" strike="noStrike" spc="11">
                <a:solidFill>
                  <a:srgbClr val="0B334C"/>
                </a:solidFill>
                <a:uFillTx/>
                <a:latin typeface="Roboto"/>
                <a:ea typeface="Roboto"/>
              </a:rPr>
              <a:t>Visit us at </a:t>
            </a: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00" b="0" u="sng" strike="noStrike" spc="11">
                <a:solidFill>
                  <a:srgbClr val="0563C1"/>
                </a:solidFill>
                <a:uFillTx/>
                <a:latin typeface="Roboto"/>
                <a:ea typeface="Roboto"/>
                <a:hlinkClick r:id="rId4"/>
              </a:rPr>
              <a:t>www.spec-india.com</a:t>
            </a:r>
            <a:r>
              <a:rPr lang="en-US" sz="1400" b="0" u="sng" strike="noStrike" spc="11">
                <a:solidFill>
                  <a:srgbClr val="0563C1"/>
                </a:solidFill>
                <a:uFillTx/>
                <a:latin typeface="Roboto"/>
                <a:ea typeface="Roboto"/>
                <a:hlinkClick r:id="rId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6" name="Subtitle 2"/>
          <p:cNvSpPr/>
          <p:nvPr/>
        </p:nvSpPr>
        <p:spPr>
          <a:xfrm>
            <a:off x="2798640" y="2609640"/>
            <a:ext cx="2340720" cy="64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spAutoFit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00" b="1" u="none" strike="noStrike" spc="11">
                <a:solidFill>
                  <a:srgbClr val="0B334C"/>
                </a:solidFill>
                <a:uFillTx/>
                <a:latin typeface="Roboto"/>
                <a:ea typeface="Roboto"/>
              </a:rPr>
              <a:t>Write to us at</a:t>
            </a: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00" b="0" u="sng" strike="noStrike" spc="11">
                <a:solidFill>
                  <a:srgbClr val="0563C1"/>
                </a:solidFill>
                <a:uFillTx/>
                <a:latin typeface="Roboto"/>
                <a:ea typeface="Roboto"/>
                <a:hlinkClick r:id="rId5"/>
              </a:rPr>
              <a:t>lead@spec-india.com</a:t>
            </a: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7" name="Subtitle 2"/>
          <p:cNvSpPr/>
          <p:nvPr/>
        </p:nvSpPr>
        <p:spPr>
          <a:xfrm>
            <a:off x="7244280" y="796680"/>
            <a:ext cx="3699720" cy="40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1" u="none" strike="noStrike" spc="11">
                <a:solidFill>
                  <a:srgbClr val="0B334C"/>
                </a:solidFill>
                <a:uFillTx/>
                <a:latin typeface="Roboto"/>
                <a:ea typeface="Roboto"/>
              </a:rPr>
              <a:t>India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8" name="Subtitle 2"/>
          <p:cNvSpPr/>
          <p:nvPr/>
        </p:nvSpPr>
        <p:spPr>
          <a:xfrm>
            <a:off x="7581240" y="1292040"/>
            <a:ext cx="369972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sng" strike="noStrike" spc="11">
                <a:solidFill>
                  <a:schemeClr val="lt1"/>
                </a:solidFill>
                <a:uFillTx/>
                <a:latin typeface="Roboto"/>
                <a:ea typeface="Roboto"/>
                <a:hlinkClick r:id="rId5"/>
              </a:rPr>
              <a:t>lead@spec-india.com</a:t>
            </a:r>
            <a:r>
              <a:rPr lang="en-US" sz="1400" b="0" u="sng" strike="noStrike" spc="11">
                <a:solidFill>
                  <a:schemeClr val="lt1"/>
                </a:solidFill>
                <a:uFillTx/>
                <a:latin typeface="Roboto"/>
                <a:ea typeface="Roboto"/>
                <a:hlinkClick r:id="rId5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9" name="Subtitle 2"/>
          <p:cNvSpPr/>
          <p:nvPr/>
        </p:nvSpPr>
        <p:spPr>
          <a:xfrm>
            <a:off x="7581240" y="1687680"/>
            <a:ext cx="369972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spc="11">
                <a:solidFill>
                  <a:schemeClr val="lt1"/>
                </a:solidFill>
                <a:uFillTx/>
                <a:latin typeface="Roboto"/>
                <a:ea typeface="Roboto"/>
              </a:rPr>
              <a:t>+91-79-26404031 to 34</a:t>
            </a: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0" name="Subtitle 2"/>
          <p:cNvSpPr/>
          <p:nvPr/>
        </p:nvSpPr>
        <p:spPr>
          <a:xfrm>
            <a:off x="7581240" y="2083320"/>
            <a:ext cx="3699720" cy="94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spc="11">
                <a:solidFill>
                  <a:schemeClr val="lt1"/>
                </a:solidFill>
                <a:uFillTx/>
                <a:latin typeface="Roboto"/>
                <a:ea typeface="Roboto"/>
              </a:rPr>
              <a:t>SPEC House”, Parth Complex,</a:t>
            </a: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spc="11">
                <a:solidFill>
                  <a:schemeClr val="lt1"/>
                </a:solidFill>
                <a:uFillTx/>
                <a:latin typeface="Roboto"/>
                <a:ea typeface="Roboto"/>
              </a:rPr>
              <a:t>Near Swastik Cross Roads, Navarangpura, Ahmedabad 380009, INDIA.</a:t>
            </a: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141" name="Straight Connector 12"/>
          <p:cNvCxnSpPr/>
          <p:nvPr/>
        </p:nvCxnSpPr>
        <p:spPr>
          <a:xfrm>
            <a:off x="7326720" y="1179720"/>
            <a:ext cx="3068640" cy="360"/>
          </a:xfrm>
          <a:prstGeom prst="straightConnector1">
            <a:avLst/>
          </a:prstGeom>
          <a:ln w="12700">
            <a:solidFill>
              <a:srgbClr val="0B334C"/>
            </a:solidFill>
          </a:ln>
        </p:spPr>
      </p:cxnSp>
      <p:pic>
        <p:nvPicPr>
          <p:cNvPr id="142" name="Picture 16"/>
          <p:cNvPicPr/>
          <p:nvPr/>
        </p:nvPicPr>
        <p:blipFill>
          <a:blip r:embed="rId6"/>
          <a:stretch/>
        </p:blipFill>
        <p:spPr>
          <a:xfrm>
            <a:off x="7326720" y="133164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3" name="Picture 17"/>
          <p:cNvPicPr/>
          <p:nvPr/>
        </p:nvPicPr>
        <p:blipFill>
          <a:blip r:embed="rId7"/>
          <a:stretch/>
        </p:blipFill>
        <p:spPr>
          <a:xfrm>
            <a:off x="7326720" y="172728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4" name="Picture 18"/>
          <p:cNvPicPr/>
          <p:nvPr/>
        </p:nvPicPr>
        <p:blipFill>
          <a:blip r:embed="rId8"/>
          <a:stretch/>
        </p:blipFill>
        <p:spPr>
          <a:xfrm>
            <a:off x="7328520" y="212292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" name="Subtitle 2"/>
          <p:cNvSpPr/>
          <p:nvPr/>
        </p:nvSpPr>
        <p:spPr>
          <a:xfrm>
            <a:off x="7244280" y="2842200"/>
            <a:ext cx="3699720" cy="40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1" u="none" strike="noStrike" spc="11">
                <a:solidFill>
                  <a:srgbClr val="0B334C"/>
                </a:solidFill>
                <a:uFillTx/>
                <a:latin typeface="Roboto"/>
                <a:ea typeface="Roboto"/>
              </a:rPr>
              <a:t>USA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6" name="Subtitle 2"/>
          <p:cNvSpPr/>
          <p:nvPr/>
        </p:nvSpPr>
        <p:spPr>
          <a:xfrm>
            <a:off x="7581240" y="3337560"/>
            <a:ext cx="369972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sng" strike="noStrike" spc="11">
                <a:solidFill>
                  <a:schemeClr val="lt1"/>
                </a:solidFill>
                <a:uFillTx/>
                <a:latin typeface="Roboto"/>
                <a:ea typeface="Roboto"/>
                <a:hlinkClick r:id="rId9"/>
              </a:rPr>
              <a:t>lead@spec-usa.net</a:t>
            </a: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7" name="Subtitle 2"/>
          <p:cNvSpPr/>
          <p:nvPr/>
        </p:nvSpPr>
        <p:spPr>
          <a:xfrm>
            <a:off x="7581240" y="3733200"/>
            <a:ext cx="369972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spc="11">
                <a:solidFill>
                  <a:schemeClr val="lt1"/>
                </a:solidFill>
                <a:uFillTx/>
                <a:latin typeface="Roboto"/>
                <a:ea typeface="Roboto"/>
              </a:rPr>
              <a:t>+ 1 908-450-9862</a:t>
            </a: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8" name="Subtitle 2"/>
          <p:cNvSpPr/>
          <p:nvPr/>
        </p:nvSpPr>
        <p:spPr>
          <a:xfrm>
            <a:off x="7581240" y="4128480"/>
            <a:ext cx="3699720" cy="51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spc="11">
                <a:solidFill>
                  <a:schemeClr val="lt1"/>
                </a:solidFill>
                <a:uFillTx/>
                <a:latin typeface="Roboto"/>
                <a:ea typeface="Roboto"/>
              </a:rPr>
              <a:t>SPEC Partner”, 350 Grove Street, Bridgewater, NJ 08807, United States.</a:t>
            </a: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149" name="Straight Connector 24"/>
          <p:cNvCxnSpPr/>
          <p:nvPr/>
        </p:nvCxnSpPr>
        <p:spPr>
          <a:xfrm>
            <a:off x="7326720" y="3224880"/>
            <a:ext cx="3068640" cy="360"/>
          </a:xfrm>
          <a:prstGeom prst="straightConnector1">
            <a:avLst/>
          </a:prstGeom>
          <a:ln w="12700">
            <a:solidFill>
              <a:srgbClr val="0B334C"/>
            </a:solidFill>
          </a:ln>
        </p:spPr>
      </p:cxnSp>
      <p:pic>
        <p:nvPicPr>
          <p:cNvPr id="150" name="Picture 25"/>
          <p:cNvPicPr/>
          <p:nvPr/>
        </p:nvPicPr>
        <p:blipFill>
          <a:blip r:embed="rId6"/>
          <a:stretch/>
        </p:blipFill>
        <p:spPr>
          <a:xfrm>
            <a:off x="7326720" y="337716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1" name="Picture 26"/>
          <p:cNvPicPr/>
          <p:nvPr/>
        </p:nvPicPr>
        <p:blipFill>
          <a:blip r:embed="rId7"/>
          <a:stretch/>
        </p:blipFill>
        <p:spPr>
          <a:xfrm>
            <a:off x="7326720" y="377244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2" name="Picture 27"/>
          <p:cNvPicPr/>
          <p:nvPr/>
        </p:nvPicPr>
        <p:blipFill>
          <a:blip r:embed="rId8"/>
          <a:stretch/>
        </p:blipFill>
        <p:spPr>
          <a:xfrm>
            <a:off x="7328520" y="416808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3" name="Picture 39" descr="Logo&#10;&#10;Description automatically generated">
            <a:hlinkClick r:id="rId10"/>
          </p:cNvPr>
          <p:cNvPicPr/>
          <p:nvPr/>
        </p:nvPicPr>
        <p:blipFill>
          <a:blip r:embed="rId11"/>
          <a:stretch/>
        </p:blipFill>
        <p:spPr>
          <a:xfrm>
            <a:off x="2600280" y="5526000"/>
            <a:ext cx="881640" cy="25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4" name="Picture 41" descr="A picture containing text, clipart&#10;&#10;Description automatically generated">
            <a:hlinkClick r:id="rId12"/>
          </p:cNvPr>
          <p:cNvPicPr/>
          <p:nvPr/>
        </p:nvPicPr>
        <p:blipFill>
          <a:blip r:embed="rId13"/>
          <a:stretch/>
        </p:blipFill>
        <p:spPr>
          <a:xfrm>
            <a:off x="3831120" y="5544000"/>
            <a:ext cx="1511640" cy="215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5" name="Picture 43" descr="A picture containing text, clipart&#10;&#10;Description automatically generated">
            <a:hlinkClick r:id="rId14"/>
          </p:cNvPr>
          <p:cNvPicPr/>
          <p:nvPr/>
        </p:nvPicPr>
        <p:blipFill>
          <a:blip r:embed="rId15"/>
          <a:stretch/>
        </p:blipFill>
        <p:spPr>
          <a:xfrm>
            <a:off x="5692320" y="5526000"/>
            <a:ext cx="766080" cy="25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6" name="Picture 45" descr="A picture containing text, clipart&#10;&#10;Description automatically generated">
            <a:hlinkClick r:id="rId16"/>
          </p:cNvPr>
          <p:cNvPicPr/>
          <p:nvPr/>
        </p:nvPicPr>
        <p:blipFill>
          <a:blip r:embed="rId17"/>
          <a:stretch/>
        </p:blipFill>
        <p:spPr>
          <a:xfrm>
            <a:off x="6807960" y="5526000"/>
            <a:ext cx="1282680" cy="25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7" name="Picture 47" descr="A picture containing text, transport, clipart, wheel&#10;&#10;Description automatically generated">
            <a:hlinkClick r:id="rId18"/>
          </p:cNvPr>
          <p:cNvPicPr/>
          <p:nvPr/>
        </p:nvPicPr>
        <p:blipFill>
          <a:blip r:embed="rId19"/>
          <a:stretch/>
        </p:blipFill>
        <p:spPr>
          <a:xfrm>
            <a:off x="8439840" y="5544000"/>
            <a:ext cx="1151640" cy="215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8" name="Picture 13" descr="Shape&#10;&#10;Description automatically generated">
            <a:hlinkClick r:id="rId20"/>
          </p:cNvPr>
          <p:cNvPicPr/>
          <p:nvPr/>
        </p:nvPicPr>
        <p:blipFill>
          <a:blip r:embed="rId21"/>
          <a:stretch/>
        </p:blipFill>
        <p:spPr>
          <a:xfrm>
            <a:off x="11627280" y="642924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9" name="Picture 29" descr="A picture containing clipart&#10;&#10;Description automatically generated">
            <a:hlinkClick r:id="rId22"/>
          </p:cNvPr>
          <p:cNvPicPr/>
          <p:nvPr/>
        </p:nvPicPr>
        <p:blipFill>
          <a:blip r:embed="rId23"/>
          <a:stretch/>
        </p:blipFill>
        <p:spPr>
          <a:xfrm>
            <a:off x="11257560" y="642924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0" name="Picture 31" descr="A picture containing text, clipart&#10;&#10;Description automatically generated">
            <a:hlinkClick r:id="rId24"/>
          </p:cNvPr>
          <p:cNvPicPr/>
          <p:nvPr/>
        </p:nvPicPr>
        <p:blipFill>
          <a:blip r:embed="rId25"/>
          <a:stretch/>
        </p:blipFill>
        <p:spPr>
          <a:xfrm>
            <a:off x="9777600" y="642924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1" name="Picture 35" descr="A picture containing text, clipart&#10;&#10;Description automatically generated">
            <a:hlinkClick r:id="rId26"/>
          </p:cNvPr>
          <p:cNvPicPr/>
          <p:nvPr/>
        </p:nvPicPr>
        <p:blipFill>
          <a:blip r:embed="rId27"/>
          <a:stretch/>
        </p:blipFill>
        <p:spPr>
          <a:xfrm>
            <a:off x="10147320" y="642924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2" name="Picture 37" descr="A picture containing clipart&#10;&#10;Description automatically generated">
            <a:hlinkClick r:id="rId28"/>
          </p:cNvPr>
          <p:cNvPicPr/>
          <p:nvPr/>
        </p:nvPicPr>
        <p:blipFill>
          <a:blip r:embed="rId29"/>
          <a:stretch/>
        </p:blipFill>
        <p:spPr>
          <a:xfrm>
            <a:off x="10517400" y="642924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3" name="Picture 40" descr="A picture containing text, clipart&#10;&#10;Description automatically generated"/>
          <p:cNvPicPr/>
          <p:nvPr/>
        </p:nvPicPr>
        <p:blipFill>
          <a:blip r:embed="rId30"/>
          <a:stretch/>
        </p:blipFill>
        <p:spPr>
          <a:xfrm>
            <a:off x="6960240" y="5863680"/>
            <a:ext cx="977400" cy="151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4" name="Picture 44" descr="A picture containing text, clipart&#10;&#10;Description automatically generated"/>
          <p:cNvPicPr/>
          <p:nvPr/>
        </p:nvPicPr>
        <p:blipFill>
          <a:blip r:embed="rId31"/>
          <a:stretch/>
        </p:blipFill>
        <p:spPr>
          <a:xfrm>
            <a:off x="8526960" y="5851440"/>
            <a:ext cx="977400" cy="151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5" name="Picture 46" descr="A picture containing text, clipart&#10;&#10;Description automatically generated"/>
          <p:cNvPicPr/>
          <p:nvPr/>
        </p:nvPicPr>
        <p:blipFill>
          <a:blip r:embed="rId31"/>
          <a:stretch/>
        </p:blipFill>
        <p:spPr>
          <a:xfrm>
            <a:off x="5586480" y="5851440"/>
            <a:ext cx="977400" cy="151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6" name="Picture 49" descr="A picture containing text, clipart&#10;&#10;Description automatically generated"/>
          <p:cNvPicPr/>
          <p:nvPr/>
        </p:nvPicPr>
        <p:blipFill>
          <a:blip r:embed="rId30"/>
          <a:stretch/>
        </p:blipFill>
        <p:spPr>
          <a:xfrm>
            <a:off x="4098240" y="5863680"/>
            <a:ext cx="977400" cy="151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7" name="Picture 50" descr="A picture containing text, clipart&#10;&#10;Description automatically generated"/>
          <p:cNvPicPr/>
          <p:nvPr/>
        </p:nvPicPr>
        <p:blipFill>
          <a:blip r:embed="rId31"/>
          <a:stretch/>
        </p:blipFill>
        <p:spPr>
          <a:xfrm>
            <a:off x="2580480" y="5858280"/>
            <a:ext cx="977400" cy="151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8" name="Picture 52" descr="A picture containing text, clipart&#10;&#10;Description automatically generated">
            <a:hlinkClick r:id="rId32"/>
          </p:cNvPr>
          <p:cNvPicPr/>
          <p:nvPr/>
        </p:nvPicPr>
        <p:blipFill>
          <a:blip r:embed="rId33"/>
          <a:stretch/>
        </p:blipFill>
        <p:spPr>
          <a:xfrm>
            <a:off x="10887480" y="642852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69" name="Straight Connector 58"/>
          <p:cNvCxnSpPr/>
          <p:nvPr/>
        </p:nvCxnSpPr>
        <p:spPr>
          <a:xfrm>
            <a:off x="2580120" y="2716200"/>
            <a:ext cx="360" cy="520200"/>
          </a:xfrm>
          <a:prstGeom prst="straightConnector1">
            <a:avLst/>
          </a:prstGeom>
          <a:ln>
            <a:solidFill>
              <a:srgbClr val="E8E8EB"/>
            </a:solidFill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276</Words>
  <Application>Microsoft Office PowerPoint</Application>
  <PresentationFormat>Widescreen</PresentationFormat>
  <Paragraphs>61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11</vt:i4>
      </vt:variant>
      <vt:variant>
        <vt:lpstr>Slide Titles</vt:lpstr>
      </vt:variant>
      <vt:variant>
        <vt:i4>8</vt:i4>
      </vt:variant>
    </vt:vector>
  </HeadingPairs>
  <TitlesOfParts>
    <vt:vector size="27" baseType="lpstr">
      <vt:lpstr>Arial</vt:lpstr>
      <vt:lpstr>Calibri</vt:lpstr>
      <vt:lpstr>Calibri Light</vt:lpstr>
      <vt:lpstr>Roboto</vt:lpstr>
      <vt:lpstr>Roboto Medium</vt:lpstr>
      <vt:lpstr>Symbol</vt:lpstr>
      <vt:lpstr>Times New Roman</vt:lpstr>
      <vt:lpstr>Wingdings</vt:lpstr>
      <vt:lpstr>Office Theme 2013 - 2022</vt:lpstr>
      <vt:lpstr>Office Theme 2013 - 2022</vt:lpstr>
      <vt:lpstr>Office Theme 2013 - 2022</vt:lpstr>
      <vt:lpstr>Office Theme 2013 - 2022</vt:lpstr>
      <vt:lpstr>Office Theme 2013 - 2022</vt:lpstr>
      <vt:lpstr>Office Theme 2013 - 2022</vt:lpstr>
      <vt:lpstr>Office Theme 2013 - 2022</vt:lpstr>
      <vt:lpstr>Office Theme 2013 - 2022</vt:lpstr>
      <vt:lpstr>Office Theme 2013 - 2022</vt:lpstr>
      <vt:lpstr>Office Theme 2013 - 2022</vt:lpstr>
      <vt:lpstr>Office Theme 2013 - 2022</vt:lpstr>
      <vt:lpstr>  Hanwha Vision 1st May’25 – 15th May’25</vt:lpstr>
      <vt:lpstr>Meeting Participants</vt:lpstr>
      <vt:lpstr>Bhavika Rafaliya - Highlights of the work in two weeks</vt:lpstr>
      <vt:lpstr>Bhavika Rafaliya - Roadblocks / issues if any </vt:lpstr>
      <vt:lpstr>Bhavika Rafaliya - Improvement Points Identified</vt:lpstr>
      <vt:lpstr>Bhavika Rafaliya - Any New Problem Statement Seen / Identified * If any</vt:lpstr>
      <vt:lpstr>Bhavika Rafaliya - Achievements/Extra mile of the week * if any</vt:lpstr>
      <vt:lpstr>Thank You For  Your Time &amp; Attention!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 Your IT Partner  We Have The Right SPEC</dc:title>
  <dc:subject/>
  <dc:creator>Amar Chuhan</dc:creator>
  <dc:description/>
  <cp:lastModifiedBy>Parth Jotangiya</cp:lastModifiedBy>
  <cp:revision>1056</cp:revision>
  <dcterms:created xsi:type="dcterms:W3CDTF">2023-01-02T08:33:00Z</dcterms:created>
  <dcterms:modified xsi:type="dcterms:W3CDTF">2025-05-20T11:25:49Z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9A7B2CF197124D94BFFD227BF1DE50AA_12</vt:lpwstr>
  </property>
  <property fmtid="{D5CDD505-2E9C-101B-9397-08002B2CF9AE}" pid="3" name="KSOProductBuildVer">
    <vt:lpwstr>1033-12.2.0.20795</vt:lpwstr>
  </property>
  <property fmtid="{D5CDD505-2E9C-101B-9397-08002B2CF9AE}" pid="4" name="Notes">
    <vt:i4>4</vt:i4>
  </property>
  <property fmtid="{D5CDD505-2E9C-101B-9397-08002B2CF9AE}" pid="5" name="PresentationFormat">
    <vt:lpwstr>Widescreen</vt:lpwstr>
  </property>
  <property fmtid="{D5CDD505-2E9C-101B-9397-08002B2CF9AE}" pid="6" name="Slides">
    <vt:i4>8</vt:i4>
  </property>
</Properties>
</file>