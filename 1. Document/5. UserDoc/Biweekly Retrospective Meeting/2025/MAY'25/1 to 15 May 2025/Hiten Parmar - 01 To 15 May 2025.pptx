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wmf"/><Relationship Id="rId21" Type="http://schemas.openxmlformats.org/officeDocument/2006/relationships/image" Target="../media/image20.png"/><Relationship Id="rId7" Type="http://schemas.openxmlformats.org/officeDocument/2006/relationships/image" Target="../media/image7.wmf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w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wmf"/><Relationship Id="rId11" Type="http://schemas.openxmlformats.org/officeDocument/2006/relationships/image" Target="../media/image10.png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7640" cy="622044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9600" cy="1775520"/>
          </a:xfrm>
          <a:prstGeom prst="rect">
            <a:avLst/>
          </a:prstGeom>
          <a:ln w="0">
            <a:noFill/>
          </a:ln>
        </p:spPr>
      </p:pic>
      <p:pic>
        <p:nvPicPr>
          <p:cNvPr id="78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89600" cy="4823640"/>
          </a:xfrm>
          <a:prstGeom prst="rect">
            <a:avLst/>
          </a:prstGeom>
          <a:ln w="0">
            <a:noFill/>
          </a:ln>
        </p:spPr>
      </p:pic>
      <p:sp>
        <p:nvSpPr>
          <p:cNvPr id="79" name="CustomShape 1"/>
          <p:cNvSpPr/>
          <p:nvPr/>
        </p:nvSpPr>
        <p:spPr>
          <a:xfrm>
            <a:off x="364680" y="1778040"/>
            <a:ext cx="4805280" cy="96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3000" b="1" strike="noStrike" spc="-1" dirty="0">
                <a:solidFill>
                  <a:srgbClr val="262626"/>
                </a:solidFill>
                <a:latin typeface="Roboto"/>
                <a:ea typeface="Roboto"/>
              </a:rPr>
              <a:t>Hanwha Vision </a:t>
            </a:r>
            <a:br>
              <a:rPr dirty="0"/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1st May’25 – 15th May’25</a:t>
            </a:r>
            <a:endParaRPr lang="en-IN" sz="3000" b="0" strike="noStrike" spc="-1" dirty="0">
              <a:latin typeface="Arial"/>
            </a:endParaRPr>
          </a:p>
        </p:txBody>
      </p:sp>
      <p:sp>
        <p:nvSpPr>
          <p:cNvPr id="80" name="Line 2"/>
          <p:cNvSpPr/>
          <p:nvPr/>
        </p:nvSpPr>
        <p:spPr>
          <a:xfrm>
            <a:off x="364320" y="2859480"/>
            <a:ext cx="4953240" cy="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81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69360" cy="101340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4"/>
          <p:cNvPicPr/>
          <p:nvPr/>
        </p:nvPicPr>
        <p:blipFill>
          <a:blip r:embed="rId6"/>
          <a:stretch/>
        </p:blipFill>
        <p:spPr>
          <a:xfrm>
            <a:off x="524880" y="611280"/>
            <a:ext cx="1775520" cy="531000"/>
          </a:xfrm>
          <a:prstGeom prst="rect">
            <a:avLst/>
          </a:prstGeom>
          <a:ln w="0">
            <a:noFill/>
          </a:ln>
        </p:spPr>
      </p:pic>
      <p:sp>
        <p:nvSpPr>
          <p:cNvPr id="83" name="CustomShape 3"/>
          <p:cNvSpPr/>
          <p:nvPr/>
        </p:nvSpPr>
        <p:spPr>
          <a:xfrm>
            <a:off x="3657600" y="2921040"/>
            <a:ext cx="1716840" cy="37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strike="noStrike" spc="-1">
                <a:solidFill>
                  <a:srgbClr val="7030A0"/>
                </a:solidFill>
                <a:latin typeface="Roboto"/>
                <a:ea typeface="Roboto"/>
              </a:rPr>
              <a:t>Hiten Parmar</a:t>
            </a:r>
            <a:endParaRPr lang="en-IN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5" name="CustomShape 2"/>
          <p:cNvSpPr/>
          <p:nvPr/>
        </p:nvSpPr>
        <p:spPr>
          <a:xfrm>
            <a:off x="507960" y="126000"/>
            <a:ext cx="747612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Meeting Participants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86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7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88" name="CustomShape 5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89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ln w="0">
            <a:noFill/>
          </a:ln>
        </p:spPr>
      </p:pic>
      <p:sp>
        <p:nvSpPr>
          <p:cNvPr id="90" name="CustomShape 6"/>
          <p:cNvSpPr/>
          <p:nvPr/>
        </p:nvSpPr>
        <p:spPr>
          <a:xfrm>
            <a:off x="4835880" y="6443640"/>
            <a:ext cx="251748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1" name="CustomShape 7"/>
          <p:cNvSpPr/>
          <p:nvPr/>
        </p:nvSpPr>
        <p:spPr>
          <a:xfrm>
            <a:off x="448560" y="1270800"/>
            <a:ext cx="8211600" cy="258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343080" indent="-34056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Roboto Medium"/>
              </a:rPr>
              <a:t>Parth Jotangiya</a:t>
            </a:r>
            <a:endParaRPr lang="en-IN" sz="1800" b="0" strike="noStrike" spc="-1" dirty="0">
              <a:latin typeface="Arial"/>
            </a:endParaRPr>
          </a:p>
          <a:p>
            <a:pPr marL="343080" indent="-34056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Roboto Medium"/>
              </a:rPr>
              <a:t>Jayendra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alibri"/>
                <a:ea typeface="Roboto Medium"/>
              </a:rPr>
              <a:t>Makvana</a:t>
            </a: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Roboto Medium"/>
              </a:rPr>
              <a:t> </a:t>
            </a:r>
            <a:endParaRPr lang="en-IN" sz="1800" b="0" strike="noStrike" spc="-1" dirty="0">
              <a:latin typeface="Arial"/>
            </a:endParaRPr>
          </a:p>
          <a:p>
            <a:pPr marL="343080" indent="-34056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Roboto Medium"/>
              </a:rPr>
              <a:t>Adnan Mansuri</a:t>
            </a:r>
            <a:endParaRPr lang="en-IN" sz="1800" b="0" strike="noStrike" spc="-1" dirty="0">
              <a:latin typeface="Arial"/>
            </a:endParaRPr>
          </a:p>
          <a:p>
            <a:pPr marL="343080" indent="-34056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Roboto Medium"/>
              </a:rPr>
              <a:t>Bhavika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alibri"/>
                <a:ea typeface="Roboto Medium"/>
              </a:rPr>
              <a:t>Gamdha</a:t>
            </a:r>
            <a:endParaRPr lang="en-IN" sz="1800" b="0" strike="noStrike" spc="-1" dirty="0">
              <a:latin typeface="Arial"/>
            </a:endParaRPr>
          </a:p>
          <a:p>
            <a:pPr marL="343080" indent="-34056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Roboto Medium"/>
              </a:rPr>
              <a:t>Hiten Parmar</a:t>
            </a:r>
            <a:endParaRPr lang="en-IN" sz="1800" b="0" strike="noStrike" spc="-1" dirty="0">
              <a:latin typeface="Arial"/>
            </a:endParaRPr>
          </a:p>
          <a:p>
            <a:pPr marL="343080" indent="-34056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Roboto Medium"/>
              </a:rPr>
              <a:t>Rashmi Patel</a:t>
            </a:r>
            <a:endParaRPr lang="en-IN" sz="1800" b="0" strike="noStrike" spc="-1" dirty="0">
              <a:latin typeface="Arial"/>
            </a:endParaRPr>
          </a:p>
          <a:p>
            <a:pPr marL="343080" indent="-340560">
              <a:lnSpc>
                <a:spcPct val="13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lang="en-US" sz="1800" b="1" strike="noStrike" spc="-1" dirty="0">
                <a:solidFill>
                  <a:srgbClr val="000000"/>
                </a:solidFill>
                <a:latin typeface="Calibri"/>
                <a:ea typeface="Roboto Medium"/>
              </a:rPr>
              <a:t>Hasti 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Calibri"/>
                <a:ea typeface="Roboto Medium"/>
              </a:rPr>
              <a:t>Kaneriya</a:t>
            </a:r>
            <a:endParaRPr lang="en-IN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3" name="CustomShape 2"/>
          <p:cNvSpPr/>
          <p:nvPr/>
        </p:nvSpPr>
        <p:spPr>
          <a:xfrm>
            <a:off x="507960" y="126000"/>
            <a:ext cx="1115244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Highlights of the work done in two weeks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94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5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97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ln w="0">
            <a:noFill/>
          </a:ln>
        </p:spPr>
      </p:pic>
      <p:sp>
        <p:nvSpPr>
          <p:cNvPr id="98" name="CustomShape 6"/>
          <p:cNvSpPr/>
          <p:nvPr/>
        </p:nvSpPr>
        <p:spPr>
          <a:xfrm>
            <a:off x="4835880" y="6443640"/>
            <a:ext cx="251748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448560" y="1051920"/>
            <a:ext cx="5491440" cy="499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332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400" b="1" strike="noStrike" spc="-1">
                <a:solidFill>
                  <a:srgbClr val="000000"/>
                </a:solidFill>
                <a:latin typeface="Calibri"/>
                <a:ea typeface="DejaVu Sans"/>
              </a:rPr>
              <a:t>Back end development of Client Application:</a:t>
            </a:r>
            <a:endParaRPr lang="en-IN" sz="1400" b="0" strike="noStrike" spc="-1">
              <a:latin typeface="Arial"/>
            </a:endParaRPr>
          </a:p>
          <a:p>
            <a:pPr marL="285840" indent="-28332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Develop apis for 1*1 &amp; 2*1 widgets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Capacity utilization for people &amp; vehicle by zones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Pedestrian Detection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Wrong side detection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Slip and Fall detection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Heat map for vehicle,  shopping cart &amp; forklift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Vehicle turning movement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Shopping cart queue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Forklift queue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Blocked exit detection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Traffic jam detection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People queue count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Speed detection vehicle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Forklift count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00" name="CustomShape 8"/>
          <p:cNvSpPr/>
          <p:nvPr/>
        </p:nvSpPr>
        <p:spPr>
          <a:xfrm>
            <a:off x="5848560" y="1080000"/>
            <a:ext cx="5491440" cy="286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200000"/>
              </a:lnSpc>
            </a:pPr>
            <a:endParaRPr lang="en-IN" sz="18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Proximity detection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Gender wise people count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Vehicle U-turn detection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Stopped vehicle by type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Google map widget</a:t>
            </a:r>
            <a:endParaRPr lang="en-IN" sz="1400" b="0" strike="noStrike" spc="-1">
              <a:latin typeface="Arial"/>
            </a:endParaRPr>
          </a:p>
          <a:p>
            <a:pPr marL="432000" lvl="1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IN" sz="1400" b="0" strike="noStrike" spc="-1">
              <a:latin typeface="Arial"/>
            </a:endParaRPr>
          </a:p>
          <a:p>
            <a:pPr marL="285840" indent="-28332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Integrated signalR and created background service wherever needed to save camera event data and utilize in widget.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2" name="CustomShape 2"/>
          <p:cNvSpPr/>
          <p:nvPr/>
        </p:nvSpPr>
        <p:spPr>
          <a:xfrm>
            <a:off x="507960" y="126000"/>
            <a:ext cx="11145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Roadblocks / issues if any 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03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4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05" name="CustomShape 5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6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ln w="0">
            <a:noFill/>
          </a:ln>
        </p:spPr>
      </p:pic>
      <p:sp>
        <p:nvSpPr>
          <p:cNvPr id="107" name="CustomShape 6"/>
          <p:cNvSpPr/>
          <p:nvPr/>
        </p:nvSpPr>
        <p:spPr>
          <a:xfrm>
            <a:off x="4835880" y="6443640"/>
            <a:ext cx="251748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08" name="CustomShape 7"/>
          <p:cNvSpPr/>
          <p:nvPr/>
        </p:nvSpPr>
        <p:spPr>
          <a:xfrm>
            <a:off x="448560" y="1236600"/>
            <a:ext cx="1140480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332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Roboto"/>
              </a:rPr>
              <a:t>Not have any point.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0" name="CustomShape 2"/>
          <p:cNvSpPr/>
          <p:nvPr/>
        </p:nvSpPr>
        <p:spPr>
          <a:xfrm>
            <a:off x="507960" y="126000"/>
            <a:ext cx="747612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Improvement Points Identified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11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2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13" name="CustomShape 5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14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ln w="0">
            <a:noFill/>
          </a:ln>
        </p:spPr>
      </p:pic>
      <p:sp>
        <p:nvSpPr>
          <p:cNvPr id="115" name="CustomShape 6"/>
          <p:cNvSpPr/>
          <p:nvPr/>
        </p:nvSpPr>
        <p:spPr>
          <a:xfrm>
            <a:off x="4835880" y="6443640"/>
            <a:ext cx="251748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16" name="CustomShape 7"/>
          <p:cNvSpPr/>
          <p:nvPr/>
        </p:nvSpPr>
        <p:spPr>
          <a:xfrm>
            <a:off x="448560" y="1235880"/>
            <a:ext cx="11404800" cy="3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332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Need to Improve communication skill.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8" name="CustomShape 2"/>
          <p:cNvSpPr/>
          <p:nvPr/>
        </p:nvSpPr>
        <p:spPr>
          <a:xfrm>
            <a:off x="507960" y="126000"/>
            <a:ext cx="1115244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Any New Problem Statement Seen / Identified * If any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19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0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1" name="CustomShape 5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22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ln w="0">
            <a:noFill/>
          </a:ln>
        </p:spPr>
      </p:pic>
      <p:sp>
        <p:nvSpPr>
          <p:cNvPr id="123" name="CustomShape 6"/>
          <p:cNvSpPr/>
          <p:nvPr/>
        </p:nvSpPr>
        <p:spPr>
          <a:xfrm>
            <a:off x="4835880" y="6443640"/>
            <a:ext cx="251748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4" name="CustomShape 7"/>
          <p:cNvSpPr/>
          <p:nvPr/>
        </p:nvSpPr>
        <p:spPr>
          <a:xfrm>
            <a:off x="448560" y="1264680"/>
            <a:ext cx="11066400" cy="3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332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Roboto"/>
              </a:rPr>
              <a:t>There is no any problem statement identified yet.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335880" y="380880"/>
            <a:ext cx="11517480" cy="632520"/>
          </a:xfrm>
          <a:prstGeom prst="rect">
            <a:avLst/>
          </a:prstGeom>
          <a:solidFill>
            <a:srgbClr val="65BB35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6" name="CustomShape 2"/>
          <p:cNvSpPr/>
          <p:nvPr/>
        </p:nvSpPr>
        <p:spPr>
          <a:xfrm>
            <a:off x="507960" y="126000"/>
            <a:ext cx="1082988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b="1" strike="noStrike" spc="-1">
                <a:solidFill>
                  <a:srgbClr val="FFFFFF"/>
                </a:solidFill>
                <a:latin typeface="Roboto"/>
                <a:ea typeface="Roboto"/>
              </a:rPr>
              <a:t>Hiten Parmar - Achievements/Extra mile of the week * if any</a:t>
            </a:r>
            <a:endParaRPr lang="en-IN" sz="2400" b="0" strike="noStrike" spc="-1">
              <a:latin typeface="Arial"/>
            </a:endParaRPr>
          </a:p>
        </p:txBody>
      </p:sp>
      <p:sp>
        <p:nvSpPr>
          <p:cNvPr id="127" name="Line 3"/>
          <p:cNvSpPr/>
          <p:nvPr/>
        </p:nvSpPr>
        <p:spPr>
          <a:xfrm>
            <a:off x="335880" y="6222960"/>
            <a:ext cx="11520000" cy="0"/>
          </a:xfrm>
          <a:prstGeom prst="line">
            <a:avLst/>
          </a:prstGeom>
          <a:ln w="12600">
            <a:solidFill>
              <a:srgbClr val="D9D9D9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8" name="CustomShape 4"/>
          <p:cNvSpPr/>
          <p:nvPr/>
        </p:nvSpPr>
        <p:spPr>
          <a:xfrm>
            <a:off x="326880" y="6380280"/>
            <a:ext cx="4053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A6A6A6"/>
                </a:solidFill>
                <a:latin typeface="Roboto"/>
                <a:ea typeface="Roboto"/>
              </a:rPr>
              <a:t>04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29" name="CustomShape 5"/>
          <p:cNvSpPr/>
          <p:nvPr/>
        </p:nvSpPr>
        <p:spPr>
          <a:xfrm>
            <a:off x="335880" y="380880"/>
            <a:ext cx="110160" cy="632520"/>
          </a:xfrm>
          <a:prstGeom prst="rect">
            <a:avLst/>
          </a:prstGeom>
          <a:solidFill>
            <a:srgbClr val="0A344C"/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30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4040" cy="299520"/>
          </a:xfrm>
          <a:prstGeom prst="rect">
            <a:avLst/>
          </a:prstGeom>
          <a:ln w="0">
            <a:noFill/>
          </a:ln>
        </p:spPr>
      </p:pic>
      <p:sp>
        <p:nvSpPr>
          <p:cNvPr id="131" name="CustomShape 6"/>
          <p:cNvSpPr/>
          <p:nvPr/>
        </p:nvSpPr>
        <p:spPr>
          <a:xfrm>
            <a:off x="4835880" y="6443640"/>
            <a:ext cx="2517480" cy="19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>
            <a:sp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32" name="CustomShape 7"/>
          <p:cNvSpPr/>
          <p:nvPr/>
        </p:nvSpPr>
        <p:spPr>
          <a:xfrm>
            <a:off x="448560" y="1198800"/>
            <a:ext cx="9671760" cy="36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332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  <a:ea typeface="DejaVu Sans"/>
              </a:rPr>
              <a:t>There have been no achievements recorded in the first two weeks of May 2025.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7640" cy="6220440"/>
          </a:xfrm>
          <a:prstGeom prst="rect">
            <a:avLst/>
          </a:prstGeom>
          <a:ln w="0">
            <a:noFill/>
          </a:ln>
        </p:spPr>
      </p:pic>
      <p:pic>
        <p:nvPicPr>
          <p:cNvPr id="134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89600" cy="1775520"/>
          </a:xfrm>
          <a:prstGeom prst="rect">
            <a:avLst/>
          </a:prstGeom>
          <a:ln w="0">
            <a:noFill/>
          </a:ln>
        </p:spPr>
      </p:pic>
      <p:sp>
        <p:nvSpPr>
          <p:cNvPr id="135" name="CustomShape 1"/>
          <p:cNvSpPr/>
          <p:nvPr/>
        </p:nvSpPr>
        <p:spPr>
          <a:xfrm>
            <a:off x="457560" y="462960"/>
            <a:ext cx="5221080" cy="102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US" sz="3000" b="1" strike="noStrike" spc="-1">
                <a:solidFill>
                  <a:srgbClr val="65BB35"/>
                </a:solidFill>
                <a:latin typeface="Roboto"/>
                <a:ea typeface="Roboto"/>
              </a:rPr>
              <a:t>Thank You For </a:t>
            </a:r>
            <a:br/>
            <a:r>
              <a:rPr lang="en-US" sz="3000" b="1" strike="noStrike" spc="-1">
                <a:solidFill>
                  <a:srgbClr val="65BB35"/>
                </a:solidFill>
                <a:latin typeface="Roboto"/>
                <a:ea typeface="Roboto"/>
              </a:rPr>
              <a:t>Your Time &amp; Attention!</a:t>
            </a:r>
            <a:endParaRPr lang="en-IN" sz="3000" b="0" strike="noStrike" spc="-1"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457560" y="1756080"/>
            <a:ext cx="5221080" cy="69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52000"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262626"/>
                </a:solidFill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37" name="Line 3"/>
          <p:cNvSpPr/>
          <p:nvPr/>
        </p:nvSpPr>
        <p:spPr>
          <a:xfrm>
            <a:off x="524880" y="1622160"/>
            <a:ext cx="4320360" cy="0"/>
          </a:xfrm>
          <a:prstGeom prst="line">
            <a:avLst/>
          </a:prstGeom>
          <a:ln w="25560">
            <a:solidFill>
              <a:srgbClr val="65BB35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8" name="Line 4"/>
          <p:cNvSpPr/>
          <p:nvPr/>
        </p:nvSpPr>
        <p:spPr>
          <a:xfrm>
            <a:off x="335880" y="6301080"/>
            <a:ext cx="11520000" cy="0"/>
          </a:xfrm>
          <a:prstGeom prst="line">
            <a:avLst/>
          </a:prstGeom>
          <a:ln w="12600">
            <a:solidFill>
              <a:srgbClr val="D9D9D9">
                <a:alpha val="70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9" name="CustomShape 5"/>
          <p:cNvSpPr/>
          <p:nvPr/>
        </p:nvSpPr>
        <p:spPr>
          <a:xfrm>
            <a:off x="161640" y="6384600"/>
            <a:ext cx="383040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strike="noStrike" spc="-1">
                <a:solidFill>
                  <a:srgbClr val="F2F2F2"/>
                </a:solidFill>
                <a:latin typeface="Roboto"/>
                <a:ea typeface="Roboto"/>
              </a:rPr>
              <a:t>© 2023 SPEC INDIA. All Rights Reserved.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0" name="CustomShape 6"/>
          <p:cNvSpPr/>
          <p:nvPr/>
        </p:nvSpPr>
        <p:spPr>
          <a:xfrm>
            <a:off x="457560" y="2609640"/>
            <a:ext cx="2338560" cy="64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334C"/>
                </a:solidFill>
                <a:latin typeface="Roboto"/>
                <a:ea typeface="Roboto"/>
              </a:rPr>
              <a:t>Visit us at 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4"/>
              </a:rPr>
              <a:t> 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1" name="CustomShape 7"/>
          <p:cNvSpPr/>
          <p:nvPr/>
        </p:nvSpPr>
        <p:spPr>
          <a:xfrm>
            <a:off x="2798640" y="2609640"/>
            <a:ext cx="2338560" cy="64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B334C"/>
                </a:solidFill>
                <a:latin typeface="Roboto"/>
                <a:ea typeface="Roboto"/>
              </a:rPr>
              <a:t>Write to us at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2" name="CustomShape 8"/>
          <p:cNvSpPr/>
          <p:nvPr/>
        </p:nvSpPr>
        <p:spPr>
          <a:xfrm>
            <a:off x="7244280" y="796680"/>
            <a:ext cx="3697560" cy="4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334C"/>
                </a:solidFill>
                <a:latin typeface="Roboto"/>
                <a:ea typeface="Roboto"/>
              </a:rPr>
              <a:t>India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43" name="CustomShape 9"/>
          <p:cNvSpPr/>
          <p:nvPr/>
        </p:nvSpPr>
        <p:spPr>
          <a:xfrm>
            <a:off x="7581240" y="1292040"/>
            <a:ext cx="3697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5"/>
              </a:rPr>
              <a:t> 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4" name="CustomShape 10"/>
          <p:cNvSpPr/>
          <p:nvPr/>
        </p:nvSpPr>
        <p:spPr>
          <a:xfrm>
            <a:off x="7581240" y="1687680"/>
            <a:ext cx="3697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+91-79-26404031 to 34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5" name="CustomShape 11"/>
          <p:cNvSpPr/>
          <p:nvPr/>
        </p:nvSpPr>
        <p:spPr>
          <a:xfrm>
            <a:off x="7581240" y="2083320"/>
            <a:ext cx="3697560" cy="94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SPEC House”, Parth Complex,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Near Swastik Cross Roads, Navarangpura, Ahmedabad 380009, INDIA.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46" name="Line 12"/>
          <p:cNvSpPr/>
          <p:nvPr/>
        </p:nvSpPr>
        <p:spPr>
          <a:xfrm>
            <a:off x="7326720" y="1179720"/>
            <a:ext cx="3068280" cy="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47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6080" cy="226080"/>
          </a:xfrm>
          <a:prstGeom prst="rect">
            <a:avLst/>
          </a:prstGeom>
          <a:ln w="0">
            <a:noFill/>
          </a:ln>
        </p:spPr>
      </p:pic>
      <p:pic>
        <p:nvPicPr>
          <p:cNvPr id="148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6080" cy="226080"/>
          </a:xfrm>
          <a:prstGeom prst="rect">
            <a:avLst/>
          </a:prstGeom>
          <a:ln w="0">
            <a:noFill/>
          </a:ln>
        </p:spPr>
      </p:pic>
      <p:pic>
        <p:nvPicPr>
          <p:cNvPr id="149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6080" cy="226080"/>
          </a:xfrm>
          <a:prstGeom prst="rect">
            <a:avLst/>
          </a:prstGeom>
          <a:ln w="0">
            <a:noFill/>
          </a:ln>
        </p:spPr>
      </p:pic>
      <p:sp>
        <p:nvSpPr>
          <p:cNvPr id="150" name="CustomShape 13"/>
          <p:cNvSpPr/>
          <p:nvPr/>
        </p:nvSpPr>
        <p:spPr>
          <a:xfrm>
            <a:off x="7244280" y="2842200"/>
            <a:ext cx="3697560" cy="40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3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0B334C"/>
                </a:solidFill>
                <a:latin typeface="Roboto"/>
                <a:ea typeface="Roboto"/>
              </a:rPr>
              <a:t>USA</a:t>
            </a:r>
            <a:endParaRPr lang="en-IN" sz="1600" b="0" strike="noStrike" spc="-1">
              <a:latin typeface="Arial"/>
            </a:endParaRPr>
          </a:p>
        </p:txBody>
      </p:sp>
      <p:sp>
        <p:nvSpPr>
          <p:cNvPr id="151" name="CustomShape 14"/>
          <p:cNvSpPr/>
          <p:nvPr/>
        </p:nvSpPr>
        <p:spPr>
          <a:xfrm>
            <a:off x="7581240" y="3337560"/>
            <a:ext cx="3697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-1">
                <a:solidFill>
                  <a:srgbClr val="0563C1"/>
                </a:solidFill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2" name="CustomShape 15"/>
          <p:cNvSpPr/>
          <p:nvPr/>
        </p:nvSpPr>
        <p:spPr>
          <a:xfrm>
            <a:off x="7581240" y="3733200"/>
            <a:ext cx="369756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+ 1 908-450-9862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3" name="CustomShape 16"/>
          <p:cNvSpPr/>
          <p:nvPr/>
        </p:nvSpPr>
        <p:spPr>
          <a:xfrm>
            <a:off x="7581240" y="4128480"/>
            <a:ext cx="3697560" cy="51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FFFFF"/>
                </a:solidFill>
                <a:latin typeface="Roboto"/>
                <a:ea typeface="Roboto"/>
              </a:rPr>
              <a:t>SPEC Partner”, 350 Grove Street, Bridgewater, NJ 08807, United States.</a:t>
            </a:r>
            <a:endParaRPr lang="en-IN" sz="1400" b="0" strike="noStrike" spc="-1">
              <a:latin typeface="Arial"/>
            </a:endParaRPr>
          </a:p>
        </p:txBody>
      </p:sp>
      <p:sp>
        <p:nvSpPr>
          <p:cNvPr id="154" name="Line 17"/>
          <p:cNvSpPr/>
          <p:nvPr/>
        </p:nvSpPr>
        <p:spPr>
          <a:xfrm>
            <a:off x="7326720" y="3224880"/>
            <a:ext cx="3068280" cy="0"/>
          </a:xfrm>
          <a:prstGeom prst="line">
            <a:avLst/>
          </a:prstGeom>
          <a:ln w="12600">
            <a:solidFill>
              <a:srgbClr val="0B334C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55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6080" cy="226080"/>
          </a:xfrm>
          <a:prstGeom prst="rect">
            <a:avLst/>
          </a:prstGeom>
          <a:ln w="0">
            <a:noFill/>
          </a:ln>
        </p:spPr>
      </p:pic>
      <p:pic>
        <p:nvPicPr>
          <p:cNvPr id="156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6080" cy="22608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6080" cy="226080"/>
          </a:xfrm>
          <a:prstGeom prst="rect">
            <a:avLst/>
          </a:prstGeom>
          <a:ln w="0">
            <a:noFill/>
          </a:ln>
        </p:spPr>
      </p:pic>
      <p:pic>
        <p:nvPicPr>
          <p:cNvPr id="158" name="Picture 39" descr="Logo&#10;&#10;Description automatically generated"/>
          <p:cNvPicPr/>
          <p:nvPr/>
        </p:nvPicPr>
        <p:blipFill>
          <a:blip r:embed="rId10"/>
          <a:stretch/>
        </p:blipFill>
        <p:spPr>
          <a:xfrm>
            <a:off x="2600280" y="5526000"/>
            <a:ext cx="879480" cy="249480"/>
          </a:xfrm>
          <a:prstGeom prst="rect">
            <a:avLst/>
          </a:prstGeom>
          <a:ln w="0">
            <a:noFill/>
          </a:ln>
        </p:spPr>
      </p:pic>
      <p:pic>
        <p:nvPicPr>
          <p:cNvPr id="159" name="Picture 41" descr="A picture containing text, clipart&#10;&#10;Description automatically generated"/>
          <p:cNvPicPr/>
          <p:nvPr/>
        </p:nvPicPr>
        <p:blipFill>
          <a:blip r:embed="rId11"/>
          <a:stretch/>
        </p:blipFill>
        <p:spPr>
          <a:xfrm>
            <a:off x="3831120" y="5544000"/>
            <a:ext cx="1509480" cy="213480"/>
          </a:xfrm>
          <a:prstGeom prst="rect">
            <a:avLst/>
          </a:prstGeom>
          <a:ln w="0">
            <a:noFill/>
          </a:ln>
        </p:spPr>
      </p:pic>
      <p:pic>
        <p:nvPicPr>
          <p:cNvPr id="160" name="Picture 43" descr="A picture containing text, clipart&#10;&#10;Description automatically generated"/>
          <p:cNvPicPr/>
          <p:nvPr/>
        </p:nvPicPr>
        <p:blipFill>
          <a:blip r:embed="rId12"/>
          <a:stretch/>
        </p:blipFill>
        <p:spPr>
          <a:xfrm>
            <a:off x="5692320" y="5526000"/>
            <a:ext cx="763920" cy="249480"/>
          </a:xfrm>
          <a:prstGeom prst="rect">
            <a:avLst/>
          </a:prstGeom>
          <a:ln w="0">
            <a:noFill/>
          </a:ln>
        </p:spPr>
      </p:pic>
      <p:pic>
        <p:nvPicPr>
          <p:cNvPr id="161" name="Picture 45" descr="A picture containing text, clipart&#10;&#10;Description automatically generated"/>
          <p:cNvPicPr/>
          <p:nvPr/>
        </p:nvPicPr>
        <p:blipFill>
          <a:blip r:embed="rId13"/>
          <a:stretch/>
        </p:blipFill>
        <p:spPr>
          <a:xfrm>
            <a:off x="6807960" y="5526000"/>
            <a:ext cx="1280520" cy="249480"/>
          </a:xfrm>
          <a:prstGeom prst="rect">
            <a:avLst/>
          </a:prstGeom>
          <a:ln w="0">
            <a:noFill/>
          </a:ln>
        </p:spPr>
      </p:pic>
      <p:pic>
        <p:nvPicPr>
          <p:cNvPr id="162" name="Picture 47" descr="A picture containing text, transport, clipart, wheel&#10;&#10;Description automatically generated"/>
          <p:cNvPicPr/>
          <p:nvPr/>
        </p:nvPicPr>
        <p:blipFill>
          <a:blip r:embed="rId14"/>
          <a:stretch/>
        </p:blipFill>
        <p:spPr>
          <a:xfrm>
            <a:off x="8439840" y="5544000"/>
            <a:ext cx="1149480" cy="213480"/>
          </a:xfrm>
          <a:prstGeom prst="rect">
            <a:avLst/>
          </a:prstGeom>
          <a:ln w="0">
            <a:noFill/>
          </a:ln>
        </p:spPr>
      </p:pic>
      <p:pic>
        <p:nvPicPr>
          <p:cNvPr id="163" name="Picture 13" descr="Shape&#10;&#10;Description automatically generated"/>
          <p:cNvPicPr/>
          <p:nvPr/>
        </p:nvPicPr>
        <p:blipFill>
          <a:blip r:embed="rId15"/>
          <a:stretch/>
        </p:blipFill>
        <p:spPr>
          <a:xfrm>
            <a:off x="11627280" y="6429240"/>
            <a:ext cx="226080" cy="226080"/>
          </a:xfrm>
          <a:prstGeom prst="rect">
            <a:avLst/>
          </a:prstGeom>
          <a:ln w="0">
            <a:noFill/>
          </a:ln>
        </p:spPr>
      </p:pic>
      <p:pic>
        <p:nvPicPr>
          <p:cNvPr id="164" name="Picture 29" descr="A picture containing clipart&#10;&#10;Description automatically generated"/>
          <p:cNvPicPr/>
          <p:nvPr/>
        </p:nvPicPr>
        <p:blipFill>
          <a:blip r:embed="rId16"/>
          <a:stretch/>
        </p:blipFill>
        <p:spPr>
          <a:xfrm>
            <a:off x="11257560" y="6429240"/>
            <a:ext cx="226080" cy="226080"/>
          </a:xfrm>
          <a:prstGeom prst="rect">
            <a:avLst/>
          </a:prstGeom>
          <a:ln w="0">
            <a:noFill/>
          </a:ln>
        </p:spPr>
      </p:pic>
      <p:pic>
        <p:nvPicPr>
          <p:cNvPr id="165" name="Picture 31" descr="A picture containing text, clipart&#10;&#10;Description automatically generated"/>
          <p:cNvPicPr/>
          <p:nvPr/>
        </p:nvPicPr>
        <p:blipFill>
          <a:blip r:embed="rId17"/>
          <a:stretch/>
        </p:blipFill>
        <p:spPr>
          <a:xfrm>
            <a:off x="9777600" y="6429240"/>
            <a:ext cx="226080" cy="22608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35" descr="A picture containing text, clipart&#10;&#10;Description automatically generated"/>
          <p:cNvPicPr/>
          <p:nvPr/>
        </p:nvPicPr>
        <p:blipFill>
          <a:blip r:embed="rId18"/>
          <a:stretch/>
        </p:blipFill>
        <p:spPr>
          <a:xfrm>
            <a:off x="10147320" y="6429240"/>
            <a:ext cx="226080" cy="226080"/>
          </a:xfrm>
          <a:prstGeom prst="rect">
            <a:avLst/>
          </a:prstGeom>
          <a:ln w="0">
            <a:noFill/>
          </a:ln>
        </p:spPr>
      </p:pic>
      <p:pic>
        <p:nvPicPr>
          <p:cNvPr id="167" name="Picture 37" descr="A picture containing clipart&#10;&#10;Description automatically generated"/>
          <p:cNvPicPr/>
          <p:nvPr/>
        </p:nvPicPr>
        <p:blipFill>
          <a:blip r:embed="rId19"/>
          <a:stretch/>
        </p:blipFill>
        <p:spPr>
          <a:xfrm>
            <a:off x="10517400" y="6429240"/>
            <a:ext cx="226080" cy="226080"/>
          </a:xfrm>
          <a:prstGeom prst="rect">
            <a:avLst/>
          </a:prstGeom>
          <a:ln w="0">
            <a:noFill/>
          </a:ln>
        </p:spPr>
      </p:pic>
      <p:pic>
        <p:nvPicPr>
          <p:cNvPr id="168" name="Picture 40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6960240" y="5863680"/>
            <a:ext cx="975240" cy="149760"/>
          </a:xfrm>
          <a:prstGeom prst="rect">
            <a:avLst/>
          </a:prstGeom>
          <a:ln w="0">
            <a:noFill/>
          </a:ln>
        </p:spPr>
      </p:pic>
      <p:pic>
        <p:nvPicPr>
          <p:cNvPr id="169" name="Picture 44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8526960" y="5851440"/>
            <a:ext cx="975240" cy="149760"/>
          </a:xfrm>
          <a:prstGeom prst="rect">
            <a:avLst/>
          </a:prstGeom>
          <a:ln w="0">
            <a:noFill/>
          </a:ln>
        </p:spPr>
      </p:pic>
      <p:pic>
        <p:nvPicPr>
          <p:cNvPr id="170" name="Picture 46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5586480" y="5851440"/>
            <a:ext cx="975240" cy="149760"/>
          </a:xfrm>
          <a:prstGeom prst="rect">
            <a:avLst/>
          </a:prstGeom>
          <a:ln w="0">
            <a:noFill/>
          </a:ln>
        </p:spPr>
      </p:pic>
      <p:pic>
        <p:nvPicPr>
          <p:cNvPr id="171" name="Picture 49" descr="A picture containing text, clipart&#10;&#10;Description automatically generated"/>
          <p:cNvPicPr/>
          <p:nvPr/>
        </p:nvPicPr>
        <p:blipFill>
          <a:blip r:embed="rId20"/>
          <a:stretch/>
        </p:blipFill>
        <p:spPr>
          <a:xfrm>
            <a:off x="4098240" y="5863680"/>
            <a:ext cx="975240" cy="149760"/>
          </a:xfrm>
          <a:prstGeom prst="rect">
            <a:avLst/>
          </a:prstGeom>
          <a:ln w="0">
            <a:noFill/>
          </a:ln>
        </p:spPr>
      </p:pic>
      <p:pic>
        <p:nvPicPr>
          <p:cNvPr id="172" name="Picture 50" descr="A picture containing text, clipart&#10;&#10;Description automatically generated"/>
          <p:cNvPicPr/>
          <p:nvPr/>
        </p:nvPicPr>
        <p:blipFill>
          <a:blip r:embed="rId21"/>
          <a:stretch/>
        </p:blipFill>
        <p:spPr>
          <a:xfrm>
            <a:off x="2580480" y="5858280"/>
            <a:ext cx="975240" cy="149760"/>
          </a:xfrm>
          <a:prstGeom prst="rect">
            <a:avLst/>
          </a:prstGeom>
          <a:ln w="0">
            <a:noFill/>
          </a:ln>
        </p:spPr>
      </p:pic>
      <p:pic>
        <p:nvPicPr>
          <p:cNvPr id="173" name="Picture 52" descr="A picture containing text, clipart&#10;&#10;Description automatically generated"/>
          <p:cNvPicPr/>
          <p:nvPr/>
        </p:nvPicPr>
        <p:blipFill>
          <a:blip r:embed="rId22"/>
          <a:stretch/>
        </p:blipFill>
        <p:spPr>
          <a:xfrm>
            <a:off x="10887480" y="6428520"/>
            <a:ext cx="226080" cy="226080"/>
          </a:xfrm>
          <a:prstGeom prst="rect">
            <a:avLst/>
          </a:prstGeom>
          <a:ln w="0">
            <a:noFill/>
          </a:ln>
        </p:spPr>
      </p:pic>
      <p:sp>
        <p:nvSpPr>
          <p:cNvPr id="174" name="Line 18"/>
          <p:cNvSpPr/>
          <p:nvPr/>
        </p:nvSpPr>
        <p:spPr>
          <a:xfrm>
            <a:off x="2580120" y="2716200"/>
            <a:ext cx="0" cy="519840"/>
          </a:xfrm>
          <a:prstGeom prst="line">
            <a:avLst/>
          </a:prstGeom>
          <a:ln w="38160">
            <a:solidFill>
              <a:srgbClr val="E8E8EB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5634</TotalTime>
  <Words>348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Roboto</vt:lpstr>
      <vt:lpstr>StarSymbol</vt:lpstr>
      <vt:lpstr>Symbol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>Parth Jotangiya</cp:lastModifiedBy>
  <cp:revision>478</cp:revision>
  <dcterms:created xsi:type="dcterms:W3CDTF">2023-01-02T08:33:04Z</dcterms:created>
  <dcterms:modified xsi:type="dcterms:W3CDTF">2025-05-20T11:28:17Z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