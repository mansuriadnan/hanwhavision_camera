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slideLayouts/slideLayout10.xml" ContentType="application/vnd.openxmlformats-officedocument.presentationml.slideLayout+xml"/>
  <Override PartName="/ppt/theme/theme4.xml" ContentType="application/vnd.openxmlformats-officedocument.theme+xml"/>
  <Override PartName="/ppt/slideLayouts/slideLayout11.xml" ContentType="application/vnd.openxmlformats-officedocument.presentationml.slideLayout+xml"/>
  <Override PartName="/ppt/theme/theme5.xml" ContentType="application/vnd.openxmlformats-officedocument.theme+xml"/>
  <Override PartName="/ppt/slideLayouts/slideLayout12.xml" ContentType="application/vnd.openxmlformats-officedocument.presentationml.slideLayout+xml"/>
  <Override PartName="/ppt/theme/theme6.xml" ContentType="application/vnd.openxmlformats-officedocument.theme+xml"/>
  <Override PartName="/ppt/slideLayouts/slideLayout13.xml" ContentType="application/vnd.openxmlformats-officedocument.presentationml.slideLayout+xml"/>
  <Override PartName="/ppt/theme/theme7.xml" ContentType="application/vnd.openxmlformats-officedocument.theme+xml"/>
  <Override PartName="/ppt/slideLayouts/slideLayout14.xml" ContentType="application/vnd.openxmlformats-officedocument.presentationml.slideLayout+xml"/>
  <Override PartName="/ppt/theme/theme8.xml" ContentType="application/vnd.openxmlformats-officedocument.theme+xml"/>
  <Override PartName="/ppt/slideLayouts/slideLayout15.xml" ContentType="application/vnd.openxmlformats-officedocument.presentationml.slideLayout+xml"/>
  <Override PartName="/ppt/theme/theme9.xml" ContentType="application/vnd.openxmlformats-officedocument.theme+xml"/>
  <Override PartName="/ppt/slideLayouts/slideLayout16.xml" ContentType="application/vnd.openxmlformats-officedocument.presentationml.slideLayout+xml"/>
  <Override PartName="/ppt/theme/theme10.xml" ContentType="application/vnd.openxmlformats-officedocument.theme+xml"/>
  <Override PartName="/ppt/slideLayouts/slideLayout17.xml" ContentType="application/vnd.openxmlformats-officedocument.presentationml.slideLayout+xml"/>
  <Override PartName="/ppt/theme/theme11.xml" ContentType="application/vnd.openxmlformats-officedocument.theme+xml"/>
  <Override PartName="/ppt/slideLayouts/slideLayout18.xml" ContentType="application/vnd.openxmlformats-officedocument.presentationml.slideLayout+xml"/>
  <Override PartName="/ppt/theme/theme12.xml" ContentType="application/vnd.openxmlformats-officedocument.theme+xml"/>
  <Override PartName="/ppt/slideLayouts/slideLayout19.xml" ContentType="application/vnd.openxmlformats-officedocument.presentationml.slideLayout+xml"/>
  <Override PartName="/ppt/theme/theme13.xml" ContentType="application/vnd.openxmlformats-officedocument.theme+xml"/>
  <Override PartName="/ppt/slideLayouts/slideLayout20.xml" ContentType="application/vnd.openxmlformats-officedocument.presentationml.slideLayout+xml"/>
  <Override PartName="/ppt/theme/theme14.xml" ContentType="application/vnd.openxmlformats-officedocument.theme+xml"/>
  <Override PartName="/ppt/slideLayouts/slideLayout21.xml" ContentType="application/vnd.openxmlformats-officedocument.presentationml.slideLayout+xml"/>
  <Override PartName="/ppt/theme/theme15.xml" ContentType="application/vnd.openxmlformats-officedocument.theme+xml"/>
  <Override PartName="/ppt/slideLayouts/slideLayout22.xml" ContentType="application/vnd.openxmlformats-officedocument.presentationml.slideLayout+xml"/>
  <Override PartName="/ppt/theme/theme16.xml" ContentType="application/vnd.openxmlformats-officedocument.theme+xml"/>
  <Override PartName="/ppt/slideLayouts/slideLayout23.xml" ContentType="application/vnd.openxmlformats-officedocument.presentationml.slideLayout+xml"/>
  <Override PartName="/ppt/theme/theme17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6" r:id="rId2"/>
    <p:sldMasterId id="2147483658" r:id="rId3"/>
    <p:sldMasterId id="2147483660" r:id="rId4"/>
    <p:sldMasterId id="2147483662" r:id="rId5"/>
    <p:sldMasterId id="2147483664" r:id="rId6"/>
    <p:sldMasterId id="2147483666" r:id="rId7"/>
    <p:sldMasterId id="2147483668" r:id="rId8"/>
    <p:sldMasterId id="2147483670" r:id="rId9"/>
    <p:sldMasterId id="2147483672" r:id="rId10"/>
    <p:sldMasterId id="2147483674" r:id="rId11"/>
    <p:sldMasterId id="2147483676" r:id="rId12"/>
    <p:sldMasterId id="2147483678" r:id="rId13"/>
    <p:sldMasterId id="2147483680" r:id="rId14"/>
    <p:sldMasterId id="2147483682" r:id="rId15"/>
    <p:sldMasterId id="2147483684" r:id="rId16"/>
    <p:sldMasterId id="2147483686" r:id="rId17"/>
  </p:sldMasterIdLst>
  <p:sldIdLst>
    <p:sldId id="256" r:id="rId18"/>
    <p:sldId id="257" r:id="rId19"/>
    <p:sldId id="258" r:id="rId20"/>
    <p:sldId id="259" r:id="rId21"/>
    <p:sldId id="260" r:id="rId22"/>
    <p:sldId id="261" r:id="rId23"/>
    <p:sldId id="262" r:id="rId24"/>
    <p:sldId id="263" r:id="rId25"/>
  </p:sldIdLst>
  <p:sldSz cx="12192000" cy="6858000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Master" Target="slideMasters/slideMaster13.xml"/><Relationship Id="rId18" Type="http://schemas.openxmlformats.org/officeDocument/2006/relationships/slide" Target="slides/slide1.xml"/><Relationship Id="rId26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4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Master" Target="slideMasters/slideMaster17.xml"/><Relationship Id="rId25" Type="http://schemas.openxmlformats.org/officeDocument/2006/relationships/slide" Target="slides/slide8.xml"/><Relationship Id="rId2" Type="http://schemas.openxmlformats.org/officeDocument/2006/relationships/slideMaster" Target="slideMasters/slideMaster2.xml"/><Relationship Id="rId16" Type="http://schemas.openxmlformats.org/officeDocument/2006/relationships/slideMaster" Target="slideMasters/slideMaster16.xml"/><Relationship Id="rId20" Type="http://schemas.openxmlformats.org/officeDocument/2006/relationships/slide" Target="slides/slide3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7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slide" Target="slides/slide6.xml"/><Relationship Id="rId28" Type="http://schemas.openxmlformats.org/officeDocument/2006/relationships/theme" Target="theme/theme1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2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" Target="slides/slide5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560" cy="238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2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09FE2193-9C9C-49F9-91B7-4AA4D620D79D}" type="slidenum">
              <a:t>‹#›</a:t>
            </a:fld>
            <a:endParaRPr/>
          </a:p>
        </p:txBody>
      </p:sp>
      <p:sp>
        <p:nvSpPr>
          <p:cNvPr id="3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219DF725-06B8-4C56-8946-AD2CFCCA5BEA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560" cy="238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0F5B3752-B2D5-4FDA-B572-3186C7D77A9C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560" cy="238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129D3A73-C5FD-4605-9673-DF8E5A901280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560" cy="238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80CEE21D-89A3-4DB6-9B38-0F7D7155003C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87D9C5C9-8BFE-4713-976D-3E17AAC6A2E9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85733FC0-E4FE-413D-934E-0FF9C993F5AD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560" cy="238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E46CC5BF-D0A1-4F06-847F-765A0E2BDCBA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1D872527-DC51-4265-8D37-C6F85345F19B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560" cy="238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10B6C8F5-AE0F-4B17-A844-9FF4CAC27E48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560" cy="238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fld id="{FA18BA22-680C-4A97-9E18-D15421E49698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7"/>
          </p:nvPr>
        </p:nvSpPr>
        <p:spPr/>
        <p:txBody>
          <a:bodyPr/>
          <a:lstStyle/>
          <a:p>
            <a:fld id="{4B43FC57-A6D1-4EA5-927F-44564D230FC7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efaul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lstStyle/>
          <a:p>
            <a:fld id="{603EB99A-D12F-482B-8FDD-941403207988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3"/>
          </p:nvPr>
        </p:nvSpPr>
        <p:spPr/>
        <p:txBody>
          <a:bodyPr/>
          <a:lstStyle/>
          <a:p>
            <a:fld id="{514CFAAF-5320-4361-AAD6-A5A7DBBDF2D6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lstStyle/>
          <a:p>
            <a:fld id="{78FA0C53-EBEC-4E2C-82A5-812016F34831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560" cy="238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9"/>
          </p:nvPr>
        </p:nvSpPr>
        <p:spPr/>
        <p:txBody>
          <a:bodyPr/>
          <a:lstStyle/>
          <a:p>
            <a:fld id="{13D3FB0F-A45A-4519-9847-3BFC50F3D4A5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lstStyle/>
          <a:p>
            <a:fld id="{43E00259-27E6-4C1E-90ED-4D7A70903CF0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560" cy="238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5"/>
          </p:nvPr>
        </p:nvSpPr>
        <p:spPr/>
        <p:txBody>
          <a:bodyPr/>
          <a:lstStyle/>
          <a:p>
            <a:fld id="{E73E4130-7CC2-4D91-8532-0E8E7E14A211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8"/>
          </p:nvPr>
        </p:nvSpPr>
        <p:spPr/>
        <p:txBody>
          <a:bodyPr/>
          <a:lstStyle/>
          <a:p>
            <a:fld id="{C1E82A4B-B6ED-4CC7-984C-854CA2B0B6C3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560" cy="238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41"/>
          </p:nvPr>
        </p:nvSpPr>
        <p:spPr/>
        <p:txBody>
          <a:bodyPr/>
          <a:lstStyle/>
          <a:p>
            <a:fld id="{16F82FD8-78B4-434F-B579-A072827D41E7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4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4"/>
          </p:nvPr>
        </p:nvSpPr>
        <p:spPr/>
        <p:txBody>
          <a:bodyPr/>
          <a:lstStyle/>
          <a:p>
            <a:fld id="{9C18A51F-C939-4399-BF5C-08428FDEC067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7"/>
          </p:nvPr>
        </p:nvSpPr>
        <p:spPr/>
        <p:txBody>
          <a:bodyPr/>
          <a:lstStyle/>
          <a:p>
            <a:fld id="{10AD863A-A9DB-4C24-816A-1A46797950B5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0"/>
          </p:nvPr>
        </p:nvSpPr>
        <p:spPr/>
        <p:txBody>
          <a:bodyPr/>
          <a:lstStyle/>
          <a:p>
            <a:fld id="{98217F1B-1556-42C7-AA9D-895EC634BBE4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5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8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9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0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1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12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13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14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5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6.xml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7.xml"/></Relationships>
</file>

<file path=ppt/slideMasters/_rels/slideMaster12.xml.rels><?xml version="1.0" encoding="UTF-8" standalone="yes"?>
<Relationships xmlns="http://schemas.openxmlformats.org/package/2006/relationships"><Relationship Id="rId2" Type="http://schemas.openxmlformats.org/officeDocument/2006/relationships/theme" Target="../theme/theme12.xml"/><Relationship Id="rId1" Type="http://schemas.openxmlformats.org/officeDocument/2006/relationships/slideLayout" Target="../slideLayouts/slideLayout18.xml"/></Relationships>
</file>

<file path=ppt/slideMasters/_rels/slideMaster13.xml.rels><?xml version="1.0" encoding="UTF-8" standalone="yes"?>
<Relationships xmlns="http://schemas.openxmlformats.org/package/2006/relationships"><Relationship Id="rId2" Type="http://schemas.openxmlformats.org/officeDocument/2006/relationships/theme" Target="../theme/theme13.xml"/><Relationship Id="rId1" Type="http://schemas.openxmlformats.org/officeDocument/2006/relationships/slideLayout" Target="../slideLayouts/slideLayout19.xml"/></Relationships>
</file>

<file path=ppt/slideMasters/_rels/slideMaster14.xml.rels><?xml version="1.0" encoding="UTF-8" standalone="yes"?>
<Relationships xmlns="http://schemas.openxmlformats.org/package/2006/relationships"><Relationship Id="rId2" Type="http://schemas.openxmlformats.org/officeDocument/2006/relationships/theme" Target="../theme/theme14.xml"/><Relationship Id="rId1" Type="http://schemas.openxmlformats.org/officeDocument/2006/relationships/slideLayout" Target="../slideLayouts/slideLayout20.xml"/></Relationships>
</file>

<file path=ppt/slideMasters/_rels/slideMaster15.xml.rels><?xml version="1.0" encoding="UTF-8" standalone="yes"?>
<Relationships xmlns="http://schemas.openxmlformats.org/package/2006/relationships"><Relationship Id="rId2" Type="http://schemas.openxmlformats.org/officeDocument/2006/relationships/theme" Target="../theme/theme15.xml"/><Relationship Id="rId1" Type="http://schemas.openxmlformats.org/officeDocument/2006/relationships/slideLayout" Target="../slideLayouts/slideLayout21.xml"/></Relationships>
</file>

<file path=ppt/slideMasters/_rels/slideMaster16.xml.rels><?xml version="1.0" encoding="UTF-8" standalone="yes"?>
<Relationships xmlns="http://schemas.openxmlformats.org/package/2006/relationships"><Relationship Id="rId2" Type="http://schemas.openxmlformats.org/officeDocument/2006/relationships/theme" Target="../theme/theme16.xml"/><Relationship Id="rId1" Type="http://schemas.openxmlformats.org/officeDocument/2006/relationships/slideLayout" Target="../slideLayouts/slideLayout22.xml"/></Relationships>
</file>

<file path=ppt/slideMasters/_rels/slideMaster17.xml.rels><?xml version="1.0" encoding="UTF-8" standalone="yes"?>
<Relationships xmlns="http://schemas.openxmlformats.org/package/2006/relationships"><Relationship Id="rId2" Type="http://schemas.openxmlformats.org/officeDocument/2006/relationships/theme" Target="../theme/theme17.xml"/><Relationship Id="rId1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560" cy="238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72F5DB0A-F780-486E-9595-A9F32B7719C0}" type="slidenum"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560" cy="238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15" name="PlaceHolder 3"/>
          <p:cNvSpPr>
            <a:spLocks noGrp="1"/>
          </p:cNvSpPr>
          <p:nvPr>
            <p:ph type="ftr" idx="4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</a:p>
        </p:txBody>
      </p:sp>
      <p:sp>
        <p:nvSpPr>
          <p:cNvPr id="16" name="PlaceHolder 4"/>
          <p:cNvSpPr>
            <a:spLocks noGrp="1"/>
          </p:cNvSpPr>
          <p:nvPr>
            <p:ph type="sldNum" idx="5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7CCD31AE-F0F0-4851-BB4D-E658252239D6}" type="slidenum"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dt" idx="6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ftr" idx="7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 </a:t>
            </a:r>
          </a:p>
        </p:txBody>
      </p:sp>
      <p:sp>
        <p:nvSpPr>
          <p:cNvPr id="21" name="PlaceHolder 2"/>
          <p:cNvSpPr>
            <a:spLocks noGrp="1"/>
          </p:cNvSpPr>
          <p:nvPr>
            <p:ph type="sldNum" idx="8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E02F0CC6-4D76-4D48-A5B1-48F782890360}" type="slidenum"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9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560" cy="238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26" name="PlaceHolder 4"/>
          <p:cNvSpPr>
            <a:spLocks noGrp="1"/>
          </p:cNvSpPr>
          <p:nvPr>
            <p:ph type="ftr" idx="10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</a:p>
        </p:txBody>
      </p:sp>
      <p:sp>
        <p:nvSpPr>
          <p:cNvPr id="27" name="PlaceHolder 5"/>
          <p:cNvSpPr>
            <a:spLocks noGrp="1"/>
          </p:cNvSpPr>
          <p:nvPr>
            <p:ph type="sldNum" idx="11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DAA3715C-589F-4214-8B64-5691F0B3F7BE}" type="slidenum"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8" name="PlaceHolder 6"/>
          <p:cNvSpPr>
            <a:spLocks noGrp="1"/>
          </p:cNvSpPr>
          <p:nvPr>
            <p:ph type="dt" idx="12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560" cy="238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3" name="PlaceHolder 2"/>
          <p:cNvSpPr>
            <a:spLocks noGrp="1"/>
          </p:cNvSpPr>
          <p:nvPr>
            <p:ph type="ftr" idx="13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 </a:t>
            </a:r>
          </a:p>
        </p:txBody>
      </p:sp>
      <p:sp>
        <p:nvSpPr>
          <p:cNvPr id="34" name="PlaceHolder 3"/>
          <p:cNvSpPr>
            <a:spLocks noGrp="1"/>
          </p:cNvSpPr>
          <p:nvPr>
            <p:ph type="sldNum" idx="14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DCBD967B-6A2D-40D8-A364-3F406FA7D5BD}" type="slidenum"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dt" idx="15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ftr" idx="16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 </a:t>
            </a:r>
          </a:p>
        </p:txBody>
      </p:sp>
      <p:sp>
        <p:nvSpPr>
          <p:cNvPr id="38" name="PlaceHolder 2"/>
          <p:cNvSpPr>
            <a:spLocks noGrp="1"/>
          </p:cNvSpPr>
          <p:nvPr>
            <p:ph type="sldNum" idx="17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F4D7C21A-6045-481D-98AB-D766E8721755}" type="slidenum"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dt" idx="18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ftr" idx="19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 </a:t>
            </a:r>
          </a:p>
        </p:txBody>
      </p:sp>
      <p:sp>
        <p:nvSpPr>
          <p:cNvPr id="41" name="PlaceHolder 2"/>
          <p:cNvSpPr>
            <a:spLocks noGrp="1"/>
          </p:cNvSpPr>
          <p:nvPr>
            <p:ph type="sldNum" idx="20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66B345D6-979A-41D0-9FA6-F58D47C1FF15}" type="slidenum"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dt" idx="21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ftr" idx="22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 </a:t>
            </a:r>
          </a:p>
        </p:txBody>
      </p:sp>
      <p:sp>
        <p:nvSpPr>
          <p:cNvPr id="44" name="PlaceHolder 2"/>
          <p:cNvSpPr>
            <a:spLocks noGrp="1"/>
          </p:cNvSpPr>
          <p:nvPr>
            <p:ph type="sldNum" idx="23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0F5044B3-F6B9-40A5-AA17-5F634C96FB97}" type="slidenum"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dt" idx="24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ftr" idx="25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 </a:t>
            </a:r>
          </a:p>
        </p:txBody>
      </p:sp>
      <p:sp>
        <p:nvSpPr>
          <p:cNvPr id="47" name="PlaceHolder 2"/>
          <p:cNvSpPr>
            <a:spLocks noGrp="1"/>
          </p:cNvSpPr>
          <p:nvPr>
            <p:ph type="sldNum" idx="26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1DCE6C4B-D5F9-481F-9CF3-D7A926496EBC}" type="slidenum"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dt" idx="27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560" cy="238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51" name="PlaceHolder 3"/>
          <p:cNvSpPr>
            <a:spLocks noGrp="1"/>
          </p:cNvSpPr>
          <p:nvPr>
            <p:ph type="ftr" idx="28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</a:p>
        </p:txBody>
      </p:sp>
      <p:sp>
        <p:nvSpPr>
          <p:cNvPr id="52" name="PlaceHolder 4"/>
          <p:cNvSpPr>
            <a:spLocks noGrp="1"/>
          </p:cNvSpPr>
          <p:nvPr>
            <p:ph type="sldNum" idx="29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BB328A93-67EB-4D7B-B7A4-3A68B0F4DED3}" type="slidenum"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dt" idx="30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ftr" idx="31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 </a:t>
            </a:r>
          </a:p>
        </p:txBody>
      </p:sp>
      <p:sp>
        <p:nvSpPr>
          <p:cNvPr id="57" name="PlaceHolder 2"/>
          <p:cNvSpPr>
            <a:spLocks noGrp="1"/>
          </p:cNvSpPr>
          <p:nvPr>
            <p:ph type="sldNum" idx="32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9D9DBC10-D69B-42F3-A6BB-A61B5B8C3D9F}" type="slidenum"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dt" idx="33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560" cy="238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62" name="PlaceHolder 4"/>
          <p:cNvSpPr>
            <a:spLocks noGrp="1"/>
          </p:cNvSpPr>
          <p:nvPr>
            <p:ph type="ftr" idx="34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</a:p>
        </p:txBody>
      </p:sp>
      <p:sp>
        <p:nvSpPr>
          <p:cNvPr id="63" name="PlaceHolder 5"/>
          <p:cNvSpPr>
            <a:spLocks noGrp="1"/>
          </p:cNvSpPr>
          <p:nvPr>
            <p:ph type="sldNum" idx="35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ABE0CFE9-D627-407E-9CE8-C7D25B214A24}" type="slidenum"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4" name="PlaceHolder 6"/>
          <p:cNvSpPr>
            <a:spLocks noGrp="1"/>
          </p:cNvSpPr>
          <p:nvPr>
            <p:ph type="dt" idx="36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ftr" idx="37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 </a:t>
            </a:r>
          </a:p>
        </p:txBody>
      </p:sp>
      <p:sp>
        <p:nvSpPr>
          <p:cNvPr id="69" name="PlaceHolder 2"/>
          <p:cNvSpPr>
            <a:spLocks noGrp="1"/>
          </p:cNvSpPr>
          <p:nvPr>
            <p:ph type="sldNum" idx="38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CCE3B677-74AB-47E7-BDD1-21AEC35F6408}" type="slidenum"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dt" idx="39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560" cy="238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72" name="PlaceHolder 2"/>
          <p:cNvSpPr>
            <a:spLocks noGrp="1"/>
          </p:cNvSpPr>
          <p:nvPr>
            <p:ph type="ftr" idx="40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 </a:t>
            </a:r>
          </a:p>
        </p:txBody>
      </p:sp>
      <p:sp>
        <p:nvSpPr>
          <p:cNvPr id="73" name="PlaceHolder 3"/>
          <p:cNvSpPr>
            <a:spLocks noGrp="1"/>
          </p:cNvSpPr>
          <p:nvPr>
            <p:ph type="sldNum" idx="41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03238AB6-B3A0-46A4-9261-483F1821A052}" type="slidenum"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dt" idx="42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ftr" idx="43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 </a:t>
            </a:r>
          </a:p>
        </p:txBody>
      </p:sp>
      <p:sp>
        <p:nvSpPr>
          <p:cNvPr id="77" name="PlaceHolder 2"/>
          <p:cNvSpPr>
            <a:spLocks noGrp="1"/>
          </p:cNvSpPr>
          <p:nvPr>
            <p:ph type="sldNum" idx="44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AD94FB10-C5F5-4A39-B30A-CA905432EFC8}" type="slidenum"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dt" idx="45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ftr" idx="46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 </a:t>
            </a:r>
          </a:p>
        </p:txBody>
      </p:sp>
      <p:sp>
        <p:nvSpPr>
          <p:cNvPr id="80" name="PlaceHolder 2"/>
          <p:cNvSpPr>
            <a:spLocks noGrp="1"/>
          </p:cNvSpPr>
          <p:nvPr>
            <p:ph type="sldNum" idx="47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128022BA-33F1-4E4A-8F7A-33D35229BF6D}" type="slidenum"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 type="dt" idx="48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ftr" idx="49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 </a:t>
            </a:r>
          </a:p>
        </p:txBody>
      </p:sp>
      <p:sp>
        <p:nvSpPr>
          <p:cNvPr id="83" name="PlaceHolder 2"/>
          <p:cNvSpPr>
            <a:spLocks noGrp="1"/>
          </p:cNvSpPr>
          <p:nvPr>
            <p:ph type="sldNum" idx="50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2554B778-C558-46BA-B66D-8B06D05DD6D0}" type="slidenum"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dt" idx="51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7" Type="http://schemas.openxmlformats.org/officeDocument/2006/relationships/image" Target="../media/image5.wmf"/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1.xml"/><Relationship Id="rId6" Type="http://schemas.openxmlformats.org/officeDocument/2006/relationships/hyperlink" Target="http://www.spec-india.com/" TargetMode="External"/><Relationship Id="rId5" Type="http://schemas.openxmlformats.org/officeDocument/2006/relationships/image" Target="../media/image4.wmf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.png"/><Relationship Id="rId18" Type="http://schemas.openxmlformats.org/officeDocument/2006/relationships/hyperlink" Target="https://www.glassdoor.co.in/Reviews/SPEC-INDIA-Reviews-E688018.htm" TargetMode="External"/><Relationship Id="rId26" Type="http://schemas.openxmlformats.org/officeDocument/2006/relationships/hyperlink" Target="https://www.linkedin.com/company/spec-india/mycompany/" TargetMode="External"/><Relationship Id="rId3" Type="http://schemas.openxmlformats.org/officeDocument/2006/relationships/image" Target="../media/image2.wmf"/><Relationship Id="rId21" Type="http://schemas.openxmlformats.org/officeDocument/2006/relationships/image" Target="../media/image14.png"/><Relationship Id="rId7" Type="http://schemas.openxmlformats.org/officeDocument/2006/relationships/image" Target="../media/image7.wmf"/><Relationship Id="rId12" Type="http://schemas.openxmlformats.org/officeDocument/2006/relationships/hyperlink" Target="https://www.goodfirms.co/company/spec-india" TargetMode="External"/><Relationship Id="rId17" Type="http://schemas.openxmlformats.org/officeDocument/2006/relationships/image" Target="../media/image12.png"/><Relationship Id="rId25" Type="http://schemas.openxmlformats.org/officeDocument/2006/relationships/image" Target="../media/image16.png"/><Relationship Id="rId33" Type="http://schemas.openxmlformats.org/officeDocument/2006/relationships/image" Target="../media/image21.png"/><Relationship Id="rId2" Type="http://schemas.openxmlformats.org/officeDocument/2006/relationships/image" Target="../media/image1.wmf"/><Relationship Id="rId16" Type="http://schemas.openxmlformats.org/officeDocument/2006/relationships/hyperlink" Target="https://www.ambitionbox.com/reviews/spec-india-reviews" TargetMode="External"/><Relationship Id="rId20" Type="http://schemas.openxmlformats.org/officeDocument/2006/relationships/hyperlink" Target="https://www.behance.net/specindia" TargetMode="External"/><Relationship Id="rId29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wmf"/><Relationship Id="rId11" Type="http://schemas.openxmlformats.org/officeDocument/2006/relationships/image" Target="../media/image9.png"/><Relationship Id="rId24" Type="http://schemas.openxmlformats.org/officeDocument/2006/relationships/hyperlink" Target="https://www.facebook.com/SPECINDIA.IT" TargetMode="External"/><Relationship Id="rId32" Type="http://schemas.openxmlformats.org/officeDocument/2006/relationships/hyperlink" Target="https://www.instagram.com/spec_india" TargetMode="External"/><Relationship Id="rId5" Type="http://schemas.openxmlformats.org/officeDocument/2006/relationships/hyperlink" Target="mailto:lead@spec-india.com" TargetMode="External"/><Relationship Id="rId15" Type="http://schemas.openxmlformats.org/officeDocument/2006/relationships/image" Target="../media/image11.png"/><Relationship Id="rId23" Type="http://schemas.openxmlformats.org/officeDocument/2006/relationships/image" Target="../media/image15.png"/><Relationship Id="rId28" Type="http://schemas.openxmlformats.org/officeDocument/2006/relationships/hyperlink" Target="https://twitter.com/infospec_india" TargetMode="External"/><Relationship Id="rId10" Type="http://schemas.openxmlformats.org/officeDocument/2006/relationships/hyperlink" Target="https://clutch.co/profile/spec-india" TargetMode="External"/><Relationship Id="rId19" Type="http://schemas.openxmlformats.org/officeDocument/2006/relationships/image" Target="../media/image13.png"/><Relationship Id="rId31" Type="http://schemas.openxmlformats.org/officeDocument/2006/relationships/image" Target="../media/image20.png"/><Relationship Id="rId4" Type="http://schemas.openxmlformats.org/officeDocument/2006/relationships/hyperlink" Target="http://www.spec-india.com/" TargetMode="External"/><Relationship Id="rId9" Type="http://schemas.openxmlformats.org/officeDocument/2006/relationships/hyperlink" Target="mailto:lead@spec-usa.net" TargetMode="External"/><Relationship Id="rId14" Type="http://schemas.openxmlformats.org/officeDocument/2006/relationships/hyperlink" Target="https://g.page/r/CRApINeFYBWKEAE" TargetMode="External"/><Relationship Id="rId22" Type="http://schemas.openxmlformats.org/officeDocument/2006/relationships/hyperlink" Target="https://dribbble.com/specindia" TargetMode="External"/><Relationship Id="rId27" Type="http://schemas.openxmlformats.org/officeDocument/2006/relationships/image" Target="../media/image17.png"/><Relationship Id="rId30" Type="http://schemas.openxmlformats.org/officeDocument/2006/relationships/image" Target="../media/image19.png"/><Relationship Id="rId8" Type="http://schemas.openxmlformats.org/officeDocument/2006/relationships/image" Target="../media/image8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5B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Picture 19"/>
          <p:cNvPicPr/>
          <p:nvPr/>
        </p:nvPicPr>
        <p:blipFill>
          <a:blip r:embed="rId2"/>
          <a:stretch/>
        </p:blipFill>
        <p:spPr>
          <a:xfrm>
            <a:off x="178200" y="-228600"/>
            <a:ext cx="6678720" cy="6221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6" name="Picture 8"/>
          <p:cNvPicPr/>
          <p:nvPr/>
        </p:nvPicPr>
        <p:blipFill>
          <a:blip r:embed="rId3"/>
          <a:stretch/>
        </p:blipFill>
        <p:spPr>
          <a:xfrm>
            <a:off x="0" y="5079960"/>
            <a:ext cx="12190680" cy="1776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7" name="Picture 7"/>
          <p:cNvPicPr/>
          <p:nvPr/>
        </p:nvPicPr>
        <p:blipFill>
          <a:blip r:embed="rId4"/>
          <a:stretch/>
        </p:blipFill>
        <p:spPr>
          <a:xfrm>
            <a:off x="0" y="2031840"/>
            <a:ext cx="12190680" cy="4824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364680" y="1778040"/>
            <a:ext cx="4806360" cy="96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000" b="1" u="none" strike="noStrike" spc="6" dirty="0">
                <a:solidFill>
                  <a:schemeClr val="dk1">
                    <a:lumMod val="85000"/>
                    <a:lumOff val="15000"/>
                  </a:schemeClr>
                </a:solidFill>
                <a:uFillTx/>
                <a:latin typeface="Roboto"/>
                <a:ea typeface="Roboto"/>
              </a:rPr>
              <a:t>Hanwha Vision   </a:t>
            </a:r>
            <a:br>
              <a:rPr sz="3000" dirty="0"/>
            </a:br>
            <a:r>
              <a:rPr lang="en-US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1st May’25 – 15th May’25</a:t>
            </a:r>
            <a:endParaRPr lang="en-US" sz="3000" b="0" u="none" strike="noStrike" dirty="0">
              <a:solidFill>
                <a:srgbClr val="FFFFFF"/>
              </a:solidFill>
              <a:uFillTx/>
              <a:latin typeface="Arial"/>
            </a:endParaRPr>
          </a:p>
        </p:txBody>
      </p:sp>
      <p:cxnSp>
        <p:nvCxnSpPr>
          <p:cNvPr id="89" name="Straight Connector 6"/>
          <p:cNvCxnSpPr/>
          <p:nvPr/>
        </p:nvCxnSpPr>
        <p:spPr>
          <a:xfrm>
            <a:off x="364320" y="2859480"/>
            <a:ext cx="4954680" cy="1440"/>
          </a:xfrm>
          <a:prstGeom prst="straightConnector1">
            <a:avLst/>
          </a:prstGeom>
          <a:ln w="25400">
            <a:solidFill>
              <a:srgbClr val="65BB35"/>
            </a:solidFill>
            <a:round/>
          </a:ln>
        </p:spPr>
      </p:cxnSp>
      <p:pic>
        <p:nvPicPr>
          <p:cNvPr id="90" name="Picture 24"/>
          <p:cNvPicPr/>
          <p:nvPr/>
        </p:nvPicPr>
        <p:blipFill>
          <a:blip r:embed="rId5"/>
          <a:stretch/>
        </p:blipFill>
        <p:spPr>
          <a:xfrm>
            <a:off x="9562680" y="377280"/>
            <a:ext cx="2170440" cy="1014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1" name="Picture 4">
            <a:hlinkClick r:id="rId6"/>
          </p:cNvPr>
          <p:cNvPicPr/>
          <p:nvPr/>
        </p:nvPicPr>
        <p:blipFill>
          <a:blip r:embed="rId7"/>
          <a:stretch/>
        </p:blipFill>
        <p:spPr>
          <a:xfrm>
            <a:off x="524880" y="611280"/>
            <a:ext cx="1776600" cy="532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2" name="Title 1"/>
          <p:cNvSpPr/>
          <p:nvPr/>
        </p:nvSpPr>
        <p:spPr>
          <a:xfrm>
            <a:off x="3657600" y="2921040"/>
            <a:ext cx="1717920" cy="37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defTabSz="914400">
              <a:lnSpc>
                <a:spcPct val="90000"/>
              </a:lnSpc>
            </a:pPr>
            <a:r>
              <a:rPr lang="en-US" sz="2000" b="1" u="none" strike="noStrike" spc="6">
                <a:solidFill>
                  <a:srgbClr val="7030A0"/>
                </a:solidFill>
                <a:uFillTx/>
                <a:latin typeface="Roboto"/>
                <a:ea typeface="Roboto"/>
              </a:rPr>
              <a:t>Rashmi Patel</a:t>
            </a:r>
            <a:endParaRPr lang="en-US" sz="20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Rectangle 4"/>
          <p:cNvSpPr/>
          <p:nvPr/>
        </p:nvSpPr>
        <p:spPr>
          <a:xfrm>
            <a:off x="335880" y="380880"/>
            <a:ext cx="11518560" cy="633600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65BB35"/>
              </a:solidFill>
              <a:uFillTx/>
              <a:latin typeface="Calibri"/>
            </a:endParaRPr>
          </a:p>
        </p:txBody>
      </p:sp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507960" y="126000"/>
            <a:ext cx="7477200" cy="1144080"/>
          </a:xfrm>
          <a:prstGeom prst="rect">
            <a:avLst/>
          </a:prstGeom>
          <a:noFill/>
          <a:ln w="0">
            <a:noFill/>
          </a:ln>
        </p:spPr>
        <p:txBody>
          <a:bodyPr lIns="91440" tIns="0" rIns="91440" bIns="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lt1"/>
                </a:solidFill>
                <a:uFillTx/>
                <a:latin typeface="Roboto"/>
                <a:ea typeface="Roboto"/>
              </a:rPr>
              <a:t>Meeting Participants</a:t>
            </a:r>
            <a:endParaRPr lang="en-US" sz="2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95" name="Straight Connector 8"/>
          <p:cNvCxnSpPr/>
          <p:nvPr/>
        </p:nvCxnSpPr>
        <p:spPr>
          <a:xfrm>
            <a:off x="335880" y="6222960"/>
            <a:ext cx="11521440" cy="1440"/>
          </a:xfrm>
          <a:prstGeom prst="straightConnector1">
            <a:avLst/>
          </a:prstGeom>
          <a:ln w="12700">
            <a:solidFill>
              <a:srgbClr val="D9D9D9"/>
            </a:solidFill>
            <a:round/>
          </a:ln>
        </p:spPr>
      </p:cxnSp>
      <p:sp>
        <p:nvSpPr>
          <p:cNvPr id="96" name="TextBox 12"/>
          <p:cNvSpPr/>
          <p:nvPr/>
        </p:nvSpPr>
        <p:spPr>
          <a:xfrm>
            <a:off x="326520" y="6380280"/>
            <a:ext cx="40716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400" b="0" u="none" strike="noStrike" spc="6">
                <a:solidFill>
                  <a:schemeClr val="lt1">
                    <a:lumMod val="65000"/>
                  </a:schemeClr>
                </a:solidFill>
                <a:uFillTx/>
                <a:latin typeface="Roboto"/>
                <a:ea typeface="Roboto"/>
              </a:rPr>
              <a:t>04</a:t>
            </a: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7" name="Rectangle 7"/>
          <p:cNvSpPr/>
          <p:nvPr/>
        </p:nvSpPr>
        <p:spPr>
          <a:xfrm>
            <a:off x="335880" y="380880"/>
            <a:ext cx="111240" cy="633600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uFillTx/>
              <a:latin typeface="Calibri"/>
            </a:endParaRPr>
          </a:p>
        </p:txBody>
      </p:sp>
      <p:pic>
        <p:nvPicPr>
          <p:cNvPr id="98" name="Picture 16"/>
          <p:cNvPicPr/>
          <p:nvPr/>
        </p:nvPicPr>
        <p:blipFill>
          <a:blip r:embed="rId2"/>
          <a:stretch/>
        </p:blipFill>
        <p:spPr>
          <a:xfrm>
            <a:off x="10849320" y="6380280"/>
            <a:ext cx="1005120" cy="300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9" name="Subtitle 2"/>
          <p:cNvSpPr/>
          <p:nvPr/>
        </p:nvSpPr>
        <p:spPr>
          <a:xfrm>
            <a:off x="4835880" y="6443640"/>
            <a:ext cx="2518560" cy="191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t">
            <a:spAutoFit/>
          </a:bodyPr>
          <a:lstStyle/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400" b="0" u="sng" strike="noStrike" spc="6">
                <a:solidFill>
                  <a:schemeClr val="lt1">
                    <a:lumMod val="75000"/>
                  </a:schemeClr>
                </a:solidFill>
                <a:uFillTx/>
                <a:latin typeface="Roboto"/>
                <a:ea typeface="Roboto"/>
                <a:hlinkClick r:id="rId3"/>
              </a:rPr>
              <a:t>www.spec-india.com</a:t>
            </a: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0" name="TextBox 5"/>
          <p:cNvSpPr/>
          <p:nvPr/>
        </p:nvSpPr>
        <p:spPr>
          <a:xfrm>
            <a:off x="448560" y="1270800"/>
            <a:ext cx="8212680" cy="258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343080" indent="-343080" defTabSz="914400">
              <a:lnSpc>
                <a:spcPct val="13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lang="en-US" sz="1800" b="1" u="none" strike="noStrike" dirty="0">
                <a:solidFill>
                  <a:schemeClr val="dk1"/>
                </a:solidFill>
                <a:uFillTx/>
                <a:latin typeface="Calibri"/>
                <a:ea typeface="Roboto Medium"/>
              </a:rPr>
              <a:t>Parth Jotangiya</a:t>
            </a: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914400">
              <a:lnSpc>
                <a:spcPct val="13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lang="en-US" sz="1800" b="1" u="none" strike="noStrike" dirty="0">
                <a:solidFill>
                  <a:schemeClr val="dk1"/>
                </a:solidFill>
                <a:uFillTx/>
                <a:latin typeface="Calibri"/>
                <a:ea typeface="Roboto Medium"/>
              </a:rPr>
              <a:t>Jayendra </a:t>
            </a:r>
            <a:r>
              <a:rPr lang="en-US" sz="1800" b="1" u="none" strike="noStrike" dirty="0" err="1">
                <a:solidFill>
                  <a:schemeClr val="dk1"/>
                </a:solidFill>
                <a:uFillTx/>
                <a:latin typeface="Calibri"/>
                <a:ea typeface="Roboto Medium"/>
              </a:rPr>
              <a:t>Makvana</a:t>
            </a:r>
            <a:r>
              <a:rPr lang="en-US" sz="1800" b="1" u="none" strike="noStrike" dirty="0">
                <a:solidFill>
                  <a:schemeClr val="dk1"/>
                </a:solidFill>
                <a:uFillTx/>
                <a:latin typeface="Calibri"/>
                <a:ea typeface="Roboto Medium"/>
              </a:rPr>
              <a:t> </a:t>
            </a: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914400">
              <a:lnSpc>
                <a:spcPct val="13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lang="en-US" sz="1800" b="1" u="none" strike="noStrike" dirty="0">
                <a:solidFill>
                  <a:schemeClr val="dk1"/>
                </a:solidFill>
                <a:uFillTx/>
                <a:latin typeface="Calibri"/>
                <a:ea typeface="Roboto Medium"/>
              </a:rPr>
              <a:t>Adnan Mansuri</a:t>
            </a: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914400">
              <a:lnSpc>
                <a:spcPct val="13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lang="en-US" sz="1800" b="1" u="none" strike="noStrike" dirty="0">
                <a:solidFill>
                  <a:schemeClr val="dk1"/>
                </a:solidFill>
                <a:uFillTx/>
                <a:latin typeface="Calibri"/>
                <a:ea typeface="Roboto Medium"/>
              </a:rPr>
              <a:t>Bhavika </a:t>
            </a:r>
            <a:r>
              <a:rPr lang="en-US" sz="1800" b="1" u="none" strike="noStrike" dirty="0" err="1">
                <a:solidFill>
                  <a:schemeClr val="dk1"/>
                </a:solidFill>
                <a:uFillTx/>
                <a:latin typeface="Calibri"/>
                <a:ea typeface="Roboto Medium"/>
              </a:rPr>
              <a:t>Gamdha</a:t>
            </a: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914400">
              <a:lnSpc>
                <a:spcPct val="13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lang="en-US" sz="1800" b="1" u="none" strike="noStrike" dirty="0">
                <a:solidFill>
                  <a:schemeClr val="dk1"/>
                </a:solidFill>
                <a:uFillTx/>
                <a:latin typeface="Calibri"/>
                <a:ea typeface="Roboto Medium"/>
              </a:rPr>
              <a:t>Hiten Parmar</a:t>
            </a: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914400">
              <a:lnSpc>
                <a:spcPct val="13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lang="en-US" sz="1800" b="1" u="none" strike="noStrike" dirty="0">
                <a:solidFill>
                  <a:schemeClr val="dk1"/>
                </a:solidFill>
                <a:uFillTx/>
                <a:latin typeface="Calibri"/>
                <a:ea typeface="Roboto Medium"/>
              </a:rPr>
              <a:t>Rashmi Patel</a:t>
            </a: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914400">
              <a:lnSpc>
                <a:spcPct val="13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lang="en-US" sz="1800" b="1" u="none" strike="noStrike" dirty="0">
                <a:solidFill>
                  <a:schemeClr val="dk1"/>
                </a:solidFill>
                <a:uFillTx/>
                <a:latin typeface="Calibri"/>
                <a:ea typeface="Roboto Medium"/>
              </a:rPr>
              <a:t>Hasti </a:t>
            </a:r>
            <a:r>
              <a:rPr lang="en-US" sz="1800" b="1" u="none" strike="noStrike" dirty="0" err="1">
                <a:solidFill>
                  <a:schemeClr val="dk1"/>
                </a:solidFill>
                <a:uFillTx/>
                <a:latin typeface="Calibri"/>
                <a:ea typeface="Roboto Medium"/>
              </a:rPr>
              <a:t>Kaneriya</a:t>
            </a: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4"/>
          <p:cNvSpPr/>
          <p:nvPr/>
        </p:nvSpPr>
        <p:spPr>
          <a:xfrm>
            <a:off x="335880" y="380880"/>
            <a:ext cx="11518560" cy="633600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65BB35"/>
              </a:solidFill>
              <a:uFillTx/>
              <a:latin typeface="Calibri"/>
            </a:endParaRPr>
          </a:p>
        </p:txBody>
      </p:sp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507960" y="126000"/>
            <a:ext cx="11153520" cy="1144080"/>
          </a:xfrm>
          <a:prstGeom prst="rect">
            <a:avLst/>
          </a:prstGeom>
          <a:noFill/>
          <a:ln w="0">
            <a:noFill/>
          </a:ln>
        </p:spPr>
        <p:txBody>
          <a:bodyPr lIns="91440" tIns="0" rIns="91440" bIns="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lt1"/>
                </a:solidFill>
                <a:uFillTx/>
                <a:latin typeface="Roboto"/>
                <a:ea typeface="Roboto"/>
              </a:rPr>
              <a:t>Rashmi Patel - Highlights of the work done in two weeks</a:t>
            </a:r>
            <a:endParaRPr lang="en-US" sz="2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103" name="Straight Connector 8"/>
          <p:cNvCxnSpPr/>
          <p:nvPr/>
        </p:nvCxnSpPr>
        <p:spPr>
          <a:xfrm>
            <a:off x="335880" y="6222960"/>
            <a:ext cx="11521440" cy="1440"/>
          </a:xfrm>
          <a:prstGeom prst="straightConnector1">
            <a:avLst/>
          </a:prstGeom>
          <a:ln w="12700">
            <a:solidFill>
              <a:srgbClr val="D9D9D9"/>
            </a:solidFill>
            <a:round/>
          </a:ln>
        </p:spPr>
      </p:cxnSp>
      <p:sp>
        <p:nvSpPr>
          <p:cNvPr id="104" name="TextBox 12"/>
          <p:cNvSpPr/>
          <p:nvPr/>
        </p:nvSpPr>
        <p:spPr>
          <a:xfrm>
            <a:off x="326520" y="6380280"/>
            <a:ext cx="40716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400" b="0" u="none" strike="noStrike" spc="6">
                <a:solidFill>
                  <a:schemeClr val="lt1">
                    <a:lumMod val="65000"/>
                  </a:schemeClr>
                </a:solidFill>
                <a:uFillTx/>
                <a:latin typeface="Roboto"/>
                <a:ea typeface="Roboto"/>
              </a:rPr>
              <a:t>04</a:t>
            </a: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5" name="Rectangle 7"/>
          <p:cNvSpPr/>
          <p:nvPr/>
        </p:nvSpPr>
        <p:spPr>
          <a:xfrm>
            <a:off x="335880" y="380880"/>
            <a:ext cx="111240" cy="633600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uFillTx/>
              <a:latin typeface="Calibri"/>
            </a:endParaRPr>
          </a:p>
        </p:txBody>
      </p:sp>
      <p:pic>
        <p:nvPicPr>
          <p:cNvPr id="106" name="Picture 16"/>
          <p:cNvPicPr/>
          <p:nvPr/>
        </p:nvPicPr>
        <p:blipFill>
          <a:blip r:embed="rId2"/>
          <a:stretch/>
        </p:blipFill>
        <p:spPr>
          <a:xfrm>
            <a:off x="10849320" y="6380280"/>
            <a:ext cx="1005120" cy="300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7" name="Subtitle 2"/>
          <p:cNvSpPr/>
          <p:nvPr/>
        </p:nvSpPr>
        <p:spPr>
          <a:xfrm>
            <a:off x="4835880" y="6443640"/>
            <a:ext cx="2518560" cy="191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t">
            <a:spAutoFit/>
          </a:bodyPr>
          <a:lstStyle/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400" b="0" u="sng" strike="noStrike" spc="6">
                <a:solidFill>
                  <a:schemeClr val="lt1">
                    <a:lumMod val="75000"/>
                  </a:schemeClr>
                </a:solidFill>
                <a:uFillTx/>
                <a:latin typeface="Roboto"/>
                <a:ea typeface="Roboto"/>
                <a:hlinkClick r:id="rId3"/>
              </a:rPr>
              <a:t>www.spec-india.com</a:t>
            </a: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8" name="TextBox 5"/>
          <p:cNvSpPr/>
          <p:nvPr/>
        </p:nvSpPr>
        <p:spPr>
          <a:xfrm>
            <a:off x="448560" y="1015920"/>
            <a:ext cx="11405880" cy="499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85840" indent="-285840" defTabSz="914400">
              <a:lnSpc>
                <a:spcPct val="2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lang="en-US" sz="1400" b="1" u="none" strike="noStrike">
                <a:solidFill>
                  <a:srgbClr val="000000"/>
                </a:solidFill>
                <a:uFillTx/>
                <a:latin typeface="Calibri"/>
              </a:rPr>
              <a:t>Front end development of Hanwha Application:</a:t>
            </a: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0000"/>
                </a:solidFill>
                <a:uFillTx/>
                <a:latin typeface="Arial"/>
              </a:rPr>
              <a:t> Client App:</a:t>
            </a: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/>
              </a:rPr>
              <a:t>Worked on below widgets</a:t>
            </a:r>
            <a:br>
              <a:rPr sz="1400"/>
            </a:br>
            <a:r>
              <a:rPr lang="en-IN" sz="1400" b="0" u="none" strike="noStrike">
                <a:solidFill>
                  <a:srgbClr val="000000"/>
                </a:solidFill>
                <a:uFillTx/>
                <a:latin typeface="Arial"/>
              </a:rPr>
              <a:t>-  Modal Type widget</a:t>
            </a: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uFillTx/>
                <a:latin typeface="Arial"/>
                <a:ea typeface="Microsoft YaHei"/>
              </a:rPr>
              <a:t>- Capacity Utilization for people </a:t>
            </a:r>
            <a:br>
              <a:rPr sz="1400"/>
            </a:br>
            <a:r>
              <a:rPr lang="en-IN" sz="1400" b="0" u="none" strike="noStrike">
                <a:solidFill>
                  <a:srgbClr val="000000"/>
                </a:solidFill>
                <a:uFillTx/>
                <a:latin typeface="Arial"/>
                <a:ea typeface="Microsoft YaHei"/>
              </a:rPr>
              <a:t>- Capacity Utilization for Vehicle</a:t>
            </a:r>
            <a:br>
              <a:rPr sz="1400"/>
            </a:br>
            <a:r>
              <a:rPr lang="en-IN" sz="1400" b="0" u="none" strike="noStrike">
                <a:solidFill>
                  <a:srgbClr val="000000"/>
                </a:solidFill>
                <a:uFillTx/>
                <a:latin typeface="Arial"/>
                <a:ea typeface="Microsoft YaHei"/>
              </a:rPr>
              <a:t>- Zone wise Capacity Utilization for people </a:t>
            </a:r>
            <a:br>
              <a:rPr sz="1400"/>
            </a:br>
            <a:r>
              <a:rPr lang="en-IN" sz="1400" b="0" u="none" strike="noStrike">
                <a:solidFill>
                  <a:srgbClr val="000000"/>
                </a:solidFill>
                <a:uFillTx/>
                <a:latin typeface="Arial"/>
                <a:ea typeface="Microsoft YaHei"/>
              </a:rPr>
              <a:t>- Zone wise Capacity Utilization for Vehicle</a:t>
            </a:r>
            <a:br>
              <a:rPr sz="1400"/>
            </a:br>
            <a:r>
              <a:rPr lang="en-IN" sz="1400" b="0" u="none" strike="noStrike">
                <a:solidFill>
                  <a:srgbClr val="000000"/>
                </a:solidFill>
                <a:uFillTx/>
                <a:latin typeface="Arial"/>
                <a:ea typeface="Microsoft YaHei"/>
              </a:rPr>
              <a:t>- zone wise people counting </a:t>
            </a: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uFillTx/>
                <a:latin typeface="Arial"/>
                <a:ea typeface="Microsoft YaHei"/>
              </a:rPr>
              <a:t>- Speed Violation by Vehicle</a:t>
            </a: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uFillTx/>
                <a:latin typeface="Arial"/>
                <a:ea typeface="Microsoft YaHei"/>
              </a:rPr>
              <a:t>- Traffic Jam By Day</a:t>
            </a: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uFillTx/>
                <a:latin typeface="Arial"/>
                <a:ea typeface="Microsoft YaHei"/>
              </a:rPr>
              <a:t>- counting for forklift</a:t>
            </a: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uFillTx/>
                <a:latin typeface="Arial"/>
                <a:ea typeface="Microsoft YaHei"/>
              </a:rPr>
              <a:t>make editable widget name in all 11 widget.</a:t>
            </a: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uFillTx/>
                <a:latin typeface="Arial"/>
                <a:ea typeface="Microsoft YaHei"/>
              </a:rPr>
              <a:t>Working on Floor plan widget</a:t>
            </a: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Rectangle 4"/>
          <p:cNvSpPr/>
          <p:nvPr/>
        </p:nvSpPr>
        <p:spPr>
          <a:xfrm>
            <a:off x="335880" y="380880"/>
            <a:ext cx="11518560" cy="633600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65BB35"/>
              </a:solidFill>
              <a:uFillTx/>
              <a:latin typeface="Calibri"/>
            </a:endParaRPr>
          </a:p>
        </p:txBody>
      </p:sp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507960" y="126000"/>
            <a:ext cx="11146680" cy="1144080"/>
          </a:xfrm>
          <a:prstGeom prst="rect">
            <a:avLst/>
          </a:prstGeom>
          <a:noFill/>
          <a:ln w="0">
            <a:noFill/>
          </a:ln>
        </p:spPr>
        <p:txBody>
          <a:bodyPr lIns="91440" tIns="0" rIns="91440" bIns="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lt1"/>
                </a:solidFill>
                <a:uFillTx/>
                <a:latin typeface="Roboto"/>
                <a:ea typeface="Roboto"/>
              </a:rPr>
              <a:t>Rashmi Patel - Roadblocks / issues if any </a:t>
            </a:r>
            <a:endParaRPr lang="en-US" sz="2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111" name="Straight Connector 8"/>
          <p:cNvCxnSpPr/>
          <p:nvPr/>
        </p:nvCxnSpPr>
        <p:spPr>
          <a:xfrm>
            <a:off x="335880" y="6222960"/>
            <a:ext cx="11521440" cy="1440"/>
          </a:xfrm>
          <a:prstGeom prst="straightConnector1">
            <a:avLst/>
          </a:prstGeom>
          <a:ln w="12700">
            <a:solidFill>
              <a:srgbClr val="D9D9D9"/>
            </a:solidFill>
            <a:round/>
          </a:ln>
        </p:spPr>
      </p:cxnSp>
      <p:sp>
        <p:nvSpPr>
          <p:cNvPr id="112" name="TextBox 12"/>
          <p:cNvSpPr/>
          <p:nvPr/>
        </p:nvSpPr>
        <p:spPr>
          <a:xfrm>
            <a:off x="326520" y="6380280"/>
            <a:ext cx="40716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400" b="0" u="none" strike="noStrike" spc="6">
                <a:solidFill>
                  <a:schemeClr val="lt1">
                    <a:lumMod val="65000"/>
                  </a:schemeClr>
                </a:solidFill>
                <a:uFillTx/>
                <a:latin typeface="Roboto"/>
                <a:ea typeface="Roboto"/>
              </a:rPr>
              <a:t>04</a:t>
            </a: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3" name="Rectangle 7"/>
          <p:cNvSpPr/>
          <p:nvPr/>
        </p:nvSpPr>
        <p:spPr>
          <a:xfrm>
            <a:off x="335880" y="380880"/>
            <a:ext cx="111240" cy="633600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uFillTx/>
              <a:latin typeface="Calibri"/>
            </a:endParaRPr>
          </a:p>
        </p:txBody>
      </p:sp>
      <p:pic>
        <p:nvPicPr>
          <p:cNvPr id="114" name="Picture 16"/>
          <p:cNvPicPr/>
          <p:nvPr/>
        </p:nvPicPr>
        <p:blipFill>
          <a:blip r:embed="rId2"/>
          <a:stretch/>
        </p:blipFill>
        <p:spPr>
          <a:xfrm>
            <a:off x="10849320" y="6380280"/>
            <a:ext cx="1005120" cy="300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5" name="Subtitle 2"/>
          <p:cNvSpPr/>
          <p:nvPr/>
        </p:nvSpPr>
        <p:spPr>
          <a:xfrm>
            <a:off x="4835880" y="6443640"/>
            <a:ext cx="2518560" cy="191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t">
            <a:spAutoFit/>
          </a:bodyPr>
          <a:lstStyle/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400" b="0" u="sng" strike="noStrike" spc="6">
                <a:solidFill>
                  <a:schemeClr val="lt1">
                    <a:lumMod val="75000"/>
                  </a:schemeClr>
                </a:solidFill>
                <a:uFillTx/>
                <a:latin typeface="Roboto"/>
                <a:ea typeface="Roboto"/>
                <a:hlinkClick r:id="rId3"/>
              </a:rPr>
              <a:t>www.spec-india.com</a:t>
            </a: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6" name="TextBox 3"/>
          <p:cNvSpPr/>
          <p:nvPr/>
        </p:nvSpPr>
        <p:spPr>
          <a:xfrm>
            <a:off x="448560" y="1236600"/>
            <a:ext cx="11405880" cy="40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Calibri"/>
              </a:rPr>
              <a:t>Not have any point.</a:t>
            </a: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Rectangle 4"/>
          <p:cNvSpPr/>
          <p:nvPr/>
        </p:nvSpPr>
        <p:spPr>
          <a:xfrm>
            <a:off x="335880" y="380880"/>
            <a:ext cx="11518560" cy="633600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65BB35"/>
              </a:solidFill>
              <a:uFillTx/>
              <a:latin typeface="Calibri"/>
            </a:endParaRPr>
          </a:p>
        </p:txBody>
      </p:sp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507960" y="126000"/>
            <a:ext cx="7477200" cy="1144080"/>
          </a:xfrm>
          <a:prstGeom prst="rect">
            <a:avLst/>
          </a:prstGeom>
          <a:noFill/>
          <a:ln w="0">
            <a:noFill/>
          </a:ln>
        </p:spPr>
        <p:txBody>
          <a:bodyPr lIns="91440" tIns="0" rIns="91440" bIns="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lt1"/>
                </a:solidFill>
                <a:uFillTx/>
                <a:latin typeface="Roboto"/>
                <a:ea typeface="Roboto"/>
              </a:rPr>
              <a:t>Rashmi Patel - Improvement Points Identified</a:t>
            </a:r>
            <a:endParaRPr lang="en-US" sz="2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119" name="Straight Connector 8"/>
          <p:cNvCxnSpPr/>
          <p:nvPr/>
        </p:nvCxnSpPr>
        <p:spPr>
          <a:xfrm>
            <a:off x="335880" y="6222960"/>
            <a:ext cx="11521440" cy="1440"/>
          </a:xfrm>
          <a:prstGeom prst="straightConnector1">
            <a:avLst/>
          </a:prstGeom>
          <a:ln w="12700">
            <a:solidFill>
              <a:srgbClr val="D9D9D9"/>
            </a:solidFill>
            <a:round/>
          </a:ln>
        </p:spPr>
      </p:cxnSp>
      <p:sp>
        <p:nvSpPr>
          <p:cNvPr id="120" name="TextBox 12"/>
          <p:cNvSpPr/>
          <p:nvPr/>
        </p:nvSpPr>
        <p:spPr>
          <a:xfrm>
            <a:off x="326520" y="6380280"/>
            <a:ext cx="40716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400" b="0" u="none" strike="noStrike" spc="6">
                <a:solidFill>
                  <a:schemeClr val="lt1">
                    <a:lumMod val="65000"/>
                  </a:schemeClr>
                </a:solidFill>
                <a:uFillTx/>
                <a:latin typeface="Roboto"/>
                <a:ea typeface="Roboto"/>
              </a:rPr>
              <a:t>04</a:t>
            </a: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1" name="Rectangle 7"/>
          <p:cNvSpPr/>
          <p:nvPr/>
        </p:nvSpPr>
        <p:spPr>
          <a:xfrm>
            <a:off x="335880" y="380880"/>
            <a:ext cx="111240" cy="633600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uFillTx/>
              <a:latin typeface="Calibri"/>
            </a:endParaRPr>
          </a:p>
        </p:txBody>
      </p:sp>
      <p:pic>
        <p:nvPicPr>
          <p:cNvPr id="122" name="Picture 16"/>
          <p:cNvPicPr/>
          <p:nvPr/>
        </p:nvPicPr>
        <p:blipFill>
          <a:blip r:embed="rId2"/>
          <a:stretch/>
        </p:blipFill>
        <p:spPr>
          <a:xfrm>
            <a:off x="10849320" y="6380280"/>
            <a:ext cx="1005120" cy="300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3" name="Subtitle 2"/>
          <p:cNvSpPr/>
          <p:nvPr/>
        </p:nvSpPr>
        <p:spPr>
          <a:xfrm>
            <a:off x="4835880" y="6443640"/>
            <a:ext cx="2518560" cy="191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t">
            <a:spAutoFit/>
          </a:bodyPr>
          <a:lstStyle/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400" b="0" u="sng" strike="noStrike" spc="6">
                <a:solidFill>
                  <a:schemeClr val="lt1">
                    <a:lumMod val="75000"/>
                  </a:schemeClr>
                </a:solidFill>
                <a:uFillTx/>
                <a:latin typeface="Roboto"/>
                <a:ea typeface="Roboto"/>
                <a:hlinkClick r:id="rId3"/>
              </a:rPr>
              <a:t>www.spec-india.com</a:t>
            </a: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4" name="TextBox 5"/>
          <p:cNvSpPr/>
          <p:nvPr/>
        </p:nvSpPr>
        <p:spPr>
          <a:xfrm>
            <a:off x="448560" y="1235880"/>
            <a:ext cx="11405880" cy="921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85840" indent="-285840" defTabSz="914400">
              <a:lnSpc>
                <a:spcPct val="13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Calibri"/>
                <a:ea typeface="DejaVu Sans"/>
              </a:rPr>
              <a:t>Need to Improve communication skill</a:t>
            </a:r>
            <a:r>
              <a:rPr lang="en-US" sz="1400" b="0" u="none" strike="noStrike">
                <a:solidFill>
                  <a:schemeClr val="dk1"/>
                </a:solidFill>
                <a:uFillTx/>
                <a:latin typeface="Roboto"/>
                <a:ea typeface="Roboto"/>
              </a:rPr>
              <a:t>.</a:t>
            </a: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285840" indent="-285840" defTabSz="914400">
              <a:lnSpc>
                <a:spcPct val="13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Calibri"/>
                <a:ea typeface="Roboto"/>
              </a:rPr>
              <a:t>Need to improve turn around time (TAT) on the each assigned task. So, that will be helpful for me to complete the responsibilities in timely manner. </a:t>
            </a:r>
            <a:r>
              <a:rPr lang="en-US" sz="1400" b="0" u="none" strike="noStrike">
                <a:solidFill>
                  <a:srgbClr val="FF0000"/>
                </a:solidFill>
                <a:highlight>
                  <a:srgbClr val="FFFF00"/>
                </a:highlight>
                <a:uFillTx/>
                <a:latin typeface="Calibri"/>
                <a:ea typeface="Roboto"/>
              </a:rPr>
              <a:t>Most Imp</a:t>
            </a:r>
            <a:r>
              <a:rPr lang="en-US" sz="1400" b="0" u="none" strike="noStrike">
                <a:solidFill>
                  <a:srgbClr val="000000"/>
                </a:solidFill>
                <a:uFillTx/>
                <a:latin typeface="Calibri"/>
                <a:ea typeface="Roboto"/>
              </a:rPr>
              <a:t>.</a:t>
            </a: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Rectangle 4"/>
          <p:cNvSpPr/>
          <p:nvPr/>
        </p:nvSpPr>
        <p:spPr>
          <a:xfrm>
            <a:off x="335880" y="380880"/>
            <a:ext cx="11518560" cy="633600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65BB35"/>
              </a:solidFill>
              <a:uFillTx/>
              <a:latin typeface="Calibri"/>
            </a:endParaRPr>
          </a:p>
        </p:txBody>
      </p:sp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507960" y="126000"/>
            <a:ext cx="11153520" cy="1144080"/>
          </a:xfrm>
          <a:prstGeom prst="rect">
            <a:avLst/>
          </a:prstGeom>
          <a:noFill/>
          <a:ln w="0">
            <a:noFill/>
          </a:ln>
        </p:spPr>
        <p:txBody>
          <a:bodyPr lIns="91440" tIns="0" rIns="91440" bIns="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lt1"/>
                </a:solidFill>
                <a:uFillTx/>
                <a:latin typeface="Roboto"/>
                <a:ea typeface="Roboto"/>
              </a:rPr>
              <a:t>Rashmi Patel - Any New Problem Statement Seen / Identified * If any</a:t>
            </a:r>
            <a:endParaRPr lang="en-US" sz="2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127" name="Straight Connector 8"/>
          <p:cNvCxnSpPr/>
          <p:nvPr/>
        </p:nvCxnSpPr>
        <p:spPr>
          <a:xfrm>
            <a:off x="335880" y="6222960"/>
            <a:ext cx="11521440" cy="1440"/>
          </a:xfrm>
          <a:prstGeom prst="straightConnector1">
            <a:avLst/>
          </a:prstGeom>
          <a:ln w="12700">
            <a:solidFill>
              <a:srgbClr val="D9D9D9"/>
            </a:solidFill>
            <a:round/>
          </a:ln>
        </p:spPr>
      </p:cxnSp>
      <p:sp>
        <p:nvSpPr>
          <p:cNvPr id="128" name="TextBox 12"/>
          <p:cNvSpPr/>
          <p:nvPr/>
        </p:nvSpPr>
        <p:spPr>
          <a:xfrm>
            <a:off x="326520" y="6380280"/>
            <a:ext cx="40716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400" b="0" u="none" strike="noStrike" spc="6">
                <a:solidFill>
                  <a:schemeClr val="lt1">
                    <a:lumMod val="65000"/>
                  </a:schemeClr>
                </a:solidFill>
                <a:uFillTx/>
                <a:latin typeface="Roboto"/>
                <a:ea typeface="Roboto"/>
              </a:rPr>
              <a:t>04</a:t>
            </a: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9" name="Rectangle 7"/>
          <p:cNvSpPr/>
          <p:nvPr/>
        </p:nvSpPr>
        <p:spPr>
          <a:xfrm>
            <a:off x="335880" y="380880"/>
            <a:ext cx="111240" cy="633600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uFillTx/>
              <a:latin typeface="Calibri"/>
            </a:endParaRPr>
          </a:p>
        </p:txBody>
      </p:sp>
      <p:pic>
        <p:nvPicPr>
          <p:cNvPr id="130" name="Picture 16"/>
          <p:cNvPicPr/>
          <p:nvPr/>
        </p:nvPicPr>
        <p:blipFill>
          <a:blip r:embed="rId2"/>
          <a:stretch/>
        </p:blipFill>
        <p:spPr>
          <a:xfrm>
            <a:off x="10849320" y="6380280"/>
            <a:ext cx="1005120" cy="300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1" name="Subtitle 2"/>
          <p:cNvSpPr/>
          <p:nvPr/>
        </p:nvSpPr>
        <p:spPr>
          <a:xfrm>
            <a:off x="4835880" y="6443640"/>
            <a:ext cx="2518560" cy="191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t">
            <a:spAutoFit/>
          </a:bodyPr>
          <a:lstStyle/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400" b="0" u="sng" strike="noStrike" spc="6">
                <a:solidFill>
                  <a:schemeClr val="lt1">
                    <a:lumMod val="75000"/>
                  </a:schemeClr>
                </a:solidFill>
                <a:uFillTx/>
                <a:latin typeface="Roboto"/>
                <a:ea typeface="Roboto"/>
                <a:hlinkClick r:id="rId3"/>
              </a:rPr>
              <a:t>www.spec-india.com</a:t>
            </a: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2" name="TextBox 5"/>
          <p:cNvSpPr/>
          <p:nvPr/>
        </p:nvSpPr>
        <p:spPr>
          <a:xfrm>
            <a:off x="448560" y="1264680"/>
            <a:ext cx="11067480" cy="36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85840" indent="-285840" defTabSz="914400">
              <a:lnSpc>
                <a:spcPct val="13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dk1"/>
                </a:solidFill>
                <a:uFillTx/>
                <a:latin typeface="Calibri"/>
                <a:ea typeface="Roboto"/>
              </a:rPr>
              <a:t>There is no any problem statement identified yet.</a:t>
            </a: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Rectangle 4"/>
          <p:cNvSpPr/>
          <p:nvPr/>
        </p:nvSpPr>
        <p:spPr>
          <a:xfrm>
            <a:off x="335880" y="380880"/>
            <a:ext cx="11518560" cy="633600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65BB35"/>
              </a:solidFill>
              <a:uFillTx/>
              <a:latin typeface="Calibri"/>
            </a:endParaRPr>
          </a:p>
        </p:txBody>
      </p:sp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507960" y="126000"/>
            <a:ext cx="10830960" cy="1144080"/>
          </a:xfrm>
          <a:prstGeom prst="rect">
            <a:avLst/>
          </a:prstGeom>
          <a:noFill/>
          <a:ln w="0">
            <a:noFill/>
          </a:ln>
        </p:spPr>
        <p:txBody>
          <a:bodyPr lIns="91440" tIns="0" rIns="91440" bIns="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lt1"/>
                </a:solidFill>
                <a:uFillTx/>
                <a:latin typeface="Roboto"/>
                <a:ea typeface="Roboto"/>
              </a:rPr>
              <a:t>Rashmi Patel - Achievements/Extra mile of the week * if any</a:t>
            </a:r>
            <a:endParaRPr lang="en-US" sz="2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135" name="Straight Connector 8"/>
          <p:cNvCxnSpPr/>
          <p:nvPr/>
        </p:nvCxnSpPr>
        <p:spPr>
          <a:xfrm>
            <a:off x="335880" y="6222960"/>
            <a:ext cx="11521440" cy="1440"/>
          </a:xfrm>
          <a:prstGeom prst="straightConnector1">
            <a:avLst/>
          </a:prstGeom>
          <a:ln w="12700">
            <a:solidFill>
              <a:srgbClr val="D9D9D9"/>
            </a:solidFill>
            <a:round/>
          </a:ln>
        </p:spPr>
      </p:cxnSp>
      <p:sp>
        <p:nvSpPr>
          <p:cNvPr id="136" name="TextBox 12"/>
          <p:cNvSpPr/>
          <p:nvPr/>
        </p:nvSpPr>
        <p:spPr>
          <a:xfrm>
            <a:off x="326520" y="6380280"/>
            <a:ext cx="40716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400" b="0" u="none" strike="noStrike" spc="6">
                <a:solidFill>
                  <a:schemeClr val="lt1">
                    <a:lumMod val="65000"/>
                  </a:schemeClr>
                </a:solidFill>
                <a:uFillTx/>
                <a:latin typeface="Roboto"/>
                <a:ea typeface="Roboto"/>
              </a:rPr>
              <a:t>04</a:t>
            </a: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7" name="Rectangle 7"/>
          <p:cNvSpPr/>
          <p:nvPr/>
        </p:nvSpPr>
        <p:spPr>
          <a:xfrm>
            <a:off x="335880" y="380880"/>
            <a:ext cx="111240" cy="633600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uFillTx/>
              <a:latin typeface="Calibri"/>
            </a:endParaRPr>
          </a:p>
        </p:txBody>
      </p:sp>
      <p:pic>
        <p:nvPicPr>
          <p:cNvPr id="138" name="Picture 16"/>
          <p:cNvPicPr/>
          <p:nvPr/>
        </p:nvPicPr>
        <p:blipFill>
          <a:blip r:embed="rId2"/>
          <a:stretch/>
        </p:blipFill>
        <p:spPr>
          <a:xfrm>
            <a:off x="10849320" y="6380280"/>
            <a:ext cx="1005120" cy="300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9" name="Subtitle 2"/>
          <p:cNvSpPr/>
          <p:nvPr/>
        </p:nvSpPr>
        <p:spPr>
          <a:xfrm>
            <a:off x="4835880" y="6443640"/>
            <a:ext cx="2518560" cy="191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t">
            <a:spAutoFit/>
          </a:bodyPr>
          <a:lstStyle/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400" b="0" u="sng" strike="noStrike" spc="6">
                <a:solidFill>
                  <a:schemeClr val="lt1">
                    <a:lumMod val="75000"/>
                  </a:schemeClr>
                </a:solidFill>
                <a:uFillTx/>
                <a:latin typeface="Roboto"/>
                <a:ea typeface="Roboto"/>
                <a:hlinkClick r:id="rId3"/>
              </a:rPr>
              <a:t>www.spec-india.com</a:t>
            </a: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0" name="TextBox 5"/>
          <p:cNvSpPr/>
          <p:nvPr/>
        </p:nvSpPr>
        <p:spPr>
          <a:xfrm>
            <a:off x="448560" y="1198800"/>
            <a:ext cx="9672840" cy="36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85840" indent="-285840" defTabSz="914400">
              <a:lnSpc>
                <a:spcPct val="130000"/>
              </a:lnSpc>
              <a:buClr>
                <a:srgbClr val="000000"/>
              </a:buClr>
              <a:buFont typeface="Wingdings" charset="2"/>
              <a:buChar char=""/>
            </a:pPr>
            <a:r>
              <a:rPr lang="en-US" sz="1400" b="0" u="none" strike="noStrike">
                <a:solidFill>
                  <a:schemeClr val="dk1"/>
                </a:solidFill>
                <a:uFillTx/>
                <a:latin typeface="Calibri"/>
              </a:rPr>
              <a:t>There have been no achievements recorded in the last two weeks.</a:t>
            </a: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5B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Picture 19"/>
          <p:cNvPicPr/>
          <p:nvPr/>
        </p:nvPicPr>
        <p:blipFill>
          <a:blip r:embed="rId2"/>
          <a:stretch/>
        </p:blipFill>
        <p:spPr>
          <a:xfrm>
            <a:off x="-18360" y="0"/>
            <a:ext cx="6678720" cy="6221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2" name="Picture 8"/>
          <p:cNvPicPr/>
          <p:nvPr/>
        </p:nvPicPr>
        <p:blipFill>
          <a:blip r:embed="rId3"/>
          <a:stretch/>
        </p:blipFill>
        <p:spPr>
          <a:xfrm>
            <a:off x="0" y="5079960"/>
            <a:ext cx="12190680" cy="1776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457560" y="462960"/>
            <a:ext cx="5222160" cy="1030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3000" b="1" u="none" strike="noStrike" spc="6">
                <a:solidFill>
                  <a:srgbClr val="65BB35"/>
                </a:solidFill>
                <a:uFillTx/>
                <a:latin typeface="Roboto"/>
                <a:ea typeface="Roboto"/>
              </a:rPr>
              <a:t>Thank You For </a:t>
            </a:r>
            <a:br>
              <a:rPr sz="3000"/>
            </a:br>
            <a:r>
              <a:rPr lang="en-US" sz="3000" b="1" u="none" strike="noStrike" spc="6">
                <a:solidFill>
                  <a:srgbClr val="65BB35"/>
                </a:solidFill>
                <a:uFillTx/>
                <a:latin typeface="Roboto"/>
                <a:ea typeface="Roboto"/>
              </a:rPr>
              <a:t>Your Time &amp; Attention!</a:t>
            </a:r>
            <a:endParaRPr lang="en-US" sz="30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44" name="PlaceHolder 2"/>
          <p:cNvSpPr>
            <a:spLocks noGrp="1"/>
          </p:cNvSpPr>
          <p:nvPr>
            <p:ph type="subTitle"/>
          </p:nvPr>
        </p:nvSpPr>
        <p:spPr>
          <a:xfrm>
            <a:off x="457560" y="1756080"/>
            <a:ext cx="5222160" cy="696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5000" lnSpcReduction="9999"/>
          </a:bodyPr>
          <a:lstStyle/>
          <a:p>
            <a:pPr indent="0" defTabSz="914400">
              <a:lnSpc>
                <a:spcPct val="130000"/>
              </a:lnSpc>
              <a:buNone/>
              <a:tabLst>
                <a:tab pos="0" algn="l"/>
              </a:tabLst>
            </a:pPr>
            <a:r>
              <a:rPr lang="en-US" sz="1600" b="0" u="none" strike="noStrike" spc="6">
                <a:solidFill>
                  <a:schemeClr val="dk1">
                    <a:lumMod val="85000"/>
                    <a:lumOff val="15000"/>
                  </a:schemeClr>
                </a:solidFill>
                <a:uFillTx/>
                <a:latin typeface="Roboto"/>
                <a:ea typeface="Roboto"/>
              </a:rPr>
              <a:t>Looking forward to having a mutually beneficial association! Assuring you of our best services always!</a:t>
            </a:r>
            <a:endParaRPr lang="en-US" sz="16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cxnSp>
        <p:nvCxnSpPr>
          <p:cNvPr id="145" name="Straight Connector 6"/>
          <p:cNvCxnSpPr/>
          <p:nvPr/>
        </p:nvCxnSpPr>
        <p:spPr>
          <a:xfrm>
            <a:off x="524880" y="1622160"/>
            <a:ext cx="4321800" cy="1440"/>
          </a:xfrm>
          <a:prstGeom prst="straightConnector1">
            <a:avLst/>
          </a:prstGeom>
          <a:ln w="25400">
            <a:solidFill>
              <a:srgbClr val="65BB35"/>
            </a:solidFill>
            <a:round/>
          </a:ln>
        </p:spPr>
      </p:cxnSp>
      <p:cxnSp>
        <p:nvCxnSpPr>
          <p:cNvPr id="146" name="Straight Connector 5"/>
          <p:cNvCxnSpPr/>
          <p:nvPr/>
        </p:nvCxnSpPr>
        <p:spPr>
          <a:xfrm>
            <a:off x="335880" y="6301080"/>
            <a:ext cx="11521440" cy="1440"/>
          </a:xfrm>
          <a:prstGeom prst="straightConnector1">
            <a:avLst/>
          </a:prstGeom>
          <a:ln w="12700">
            <a:solidFill>
              <a:srgbClr val="D9D9D9">
                <a:alpha val="70000"/>
              </a:srgbClr>
            </a:solidFill>
            <a:round/>
          </a:ln>
        </p:spPr>
      </p:cxnSp>
      <p:sp>
        <p:nvSpPr>
          <p:cNvPr id="147" name="TextBox 9"/>
          <p:cNvSpPr/>
          <p:nvPr/>
        </p:nvSpPr>
        <p:spPr>
          <a:xfrm>
            <a:off x="147960" y="6384600"/>
            <a:ext cx="385956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400" b="0" u="none" strike="noStrike" spc="6">
                <a:solidFill>
                  <a:schemeClr val="lt1">
                    <a:lumMod val="95000"/>
                  </a:schemeClr>
                </a:solidFill>
                <a:uFillTx/>
                <a:latin typeface="Roboto"/>
                <a:ea typeface="Roboto"/>
              </a:rPr>
              <a:t>© 2023 SPEC INDIA. All Rights Reserved.</a:t>
            </a: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48" name="Subtitle 2"/>
          <p:cNvSpPr/>
          <p:nvPr/>
        </p:nvSpPr>
        <p:spPr>
          <a:xfrm>
            <a:off x="457560" y="2609640"/>
            <a:ext cx="2339640" cy="64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numCol="1" spcCol="0" anchor="t">
            <a:spAutoFit/>
          </a:bodyPr>
          <a:lstStyle/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400" b="1" u="none" strike="noStrike" spc="6">
                <a:solidFill>
                  <a:srgbClr val="0B334C"/>
                </a:solidFill>
                <a:uFillTx/>
                <a:latin typeface="Roboto"/>
                <a:ea typeface="Roboto"/>
              </a:rPr>
              <a:t>Visit us at </a:t>
            </a: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400" b="0" u="sng" strike="noStrike" spc="6">
                <a:solidFill>
                  <a:srgbClr val="0563C1"/>
                </a:solidFill>
                <a:uFillTx/>
                <a:latin typeface="Roboto"/>
                <a:ea typeface="Roboto"/>
                <a:hlinkClick r:id="rId4"/>
              </a:rPr>
              <a:t>www.spec-india.com</a:t>
            </a:r>
            <a:r>
              <a:rPr lang="en-US" sz="1400" b="0" u="sng" strike="noStrike" spc="6">
                <a:solidFill>
                  <a:srgbClr val="0563C1"/>
                </a:solidFill>
                <a:uFillTx/>
                <a:latin typeface="Roboto"/>
                <a:ea typeface="Roboto"/>
                <a:hlinkClick r:id="rId4"/>
              </a:rPr>
              <a:t> </a:t>
            </a: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49" name="Subtitle 2"/>
          <p:cNvSpPr/>
          <p:nvPr/>
        </p:nvSpPr>
        <p:spPr>
          <a:xfrm>
            <a:off x="2798640" y="2609640"/>
            <a:ext cx="2339640" cy="64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numCol="1" spcCol="0" anchor="t">
            <a:spAutoFit/>
          </a:bodyPr>
          <a:lstStyle/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400" b="1" u="none" strike="noStrike" spc="6">
                <a:solidFill>
                  <a:srgbClr val="0B334C"/>
                </a:solidFill>
                <a:uFillTx/>
                <a:latin typeface="Roboto"/>
                <a:ea typeface="Roboto"/>
              </a:rPr>
              <a:t>Write to us at</a:t>
            </a: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400" b="0" u="sng" strike="noStrike" spc="6">
                <a:solidFill>
                  <a:srgbClr val="0563C1"/>
                </a:solidFill>
                <a:uFillTx/>
                <a:latin typeface="Roboto"/>
                <a:ea typeface="Roboto"/>
                <a:hlinkClick r:id="rId5"/>
              </a:rPr>
              <a:t>lead@spec-india.com</a:t>
            </a: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50" name="Subtitle 2"/>
          <p:cNvSpPr/>
          <p:nvPr/>
        </p:nvSpPr>
        <p:spPr>
          <a:xfrm>
            <a:off x="7244280" y="796680"/>
            <a:ext cx="3698640" cy="406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600" b="1" u="none" strike="noStrike" spc="6">
                <a:solidFill>
                  <a:srgbClr val="0B334C"/>
                </a:solidFill>
                <a:uFillTx/>
                <a:latin typeface="Roboto"/>
                <a:ea typeface="Roboto"/>
              </a:rPr>
              <a:t>India</a:t>
            </a:r>
            <a:endParaRPr lang="en-US" sz="16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51" name="Subtitle 2"/>
          <p:cNvSpPr/>
          <p:nvPr/>
        </p:nvSpPr>
        <p:spPr>
          <a:xfrm>
            <a:off x="7581240" y="1292040"/>
            <a:ext cx="369864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sng" strike="noStrike" spc="6">
                <a:solidFill>
                  <a:schemeClr val="lt1"/>
                </a:solidFill>
                <a:uFillTx/>
                <a:latin typeface="Roboto"/>
                <a:ea typeface="Roboto"/>
                <a:hlinkClick r:id="rId5"/>
              </a:rPr>
              <a:t>lead@spec-india.com</a:t>
            </a:r>
            <a:r>
              <a:rPr lang="en-US" sz="1400" b="0" u="sng" strike="noStrike" spc="6">
                <a:solidFill>
                  <a:schemeClr val="lt1"/>
                </a:solidFill>
                <a:uFillTx/>
                <a:latin typeface="Roboto"/>
                <a:ea typeface="Roboto"/>
                <a:hlinkClick r:id="rId5"/>
              </a:rPr>
              <a:t> </a:t>
            </a: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52" name="Subtitle 2"/>
          <p:cNvSpPr/>
          <p:nvPr/>
        </p:nvSpPr>
        <p:spPr>
          <a:xfrm>
            <a:off x="7581240" y="1687680"/>
            <a:ext cx="369864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 spc="6">
                <a:solidFill>
                  <a:schemeClr val="lt1"/>
                </a:solidFill>
                <a:uFillTx/>
                <a:latin typeface="Roboto"/>
                <a:ea typeface="Roboto"/>
              </a:rPr>
              <a:t>+91-79-26404031 to 34</a:t>
            </a: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53" name="Subtitle 2"/>
          <p:cNvSpPr/>
          <p:nvPr/>
        </p:nvSpPr>
        <p:spPr>
          <a:xfrm>
            <a:off x="7581240" y="2083320"/>
            <a:ext cx="3698640" cy="94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 spc="6">
                <a:solidFill>
                  <a:schemeClr val="lt1"/>
                </a:solidFill>
                <a:uFillTx/>
                <a:latin typeface="Roboto"/>
                <a:ea typeface="Roboto"/>
              </a:rPr>
              <a:t>SPEC House”, Parth Complex,</a:t>
            </a: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 spc="6">
                <a:solidFill>
                  <a:schemeClr val="lt1"/>
                </a:solidFill>
                <a:uFillTx/>
                <a:latin typeface="Roboto"/>
                <a:ea typeface="Roboto"/>
              </a:rPr>
              <a:t>Near Swastik Cross Roads, Navarangpura, Ahmedabad 380009, INDIA.</a:t>
            </a: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cxnSp>
        <p:nvCxnSpPr>
          <p:cNvPr id="154" name="Straight Connector 12"/>
          <p:cNvCxnSpPr/>
          <p:nvPr/>
        </p:nvCxnSpPr>
        <p:spPr>
          <a:xfrm>
            <a:off x="7326720" y="1179720"/>
            <a:ext cx="3069720" cy="1440"/>
          </a:xfrm>
          <a:prstGeom prst="straightConnector1">
            <a:avLst/>
          </a:prstGeom>
          <a:ln w="12700">
            <a:solidFill>
              <a:srgbClr val="0B334C"/>
            </a:solidFill>
            <a:round/>
          </a:ln>
        </p:spPr>
      </p:cxnSp>
      <p:pic>
        <p:nvPicPr>
          <p:cNvPr id="155" name="Picture 16"/>
          <p:cNvPicPr/>
          <p:nvPr/>
        </p:nvPicPr>
        <p:blipFill>
          <a:blip r:embed="rId6"/>
          <a:stretch/>
        </p:blipFill>
        <p:spPr>
          <a:xfrm>
            <a:off x="7326720" y="1331640"/>
            <a:ext cx="227160" cy="227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6" name="Picture 17"/>
          <p:cNvPicPr/>
          <p:nvPr/>
        </p:nvPicPr>
        <p:blipFill>
          <a:blip r:embed="rId7"/>
          <a:stretch/>
        </p:blipFill>
        <p:spPr>
          <a:xfrm>
            <a:off x="7326720" y="1727280"/>
            <a:ext cx="227160" cy="227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7" name="Picture 18"/>
          <p:cNvPicPr/>
          <p:nvPr/>
        </p:nvPicPr>
        <p:blipFill>
          <a:blip r:embed="rId8"/>
          <a:stretch/>
        </p:blipFill>
        <p:spPr>
          <a:xfrm>
            <a:off x="7328520" y="2122920"/>
            <a:ext cx="227160" cy="227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8" name="Subtitle 2"/>
          <p:cNvSpPr/>
          <p:nvPr/>
        </p:nvSpPr>
        <p:spPr>
          <a:xfrm>
            <a:off x="7244280" y="2842200"/>
            <a:ext cx="3698640" cy="406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600" b="1" u="none" strike="noStrike" spc="6">
                <a:solidFill>
                  <a:srgbClr val="0B334C"/>
                </a:solidFill>
                <a:uFillTx/>
                <a:latin typeface="Roboto"/>
                <a:ea typeface="Roboto"/>
              </a:rPr>
              <a:t>USA</a:t>
            </a:r>
            <a:endParaRPr lang="en-US" sz="16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59" name="Subtitle 2"/>
          <p:cNvSpPr/>
          <p:nvPr/>
        </p:nvSpPr>
        <p:spPr>
          <a:xfrm>
            <a:off x="7581240" y="3337560"/>
            <a:ext cx="369864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sng" strike="noStrike" spc="6">
                <a:solidFill>
                  <a:schemeClr val="lt1"/>
                </a:solidFill>
                <a:uFillTx/>
                <a:latin typeface="Roboto"/>
                <a:ea typeface="Roboto"/>
                <a:hlinkClick r:id="rId9"/>
              </a:rPr>
              <a:t>lead@spec-usa.net</a:t>
            </a: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60" name="Subtitle 2"/>
          <p:cNvSpPr/>
          <p:nvPr/>
        </p:nvSpPr>
        <p:spPr>
          <a:xfrm>
            <a:off x="7581240" y="3733200"/>
            <a:ext cx="369864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 spc="6">
                <a:solidFill>
                  <a:schemeClr val="lt1"/>
                </a:solidFill>
                <a:uFillTx/>
                <a:latin typeface="Roboto"/>
                <a:ea typeface="Roboto"/>
              </a:rPr>
              <a:t>+ 1 908-450-9862</a:t>
            </a: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61" name="Subtitle 2"/>
          <p:cNvSpPr/>
          <p:nvPr/>
        </p:nvSpPr>
        <p:spPr>
          <a:xfrm>
            <a:off x="7581240" y="4128480"/>
            <a:ext cx="3698640" cy="51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 spc="6">
                <a:solidFill>
                  <a:schemeClr val="lt1"/>
                </a:solidFill>
                <a:uFillTx/>
                <a:latin typeface="Roboto"/>
                <a:ea typeface="Roboto"/>
              </a:rPr>
              <a:t>SPEC Partner”, 350 Grove Street, Bridgewater, NJ 08807, United States.</a:t>
            </a: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cxnSp>
        <p:nvCxnSpPr>
          <p:cNvPr id="162" name="Straight Connector 24"/>
          <p:cNvCxnSpPr/>
          <p:nvPr/>
        </p:nvCxnSpPr>
        <p:spPr>
          <a:xfrm>
            <a:off x="7326720" y="3224880"/>
            <a:ext cx="3069720" cy="1440"/>
          </a:xfrm>
          <a:prstGeom prst="straightConnector1">
            <a:avLst/>
          </a:prstGeom>
          <a:ln w="12700">
            <a:solidFill>
              <a:srgbClr val="0B334C"/>
            </a:solidFill>
            <a:round/>
          </a:ln>
        </p:spPr>
      </p:cxnSp>
      <p:pic>
        <p:nvPicPr>
          <p:cNvPr id="163" name="Picture 25"/>
          <p:cNvPicPr/>
          <p:nvPr/>
        </p:nvPicPr>
        <p:blipFill>
          <a:blip r:embed="rId6"/>
          <a:stretch/>
        </p:blipFill>
        <p:spPr>
          <a:xfrm>
            <a:off x="7326720" y="3377160"/>
            <a:ext cx="227160" cy="227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4" name="Picture 26"/>
          <p:cNvPicPr/>
          <p:nvPr/>
        </p:nvPicPr>
        <p:blipFill>
          <a:blip r:embed="rId7"/>
          <a:stretch/>
        </p:blipFill>
        <p:spPr>
          <a:xfrm>
            <a:off x="7326720" y="3772440"/>
            <a:ext cx="227160" cy="227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5" name="Picture 27"/>
          <p:cNvPicPr/>
          <p:nvPr/>
        </p:nvPicPr>
        <p:blipFill>
          <a:blip r:embed="rId8"/>
          <a:stretch/>
        </p:blipFill>
        <p:spPr>
          <a:xfrm>
            <a:off x="7328520" y="4168080"/>
            <a:ext cx="227160" cy="227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6" name="Picture 39" descr="Logo&#10;&#10;Description automatically generated">
            <a:hlinkClick r:id="rId10"/>
          </p:cNvPr>
          <p:cNvPicPr/>
          <p:nvPr/>
        </p:nvPicPr>
        <p:blipFill>
          <a:blip r:embed="rId11"/>
          <a:stretch/>
        </p:blipFill>
        <p:spPr>
          <a:xfrm>
            <a:off x="2600280" y="5526000"/>
            <a:ext cx="880560" cy="250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7" name="Picture 41" descr="A picture containing text, clipart&#10;&#10;Description automatically generated">
            <a:hlinkClick r:id="rId12"/>
          </p:cNvPr>
          <p:cNvPicPr/>
          <p:nvPr/>
        </p:nvPicPr>
        <p:blipFill>
          <a:blip r:embed="rId13"/>
          <a:stretch/>
        </p:blipFill>
        <p:spPr>
          <a:xfrm>
            <a:off x="3831120" y="5544000"/>
            <a:ext cx="1510560" cy="214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8" name="Picture 43" descr="A picture containing text, clipart&#10;&#10;Description automatically generated">
            <a:hlinkClick r:id="rId14"/>
          </p:cNvPr>
          <p:cNvPicPr/>
          <p:nvPr/>
        </p:nvPicPr>
        <p:blipFill>
          <a:blip r:embed="rId15"/>
          <a:stretch/>
        </p:blipFill>
        <p:spPr>
          <a:xfrm>
            <a:off x="5692320" y="5526000"/>
            <a:ext cx="765000" cy="250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9" name="Picture 45" descr="A picture containing text, clipart&#10;&#10;Description automatically generated">
            <a:hlinkClick r:id="rId16"/>
          </p:cNvPr>
          <p:cNvPicPr/>
          <p:nvPr/>
        </p:nvPicPr>
        <p:blipFill>
          <a:blip r:embed="rId17"/>
          <a:stretch/>
        </p:blipFill>
        <p:spPr>
          <a:xfrm>
            <a:off x="6807960" y="5526000"/>
            <a:ext cx="1281600" cy="250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0" name="Picture 47" descr="A picture containing text, transport, clipart, wheel&#10;&#10;Description automatically generated">
            <a:hlinkClick r:id="rId18"/>
          </p:cNvPr>
          <p:cNvPicPr/>
          <p:nvPr/>
        </p:nvPicPr>
        <p:blipFill>
          <a:blip r:embed="rId19"/>
          <a:stretch/>
        </p:blipFill>
        <p:spPr>
          <a:xfrm>
            <a:off x="8439840" y="5544000"/>
            <a:ext cx="1150560" cy="214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1" name="Picture 13" descr="Shape&#10;&#10;Description automatically generated">
            <a:hlinkClick r:id="rId20"/>
          </p:cNvPr>
          <p:cNvPicPr/>
          <p:nvPr/>
        </p:nvPicPr>
        <p:blipFill>
          <a:blip r:embed="rId21"/>
          <a:stretch/>
        </p:blipFill>
        <p:spPr>
          <a:xfrm>
            <a:off x="11627280" y="6429240"/>
            <a:ext cx="227160" cy="227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2" name="Picture 29" descr="A picture containing clipart&#10;&#10;Description automatically generated">
            <a:hlinkClick r:id="rId22"/>
          </p:cNvPr>
          <p:cNvPicPr/>
          <p:nvPr/>
        </p:nvPicPr>
        <p:blipFill>
          <a:blip r:embed="rId23"/>
          <a:stretch/>
        </p:blipFill>
        <p:spPr>
          <a:xfrm>
            <a:off x="11257560" y="6429240"/>
            <a:ext cx="227160" cy="227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3" name="Picture 31" descr="A picture containing text, clipart&#10;&#10;Description automatically generated">
            <a:hlinkClick r:id="rId24"/>
          </p:cNvPr>
          <p:cNvPicPr/>
          <p:nvPr/>
        </p:nvPicPr>
        <p:blipFill>
          <a:blip r:embed="rId25"/>
          <a:stretch/>
        </p:blipFill>
        <p:spPr>
          <a:xfrm>
            <a:off x="9777600" y="6429240"/>
            <a:ext cx="227160" cy="227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4" name="Picture 35" descr="A picture containing text, clipart&#10;&#10;Description automatically generated">
            <a:hlinkClick r:id="rId26"/>
          </p:cNvPr>
          <p:cNvPicPr/>
          <p:nvPr/>
        </p:nvPicPr>
        <p:blipFill>
          <a:blip r:embed="rId27"/>
          <a:stretch/>
        </p:blipFill>
        <p:spPr>
          <a:xfrm>
            <a:off x="10147320" y="6429240"/>
            <a:ext cx="227160" cy="227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5" name="Picture 37" descr="A picture containing clipart&#10;&#10;Description automatically generated">
            <a:hlinkClick r:id="rId28"/>
          </p:cNvPr>
          <p:cNvPicPr/>
          <p:nvPr/>
        </p:nvPicPr>
        <p:blipFill>
          <a:blip r:embed="rId29"/>
          <a:stretch/>
        </p:blipFill>
        <p:spPr>
          <a:xfrm>
            <a:off x="10517400" y="6429240"/>
            <a:ext cx="227160" cy="227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6" name="Picture 40" descr="A picture containing text, clipart&#10;&#10;Description automatically generated"/>
          <p:cNvPicPr/>
          <p:nvPr/>
        </p:nvPicPr>
        <p:blipFill>
          <a:blip r:embed="rId30"/>
          <a:stretch/>
        </p:blipFill>
        <p:spPr>
          <a:xfrm>
            <a:off x="6960240" y="5863680"/>
            <a:ext cx="976320" cy="150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7" name="Picture 44" descr="A picture containing text, clipart&#10;&#10;Description automatically generated"/>
          <p:cNvPicPr/>
          <p:nvPr/>
        </p:nvPicPr>
        <p:blipFill>
          <a:blip r:embed="rId31"/>
          <a:stretch/>
        </p:blipFill>
        <p:spPr>
          <a:xfrm>
            <a:off x="8526960" y="5851440"/>
            <a:ext cx="976320" cy="150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8" name="Picture 46" descr="A picture containing text, clipart&#10;&#10;Description automatically generated"/>
          <p:cNvPicPr/>
          <p:nvPr/>
        </p:nvPicPr>
        <p:blipFill>
          <a:blip r:embed="rId31"/>
          <a:stretch/>
        </p:blipFill>
        <p:spPr>
          <a:xfrm>
            <a:off x="5586480" y="5851440"/>
            <a:ext cx="976320" cy="150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9" name="Picture 49" descr="A picture containing text, clipart&#10;&#10;Description automatically generated"/>
          <p:cNvPicPr/>
          <p:nvPr/>
        </p:nvPicPr>
        <p:blipFill>
          <a:blip r:embed="rId30"/>
          <a:stretch/>
        </p:blipFill>
        <p:spPr>
          <a:xfrm>
            <a:off x="4098240" y="5863680"/>
            <a:ext cx="976320" cy="150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0" name="Picture 50" descr="A picture containing text, clipart&#10;&#10;Description automatically generated"/>
          <p:cNvPicPr/>
          <p:nvPr/>
        </p:nvPicPr>
        <p:blipFill>
          <a:blip r:embed="rId31"/>
          <a:stretch/>
        </p:blipFill>
        <p:spPr>
          <a:xfrm>
            <a:off x="2580480" y="5858280"/>
            <a:ext cx="976320" cy="150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1" name="Picture 52" descr="A picture containing text, clipart&#10;&#10;Description automatically generated">
            <a:hlinkClick r:id="rId32"/>
          </p:cNvPr>
          <p:cNvPicPr/>
          <p:nvPr/>
        </p:nvPicPr>
        <p:blipFill>
          <a:blip r:embed="rId33"/>
          <a:stretch/>
        </p:blipFill>
        <p:spPr>
          <a:xfrm>
            <a:off x="10887480" y="6428520"/>
            <a:ext cx="227160" cy="22716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82" name="Straight Connector 58"/>
          <p:cNvCxnSpPr/>
          <p:nvPr/>
        </p:nvCxnSpPr>
        <p:spPr>
          <a:xfrm>
            <a:off x="2580120" y="2716200"/>
            <a:ext cx="1440" cy="521280"/>
          </a:xfrm>
          <a:prstGeom prst="straightConnector1">
            <a:avLst/>
          </a:prstGeom>
          <a:ln w="0">
            <a:solidFill>
              <a:srgbClr val="E8E8EB"/>
            </a:solidFill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3.xml><?xml version="1.0" encoding="utf-8"?>
<a:theme xmlns:a="http://schemas.openxmlformats.org/drawingml/2006/main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4.xml><?xml version="1.0" encoding="utf-8"?>
<a:theme xmlns:a="http://schemas.openxmlformats.org/drawingml/2006/main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5.xml><?xml version="1.0" encoding="utf-8"?>
<a:theme xmlns:a="http://schemas.openxmlformats.org/drawingml/2006/main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6.xml><?xml version="1.0" encoding="utf-8"?>
<a:theme xmlns:a="http://schemas.openxmlformats.org/drawingml/2006/main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7.xml><?xml version="1.0" encoding="utf-8"?>
<a:theme xmlns:a="http://schemas.openxmlformats.org/drawingml/2006/main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Words>364</Words>
  <Application>Microsoft Office PowerPoint</Application>
  <PresentationFormat>Widescreen</PresentationFormat>
  <Paragraphs>57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17</vt:i4>
      </vt:variant>
      <vt:variant>
        <vt:lpstr>Slide Titles</vt:lpstr>
      </vt:variant>
      <vt:variant>
        <vt:i4>8</vt:i4>
      </vt:variant>
    </vt:vector>
  </HeadingPairs>
  <TitlesOfParts>
    <vt:vector size="32" baseType="lpstr">
      <vt:lpstr>Arial</vt:lpstr>
      <vt:lpstr>Calibri</vt:lpstr>
      <vt:lpstr>Calibri Light</vt:lpstr>
      <vt:lpstr>Roboto</vt:lpstr>
      <vt:lpstr>Symbol</vt:lpstr>
      <vt:lpstr>Times New Roman</vt:lpstr>
      <vt:lpstr>Wingdings</vt:lpstr>
      <vt:lpstr>Office Theme 2013 - 2022</vt:lpstr>
      <vt:lpstr>Office Theme 2013 - 2022</vt:lpstr>
      <vt:lpstr>Office Theme 2013 - 2022</vt:lpstr>
      <vt:lpstr>Office Theme 2013 - 2022</vt:lpstr>
      <vt:lpstr>Office Theme 2013 - 2022</vt:lpstr>
      <vt:lpstr>Office Theme 2013 - 2022</vt:lpstr>
      <vt:lpstr>Office Theme 2013 - 2022</vt:lpstr>
      <vt:lpstr>Office Theme 2013 - 2022</vt:lpstr>
      <vt:lpstr>Office Theme 2013 - 2022</vt:lpstr>
      <vt:lpstr>Office Theme 2013 - 2022</vt:lpstr>
      <vt:lpstr>Office Theme 2013 - 2022</vt:lpstr>
      <vt:lpstr>Office Theme 2013 - 2022</vt:lpstr>
      <vt:lpstr>Office Theme 2013 - 2022</vt:lpstr>
      <vt:lpstr>Office Theme 2013 - 2022</vt:lpstr>
      <vt:lpstr>Office Theme 2013 - 2022</vt:lpstr>
      <vt:lpstr>Office Theme 2013 - 2022</vt:lpstr>
      <vt:lpstr>Office Theme 2013 - 2022</vt:lpstr>
      <vt:lpstr>Hanwha Vision    1st May’25 – 15th May’25</vt:lpstr>
      <vt:lpstr>Meeting Participants</vt:lpstr>
      <vt:lpstr>Rashmi Patel - Highlights of the work done in two weeks</vt:lpstr>
      <vt:lpstr>Rashmi Patel - Roadblocks / issues if any </vt:lpstr>
      <vt:lpstr>Rashmi Patel - Improvement Points Identified</vt:lpstr>
      <vt:lpstr>Rashmi Patel - Any New Problem Statement Seen / Identified * If any</vt:lpstr>
      <vt:lpstr>Rashmi Patel - Achievements/Extra mile of the week * if any</vt:lpstr>
      <vt:lpstr>Thank You For  Your Time &amp; Attention!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 Your IT Partner  We Have The Right SPEC</dc:title>
  <dc:subject/>
  <dc:creator>Amar Chuhan</dc:creator>
  <dc:description/>
  <cp:lastModifiedBy>Parth Jotangiya</cp:lastModifiedBy>
  <cp:revision>506</cp:revision>
  <dcterms:created xsi:type="dcterms:W3CDTF">2023-01-02T08:33:00Z</dcterms:created>
  <dcterms:modified xsi:type="dcterms:W3CDTF">2025-05-20T11:29:16Z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76030A7711084D6A9EBC293995FA41FD</vt:lpwstr>
  </property>
  <property fmtid="{D5CDD505-2E9C-101B-9397-08002B2CF9AE}" pid="3" name="KSOProductBuildVer">
    <vt:lpwstr>1033-11.2.0.11440</vt:lpwstr>
  </property>
  <property fmtid="{D5CDD505-2E9C-101B-9397-08002B2CF9AE}" pid="4" name="PresentationFormat">
    <vt:lpwstr>Widescreen</vt:lpwstr>
  </property>
  <property fmtid="{D5CDD505-2E9C-101B-9397-08002B2CF9AE}" pid="5" name="Slides">
    <vt:i4>8</vt:i4>
  </property>
</Properties>
</file>